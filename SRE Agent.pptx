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25"/>
  </p:notesMasterIdLst>
  <p:sldIdLst>
    <p:sldId id="256" r:id="rId3"/>
    <p:sldId id="258" r:id="rId4"/>
    <p:sldId id="259" r:id="rId5"/>
    <p:sldId id="260" r:id="rId6"/>
    <p:sldId id="282" r:id="rId7"/>
    <p:sldId id="262" r:id="rId8"/>
    <p:sldId id="1925" r:id="rId9"/>
    <p:sldId id="1926" r:id="rId10"/>
    <p:sldId id="265" r:id="rId11"/>
    <p:sldId id="287" r:id="rId12"/>
    <p:sldId id="266" r:id="rId13"/>
    <p:sldId id="267" r:id="rId14"/>
    <p:sldId id="268" r:id="rId15"/>
    <p:sldId id="281" r:id="rId16"/>
    <p:sldId id="271" r:id="rId17"/>
    <p:sldId id="277" r:id="rId18"/>
    <p:sldId id="278" r:id="rId19"/>
    <p:sldId id="279" r:id="rId20"/>
    <p:sldId id="269" r:id="rId21"/>
    <p:sldId id="270" r:id="rId22"/>
    <p:sldId id="280" r:id="rId23"/>
    <p:sldId id="26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7C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76F4884-5908-4FC6-B74B-2ED299FDBC35}" v="74" dt="2026-05-08T05:01:59.248"/>
    <p1510:client id="{F319F3F6-8BC0-48A7-9B78-CBF751CA0366}" v="9" dt="2026-05-08T04:40:49.0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667" autoAdjust="0"/>
  </p:normalViewPr>
  <p:slideViewPr>
    <p:cSldViewPr snapToGrid="0">
      <p:cViewPr varScale="1">
        <p:scale>
          <a:sx n="70" d="100"/>
          <a:sy n="70" d="100"/>
        </p:scale>
        <p:origin x="456" y="5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mir Abdul Aziz" userId="45eedd8c-fd0b-4714-a258-369edf2569b0" providerId="ADAL" clId="{7593E0EF-279E-4F8B-88C6-E5D2B8EF5003}"/>
    <pc:docChg chg="custSel addSld modSld sldOrd">
      <pc:chgData name="Shamir Abdul Aziz" userId="45eedd8c-fd0b-4714-a258-369edf2569b0" providerId="ADAL" clId="{7593E0EF-279E-4F8B-88C6-E5D2B8EF5003}" dt="2026-05-08T05:01:59.249" v="74"/>
      <pc:docMkLst>
        <pc:docMk/>
      </pc:docMkLst>
      <pc:sldChg chg="delSp modSp add mod ord">
        <pc:chgData name="Shamir Abdul Aziz" userId="45eedd8c-fd0b-4714-a258-369edf2569b0" providerId="ADAL" clId="{7593E0EF-279E-4F8B-88C6-E5D2B8EF5003}" dt="2026-05-08T05:01:59.249" v="74"/>
        <pc:sldMkLst>
          <pc:docMk/>
          <pc:sldMk cId="0" sldId="1926"/>
        </pc:sldMkLst>
        <pc:spChg chg="del">
          <ac:chgData name="Shamir Abdul Aziz" userId="45eedd8c-fd0b-4714-a258-369edf2569b0" providerId="ADAL" clId="{7593E0EF-279E-4F8B-88C6-E5D2B8EF5003}" dt="2026-05-08T05:01:02.876" v="71" actId="478"/>
          <ac:spMkLst>
            <pc:docMk/>
            <pc:sldMk cId="0" sldId="1926"/>
            <ac:spMk id="4" creationId="{00000000-0000-0000-0000-000000000000}"/>
          </ac:spMkLst>
        </pc:spChg>
        <pc:spChg chg="mod">
          <ac:chgData name="Shamir Abdul Aziz" userId="45eedd8c-fd0b-4714-a258-369edf2569b0" providerId="ADAL" clId="{7593E0EF-279E-4F8B-88C6-E5D2B8EF5003}" dt="2026-05-08T05:01:05.356" v="72" actId="1076"/>
          <ac:spMkLst>
            <pc:docMk/>
            <pc:sldMk cId="0" sldId="1926"/>
            <ac:spMk id="5" creationId="{00000000-0000-0000-0000-000000000000}"/>
          </ac:spMkLst>
        </pc:spChg>
        <pc:spChg chg="mod">
          <ac:chgData name="Shamir Abdul Aziz" userId="45eedd8c-fd0b-4714-a258-369edf2569b0" providerId="ADAL" clId="{7593E0EF-279E-4F8B-88C6-E5D2B8EF5003}" dt="2026-05-08T04:59:33.208" v="46" actId="20577"/>
          <ac:spMkLst>
            <pc:docMk/>
            <pc:sldMk cId="0" sldId="1926"/>
            <ac:spMk id="13" creationId="{00000000-0000-0000-0000-000000000000}"/>
          </ac:spMkLst>
        </pc:spChg>
        <pc:spChg chg="mod">
          <ac:chgData name="Shamir Abdul Aziz" userId="45eedd8c-fd0b-4714-a258-369edf2569b0" providerId="ADAL" clId="{7593E0EF-279E-4F8B-88C6-E5D2B8EF5003}" dt="2026-05-08T04:59:54.537" v="69" actId="20577"/>
          <ac:spMkLst>
            <pc:docMk/>
            <pc:sldMk cId="0" sldId="1926"/>
            <ac:spMk id="22" creationId="{00000000-0000-0000-0000-000000000000}"/>
          </ac:spMkLst>
        </pc:spChg>
        <pc:spChg chg="mod">
          <ac:chgData name="Shamir Abdul Aziz" userId="45eedd8c-fd0b-4714-a258-369edf2569b0" providerId="ADAL" clId="{7593E0EF-279E-4F8B-88C6-E5D2B8EF5003}" dt="2026-05-08T05:00:20.980" v="70" actId="14100"/>
          <ac:spMkLst>
            <pc:docMk/>
            <pc:sldMk cId="0" sldId="1926"/>
            <ac:spMk id="26" creationId="{00000000-0000-0000-0000-000000000000}"/>
          </ac:spMkLst>
        </pc:spChg>
      </pc:sldChg>
    </pc:docChg>
  </pc:docChgLst>
  <pc:docChgLst>
    <pc:chgData name="Shamir Abdul Aziz" userId="45eedd8c-fd0b-4714-a258-369edf2569b0" providerId="ADAL" clId="{BAE9EDF7-E726-42D9-90A3-F1C82AB9B6F8}"/>
    <pc:docChg chg="undo redo custSel addSld delSld modSld sldOrd delMainMaster">
      <pc:chgData name="Shamir Abdul Aziz" userId="45eedd8c-fd0b-4714-a258-369edf2569b0" providerId="ADAL" clId="{BAE9EDF7-E726-42D9-90A3-F1C82AB9B6F8}" dt="2026-05-08T04:40:49.092" v="810" actId="1076"/>
      <pc:docMkLst>
        <pc:docMk/>
      </pc:docMkLst>
      <pc:sldChg chg="addSp delSp modSp mod">
        <pc:chgData name="Shamir Abdul Aziz" userId="45eedd8c-fd0b-4714-a258-369edf2569b0" providerId="ADAL" clId="{BAE9EDF7-E726-42D9-90A3-F1C82AB9B6F8}" dt="2026-04-14T15:28:35.827" v="384" actId="20577"/>
        <pc:sldMkLst>
          <pc:docMk/>
          <pc:sldMk cId="0" sldId="256"/>
        </pc:sldMkLst>
        <pc:spChg chg="mod">
          <ac:chgData name="Shamir Abdul Aziz" userId="45eedd8c-fd0b-4714-a258-369edf2569b0" providerId="ADAL" clId="{BAE9EDF7-E726-42D9-90A3-F1C82AB9B6F8}" dt="2026-04-09T16:41:56.361" v="3" actId="1076"/>
          <ac:spMkLst>
            <pc:docMk/>
            <pc:sldMk cId="0" sldId="256"/>
            <ac:spMk id="5" creationId="{00000000-0000-0000-0000-000000000000}"/>
          </ac:spMkLst>
        </pc:spChg>
        <pc:spChg chg="mod">
          <ac:chgData name="Shamir Abdul Aziz" userId="45eedd8c-fd0b-4714-a258-369edf2569b0" providerId="ADAL" clId="{BAE9EDF7-E726-42D9-90A3-F1C82AB9B6F8}" dt="2026-04-13T05:40:25.316" v="354" actId="1076"/>
          <ac:spMkLst>
            <pc:docMk/>
            <pc:sldMk cId="0" sldId="256"/>
            <ac:spMk id="6" creationId="{00000000-0000-0000-0000-000000000000}"/>
          </ac:spMkLst>
        </pc:spChg>
        <pc:spChg chg="mod">
          <ac:chgData name="Shamir Abdul Aziz" userId="45eedd8c-fd0b-4714-a258-369edf2569b0" providerId="ADAL" clId="{BAE9EDF7-E726-42D9-90A3-F1C82AB9B6F8}" dt="2026-04-14T15:28:27.490" v="383" actId="1076"/>
          <ac:spMkLst>
            <pc:docMk/>
            <pc:sldMk cId="0" sldId="256"/>
            <ac:spMk id="8" creationId="{00000000-0000-0000-0000-000000000000}"/>
          </ac:spMkLst>
        </pc:spChg>
        <pc:spChg chg="mod">
          <ac:chgData name="Shamir Abdul Aziz" userId="45eedd8c-fd0b-4714-a258-369edf2569b0" providerId="ADAL" clId="{BAE9EDF7-E726-42D9-90A3-F1C82AB9B6F8}" dt="2026-04-14T15:28:35.827" v="384" actId="20577"/>
          <ac:spMkLst>
            <pc:docMk/>
            <pc:sldMk cId="0" sldId="256"/>
            <ac:spMk id="9" creationId="{00000000-0000-0000-0000-000000000000}"/>
          </ac:spMkLst>
        </pc:spChg>
        <pc:picChg chg="add mod">
          <ac:chgData name="Shamir Abdul Aziz" userId="45eedd8c-fd0b-4714-a258-369edf2569b0" providerId="ADAL" clId="{BAE9EDF7-E726-42D9-90A3-F1C82AB9B6F8}" dt="2026-04-14T15:28:27.490" v="383" actId="1076"/>
          <ac:picMkLst>
            <pc:docMk/>
            <pc:sldMk cId="0" sldId="256"/>
            <ac:picMk id="7" creationId="{92CFB662-6874-4DED-935D-6E370F003322}"/>
          </ac:picMkLst>
        </pc:picChg>
        <pc:picChg chg="add mod">
          <ac:chgData name="Shamir Abdul Aziz" userId="45eedd8c-fd0b-4714-a258-369edf2569b0" providerId="ADAL" clId="{BAE9EDF7-E726-42D9-90A3-F1C82AB9B6F8}" dt="2026-04-13T05:40:22.490" v="353" actId="1076"/>
          <ac:picMkLst>
            <pc:docMk/>
            <pc:sldMk cId="0" sldId="256"/>
            <ac:picMk id="10" creationId="{9B354483-F22A-E69E-6367-86719A83A6D2}"/>
          </ac:picMkLst>
        </pc:picChg>
      </pc:sldChg>
      <pc:sldChg chg="modSp mod ord">
        <pc:chgData name="Shamir Abdul Aziz" userId="45eedd8c-fd0b-4714-a258-369edf2569b0" providerId="ADAL" clId="{BAE9EDF7-E726-42D9-90A3-F1C82AB9B6F8}" dt="2026-05-01T04:41:34.827" v="800" actId="20577"/>
        <pc:sldMkLst>
          <pc:docMk/>
          <pc:sldMk cId="0" sldId="262"/>
        </pc:sldMkLst>
        <pc:spChg chg="mod">
          <ac:chgData name="Shamir Abdul Aziz" userId="45eedd8c-fd0b-4714-a258-369edf2569b0" providerId="ADAL" clId="{BAE9EDF7-E726-42D9-90A3-F1C82AB9B6F8}" dt="2026-05-01T04:41:34.827" v="800" actId="20577"/>
          <ac:spMkLst>
            <pc:docMk/>
            <pc:sldMk cId="0" sldId="262"/>
            <ac:spMk id="2"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7"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8"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9"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10" creationId="{00000000-0000-0000-0000-000000000000}"/>
          </ac:spMkLst>
        </pc:spChg>
        <pc:spChg chg="mod">
          <ac:chgData name="Shamir Abdul Aziz" userId="45eedd8c-fd0b-4714-a258-369edf2569b0" providerId="ADAL" clId="{BAE9EDF7-E726-42D9-90A3-F1C82AB9B6F8}" dt="2026-04-13T05:38:00.327" v="305" actId="14100"/>
          <ac:spMkLst>
            <pc:docMk/>
            <pc:sldMk cId="0" sldId="262"/>
            <ac:spMk id="17"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18"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22"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23"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24"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25" creationId="{00000000-0000-0000-0000-000000000000}"/>
          </ac:spMkLst>
        </pc:spChg>
        <pc:spChg chg="mod">
          <ac:chgData name="Shamir Abdul Aziz" userId="45eedd8c-fd0b-4714-a258-369edf2569b0" providerId="ADAL" clId="{BAE9EDF7-E726-42D9-90A3-F1C82AB9B6F8}" dt="2026-04-13T05:30:58.373" v="29" actId="1076"/>
          <ac:spMkLst>
            <pc:docMk/>
            <pc:sldMk cId="0" sldId="262"/>
            <ac:spMk id="27" creationId="{00000000-0000-0000-0000-000000000000}"/>
          </ac:spMkLst>
        </pc:spChg>
      </pc:sldChg>
      <pc:sldChg chg="modSp mod ord">
        <pc:chgData name="Shamir Abdul Aziz" userId="45eedd8c-fd0b-4714-a258-369edf2569b0" providerId="ADAL" clId="{BAE9EDF7-E726-42D9-90A3-F1C82AB9B6F8}" dt="2026-04-29T02:51:22.935" v="780"/>
        <pc:sldMkLst>
          <pc:docMk/>
          <pc:sldMk cId="0" sldId="264"/>
        </pc:sldMkLst>
        <pc:spChg chg="mod">
          <ac:chgData name="Shamir Abdul Aziz" userId="45eedd8c-fd0b-4714-a258-369edf2569b0" providerId="ADAL" clId="{BAE9EDF7-E726-42D9-90A3-F1C82AB9B6F8}" dt="2026-04-14T15:31:48.509" v="390" actId="20577"/>
          <ac:spMkLst>
            <pc:docMk/>
            <pc:sldMk cId="0" sldId="264"/>
            <ac:spMk id="24" creationId="{00000000-0000-0000-0000-000000000000}"/>
          </ac:spMkLst>
        </pc:spChg>
      </pc:sldChg>
      <pc:sldChg chg="delSp mod">
        <pc:chgData name="Shamir Abdul Aziz" userId="45eedd8c-fd0b-4714-a258-369edf2569b0" providerId="ADAL" clId="{BAE9EDF7-E726-42D9-90A3-F1C82AB9B6F8}" dt="2026-04-13T05:41:14.361" v="355" actId="478"/>
        <pc:sldMkLst>
          <pc:docMk/>
          <pc:sldMk cId="0" sldId="268"/>
        </pc:sldMkLst>
      </pc:sldChg>
      <pc:sldChg chg="ord">
        <pc:chgData name="Shamir Abdul Aziz" userId="45eedd8c-fd0b-4714-a258-369edf2569b0" providerId="ADAL" clId="{BAE9EDF7-E726-42D9-90A3-F1C82AB9B6F8}" dt="2026-04-29T02:51:41.278" v="782"/>
        <pc:sldMkLst>
          <pc:docMk/>
          <pc:sldMk cId="0" sldId="269"/>
        </pc:sldMkLst>
      </pc:sldChg>
      <pc:sldChg chg="ord">
        <pc:chgData name="Shamir Abdul Aziz" userId="45eedd8c-fd0b-4714-a258-369edf2569b0" providerId="ADAL" clId="{BAE9EDF7-E726-42D9-90A3-F1C82AB9B6F8}" dt="2026-04-29T02:51:41.278" v="782"/>
        <pc:sldMkLst>
          <pc:docMk/>
          <pc:sldMk cId="0" sldId="270"/>
        </pc:sldMkLst>
      </pc:sldChg>
      <pc:sldChg chg="modSp mod">
        <pc:chgData name="Shamir Abdul Aziz" userId="45eedd8c-fd0b-4714-a258-369edf2569b0" providerId="ADAL" clId="{BAE9EDF7-E726-42D9-90A3-F1C82AB9B6F8}" dt="2026-04-28T15:43:57.699" v="737" actId="6549"/>
        <pc:sldMkLst>
          <pc:docMk/>
          <pc:sldMk cId="0" sldId="271"/>
        </pc:sldMkLst>
        <pc:spChg chg="mod">
          <ac:chgData name="Shamir Abdul Aziz" userId="45eedd8c-fd0b-4714-a258-369edf2569b0" providerId="ADAL" clId="{BAE9EDF7-E726-42D9-90A3-F1C82AB9B6F8}" dt="2026-04-28T15:43:57.699" v="737" actId="6549"/>
          <ac:spMkLst>
            <pc:docMk/>
            <pc:sldMk cId="0" sldId="271"/>
            <ac:spMk id="2" creationId="{00000000-0000-0000-0000-000000000000}"/>
          </ac:spMkLst>
        </pc:spChg>
      </pc:sldChg>
      <pc:sldChg chg="addSp delSp modSp mod">
        <pc:chgData name="Shamir Abdul Aziz" userId="45eedd8c-fd0b-4714-a258-369edf2569b0" providerId="ADAL" clId="{BAE9EDF7-E726-42D9-90A3-F1C82AB9B6F8}" dt="2026-04-24T16:04:05.023" v="684"/>
        <pc:sldMkLst>
          <pc:docMk/>
          <pc:sldMk cId="0" sldId="278"/>
        </pc:sldMkLst>
        <pc:spChg chg="mod">
          <ac:chgData name="Shamir Abdul Aziz" userId="45eedd8c-fd0b-4714-a258-369edf2569b0" providerId="ADAL" clId="{BAE9EDF7-E726-42D9-90A3-F1C82AB9B6F8}" dt="2026-04-18T19:11:30.917" v="647" actId="404"/>
          <ac:spMkLst>
            <pc:docMk/>
            <pc:sldMk cId="0" sldId="278"/>
            <ac:spMk id="7" creationId="{00000000-0000-0000-0000-000000000000}"/>
          </ac:spMkLst>
        </pc:spChg>
        <pc:spChg chg="mod">
          <ac:chgData name="Shamir Abdul Aziz" userId="45eedd8c-fd0b-4714-a258-369edf2569b0" providerId="ADAL" clId="{BAE9EDF7-E726-42D9-90A3-F1C82AB9B6F8}" dt="2026-04-18T19:10:46.042" v="640" actId="20577"/>
          <ac:spMkLst>
            <pc:docMk/>
            <pc:sldMk cId="0" sldId="278"/>
            <ac:spMk id="8" creationId="{00000000-0000-0000-0000-000000000000}"/>
          </ac:spMkLst>
        </pc:spChg>
        <pc:spChg chg="mod">
          <ac:chgData name="Shamir Abdul Aziz" userId="45eedd8c-fd0b-4714-a258-369edf2569b0" providerId="ADAL" clId="{BAE9EDF7-E726-42D9-90A3-F1C82AB9B6F8}" dt="2026-04-18T19:12:44.406" v="654" actId="1076"/>
          <ac:spMkLst>
            <pc:docMk/>
            <pc:sldMk cId="0" sldId="278"/>
            <ac:spMk id="9" creationId="{00000000-0000-0000-0000-000000000000}"/>
          </ac:spMkLst>
        </pc:spChg>
        <pc:spChg chg="mod">
          <ac:chgData name="Shamir Abdul Aziz" userId="45eedd8c-fd0b-4714-a258-369edf2569b0" providerId="ADAL" clId="{BAE9EDF7-E726-42D9-90A3-F1C82AB9B6F8}" dt="2026-04-24T16:04:05.023" v="684"/>
          <ac:spMkLst>
            <pc:docMk/>
            <pc:sldMk cId="0" sldId="278"/>
            <ac:spMk id="14" creationId="{8FE43309-B89E-770F-8412-9C0D7E595B6B}"/>
          </ac:spMkLst>
        </pc:spChg>
        <pc:spChg chg="mod">
          <ac:chgData name="Shamir Abdul Aziz" userId="45eedd8c-fd0b-4714-a258-369edf2569b0" providerId="ADAL" clId="{BAE9EDF7-E726-42D9-90A3-F1C82AB9B6F8}" dt="2026-04-24T16:04:05.023" v="684"/>
          <ac:spMkLst>
            <pc:docMk/>
            <pc:sldMk cId="0" sldId="278"/>
            <ac:spMk id="18" creationId="{97B2776F-865D-374D-B471-BC406BD1DCE8}"/>
          </ac:spMkLst>
        </pc:spChg>
        <pc:spChg chg="mod">
          <ac:chgData name="Shamir Abdul Aziz" userId="45eedd8c-fd0b-4714-a258-369edf2569b0" providerId="ADAL" clId="{BAE9EDF7-E726-42D9-90A3-F1C82AB9B6F8}" dt="2026-04-24T16:04:05.023" v="684"/>
          <ac:spMkLst>
            <pc:docMk/>
            <pc:sldMk cId="0" sldId="278"/>
            <ac:spMk id="20" creationId="{CCEB6C45-7928-A381-35A6-D6487E33CD61}"/>
          </ac:spMkLst>
        </pc:spChg>
        <pc:grpChg chg="add mod">
          <ac:chgData name="Shamir Abdul Aziz" userId="45eedd8c-fd0b-4714-a258-369edf2569b0" providerId="ADAL" clId="{BAE9EDF7-E726-42D9-90A3-F1C82AB9B6F8}" dt="2026-04-24T16:04:05.023" v="684"/>
          <ac:grpSpMkLst>
            <pc:docMk/>
            <pc:sldMk cId="0" sldId="278"/>
            <ac:grpSpMk id="13" creationId="{40D3CECD-252C-680D-D16D-ED5E5E6A9E22}"/>
          </ac:grpSpMkLst>
        </pc:grpChg>
        <pc:picChg chg="add mod">
          <ac:chgData name="Shamir Abdul Aziz" userId="45eedd8c-fd0b-4714-a258-369edf2569b0" providerId="ADAL" clId="{BAE9EDF7-E726-42D9-90A3-F1C82AB9B6F8}" dt="2026-04-18T19:09:42.185" v="630" actId="1076"/>
          <ac:picMkLst>
            <pc:docMk/>
            <pc:sldMk cId="0" sldId="278"/>
            <ac:picMk id="11" creationId="{1FAC8380-E691-E8E8-5E08-CCB54DF4C130}"/>
          </ac:picMkLst>
        </pc:picChg>
        <pc:picChg chg="mod">
          <ac:chgData name="Shamir Abdul Aziz" userId="45eedd8c-fd0b-4714-a258-369edf2569b0" providerId="ADAL" clId="{BAE9EDF7-E726-42D9-90A3-F1C82AB9B6F8}" dt="2026-04-24T16:04:05.023" v="684"/>
          <ac:picMkLst>
            <pc:docMk/>
            <pc:sldMk cId="0" sldId="278"/>
            <ac:picMk id="16" creationId="{C4B6F00F-2940-E3E8-F5B2-76431A0F27FF}"/>
          </ac:picMkLst>
        </pc:picChg>
      </pc:sldChg>
      <pc:sldChg chg="delSp modSp mod">
        <pc:chgData name="Shamir Abdul Aziz" userId="45eedd8c-fd0b-4714-a258-369edf2569b0" providerId="ADAL" clId="{BAE9EDF7-E726-42D9-90A3-F1C82AB9B6F8}" dt="2026-04-24T16:03:03.036" v="679" actId="20577"/>
        <pc:sldMkLst>
          <pc:docMk/>
          <pc:sldMk cId="0" sldId="279"/>
        </pc:sldMkLst>
        <pc:spChg chg="mod">
          <ac:chgData name="Shamir Abdul Aziz" userId="45eedd8c-fd0b-4714-a258-369edf2569b0" providerId="ADAL" clId="{BAE9EDF7-E726-42D9-90A3-F1C82AB9B6F8}" dt="2026-04-24T16:03:03.036" v="679" actId="20577"/>
          <ac:spMkLst>
            <pc:docMk/>
            <pc:sldMk cId="0" sldId="279"/>
            <ac:spMk id="8" creationId="{00000000-0000-0000-0000-000000000000}"/>
          </ac:spMkLst>
        </pc:spChg>
      </pc:sldChg>
      <pc:sldChg chg="delSp modSp add del mod ord">
        <pc:chgData name="Shamir Abdul Aziz" userId="45eedd8c-fd0b-4714-a258-369edf2569b0" providerId="ADAL" clId="{BAE9EDF7-E726-42D9-90A3-F1C82AB9B6F8}" dt="2026-05-08T04:40:49.092" v="810" actId="1076"/>
        <pc:sldMkLst>
          <pc:docMk/>
          <pc:sldMk cId="0" sldId="281"/>
        </pc:sldMkLst>
        <pc:spChg chg="mod">
          <ac:chgData name="Shamir Abdul Aziz" userId="45eedd8c-fd0b-4714-a258-369edf2569b0" providerId="ADAL" clId="{BAE9EDF7-E726-42D9-90A3-F1C82AB9B6F8}" dt="2026-05-08T04:40:21.732" v="804" actId="1076"/>
          <ac:spMkLst>
            <pc:docMk/>
            <pc:sldMk cId="0" sldId="281"/>
            <ac:spMk id="2"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5"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6"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7"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8"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9"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10"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14"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15" creationId="{00000000-0000-0000-0000-000000000000}"/>
          </ac:spMkLst>
        </pc:spChg>
        <pc:spChg chg="mod">
          <ac:chgData name="Shamir Abdul Aziz" userId="45eedd8c-fd0b-4714-a258-369edf2569b0" providerId="ADAL" clId="{BAE9EDF7-E726-42D9-90A3-F1C82AB9B6F8}" dt="2026-05-08T04:40:49.092" v="810" actId="1076"/>
          <ac:spMkLst>
            <pc:docMk/>
            <pc:sldMk cId="0" sldId="281"/>
            <ac:spMk id="16" creationId="{00000000-0000-0000-0000-000000000000}"/>
          </ac:spMkLst>
        </pc:spChg>
        <pc:spChg chg="del">
          <ac:chgData name="Shamir Abdul Aziz" userId="45eedd8c-fd0b-4714-a258-369edf2569b0" providerId="ADAL" clId="{BAE9EDF7-E726-42D9-90A3-F1C82AB9B6F8}" dt="2026-05-08T04:40:24.622" v="805" actId="478"/>
          <ac:spMkLst>
            <pc:docMk/>
            <pc:sldMk cId="0" sldId="281"/>
            <ac:spMk id="17" creationId="{00000000-0000-0000-0000-000000000000}"/>
          </ac:spMkLst>
        </pc:spChg>
        <pc:spChg chg="del">
          <ac:chgData name="Shamir Abdul Aziz" userId="45eedd8c-fd0b-4714-a258-369edf2569b0" providerId="ADAL" clId="{BAE9EDF7-E726-42D9-90A3-F1C82AB9B6F8}" dt="2026-05-08T04:40:24.622" v="805" actId="478"/>
          <ac:spMkLst>
            <pc:docMk/>
            <pc:sldMk cId="0" sldId="281"/>
            <ac:spMk id="18" creationId="{00000000-0000-0000-0000-000000000000}"/>
          </ac:spMkLst>
        </pc:spChg>
        <pc:spChg chg="del">
          <ac:chgData name="Shamir Abdul Aziz" userId="45eedd8c-fd0b-4714-a258-369edf2569b0" providerId="ADAL" clId="{BAE9EDF7-E726-42D9-90A3-F1C82AB9B6F8}" dt="2026-05-08T04:40:24.622" v="805" actId="478"/>
          <ac:spMkLst>
            <pc:docMk/>
            <pc:sldMk cId="0" sldId="281"/>
            <ac:spMk id="19" creationId="{00000000-0000-0000-0000-000000000000}"/>
          </ac:spMkLst>
        </pc:spChg>
        <pc:graphicFrameChg chg="modGraphic">
          <ac:chgData name="Shamir Abdul Aziz" userId="45eedd8c-fd0b-4714-a258-369edf2569b0" providerId="ADAL" clId="{BAE9EDF7-E726-42D9-90A3-F1C82AB9B6F8}" dt="2026-05-07T19:01:23.203" v="802" actId="21"/>
          <ac:graphicFrameMkLst>
            <pc:docMk/>
            <pc:sldMk cId="0" sldId="281"/>
            <ac:graphicFrameMk id="24" creationId="{00000000-0000-0000-0000-000000000000}"/>
          </ac:graphicFrameMkLst>
        </pc:graphicFrameChg>
      </pc:sldChg>
      <pc:sldChg chg="modSp add mod">
        <pc:chgData name="Shamir Abdul Aziz" userId="45eedd8c-fd0b-4714-a258-369edf2569b0" providerId="ADAL" clId="{BAE9EDF7-E726-42D9-90A3-F1C82AB9B6F8}" dt="2026-05-01T04:31:23.390" v="794" actId="20577"/>
        <pc:sldMkLst>
          <pc:docMk/>
          <pc:sldMk cId="0" sldId="282"/>
        </pc:sldMkLst>
        <pc:spChg chg="mod">
          <ac:chgData name="Shamir Abdul Aziz" userId="45eedd8c-fd0b-4714-a258-369edf2569b0" providerId="ADAL" clId="{BAE9EDF7-E726-42D9-90A3-F1C82AB9B6F8}" dt="2026-05-01T04:31:23.390" v="794" actId="20577"/>
          <ac:spMkLst>
            <pc:docMk/>
            <pc:sldMk cId="0" sldId="282"/>
            <ac:spMk id="22" creationId="{00000000-0000-0000-0000-000000000000}"/>
          </ac:spMkLst>
        </pc:spChg>
      </pc:sldChg>
      <pc:sldChg chg="modSp add">
        <pc:chgData name="Shamir Abdul Aziz" userId="45eedd8c-fd0b-4714-a258-369edf2569b0" providerId="ADAL" clId="{BAE9EDF7-E726-42D9-90A3-F1C82AB9B6F8}" dt="2026-04-14T15:37:02.414" v="391"/>
        <pc:sldMkLst>
          <pc:docMk/>
          <pc:sldMk cId="1524474712" sldId="287"/>
        </pc:sldMkLst>
        <pc:spChg chg="mod">
          <ac:chgData name="Shamir Abdul Aziz" userId="45eedd8c-fd0b-4714-a258-369edf2569b0" providerId="ADAL" clId="{BAE9EDF7-E726-42D9-90A3-F1C82AB9B6F8}" dt="2026-04-14T15:37:02.414" v="391"/>
          <ac:spMkLst>
            <pc:docMk/>
            <pc:sldMk cId="1524474712" sldId="287"/>
            <ac:spMk id="36" creationId="{CDAC8580-D9A8-BAAE-247A-96A0194F700A}"/>
          </ac:spMkLst>
        </pc:spChg>
      </pc:sldChg>
      <pc:sldChg chg="modSp mod ord">
        <pc:chgData name="Shamir Abdul Aziz" userId="45eedd8c-fd0b-4714-a258-369edf2569b0" providerId="ADAL" clId="{BAE9EDF7-E726-42D9-90A3-F1C82AB9B6F8}" dt="2026-05-01T04:41:41.153" v="801" actId="6549"/>
        <pc:sldMkLst>
          <pc:docMk/>
          <pc:sldMk cId="1350648467" sldId="1925"/>
        </pc:sldMkLst>
        <pc:spChg chg="mod">
          <ac:chgData name="Shamir Abdul Aziz" userId="45eedd8c-fd0b-4714-a258-369edf2569b0" providerId="ADAL" clId="{BAE9EDF7-E726-42D9-90A3-F1C82AB9B6F8}" dt="2026-05-01T04:41:41.153" v="801" actId="6549"/>
          <ac:spMkLst>
            <pc:docMk/>
            <pc:sldMk cId="1350648467" sldId="1925"/>
            <ac:spMk id="88" creationId="{4F7380AA-0046-C3FC-66BD-5BCE54DB147F}"/>
          </ac:spMkLst>
        </pc:spChg>
        <pc:spChg chg="mod">
          <ac:chgData name="Shamir Abdul Aziz" userId="45eedd8c-fd0b-4714-a258-369edf2569b0" providerId="ADAL" clId="{BAE9EDF7-E726-42D9-90A3-F1C82AB9B6F8}" dt="2026-04-28T15:31:08.334" v="705" actId="20577"/>
          <ac:spMkLst>
            <pc:docMk/>
            <pc:sldMk cId="1350648467" sldId="1925"/>
            <ac:spMk id="107" creationId="{FA477536-B4B0-FD60-2E05-7F9006FA0313}"/>
          </ac:spMkLst>
        </pc:spChg>
        <pc:spChg chg="mod">
          <ac:chgData name="Shamir Abdul Aziz" userId="45eedd8c-fd0b-4714-a258-369edf2569b0" providerId="ADAL" clId="{BAE9EDF7-E726-42D9-90A3-F1C82AB9B6F8}" dt="2026-04-28T15:48:29.061" v="778" actId="313"/>
          <ac:spMkLst>
            <pc:docMk/>
            <pc:sldMk cId="1350648467" sldId="1925"/>
            <ac:spMk id="119" creationId="{EFBE154F-45C6-7C2B-1AF6-F6FEEF8C57B1}"/>
          </ac:spMkLst>
        </pc:spChg>
        <pc:spChg chg="mod">
          <ac:chgData name="Shamir Abdul Aziz" userId="45eedd8c-fd0b-4714-a258-369edf2569b0" providerId="ADAL" clId="{BAE9EDF7-E726-42D9-90A3-F1C82AB9B6F8}" dt="2026-04-28T15:28:41.472" v="689" actId="14100"/>
          <ac:spMkLst>
            <pc:docMk/>
            <pc:sldMk cId="1350648467" sldId="1925"/>
            <ac:spMk id="120" creationId="{72501FCC-A946-B8D7-4206-36F372E093F5}"/>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bar"/>
        <c:grouping val="clustered"/>
        <c:varyColors val="1"/>
        <c:ser>
          <c:idx val="0"/>
          <c:order val="0"/>
          <c:tx>
            <c:strRef>
              <c:f>Sheet1!$B$1</c:f>
              <c:strCache>
                <c:ptCount val="1"/>
                <c:pt idx="0">
                  <c:v>Human Only (hours)</c:v>
                </c:pt>
              </c:strCache>
            </c:strRef>
          </c:tx>
          <c:spPr>
            <a:solidFill>
              <a:srgbClr val="C51A1A"/>
            </a:solidFill>
          </c:spPr>
          <c:invertIfNegative val="1"/>
          <c:cat>
            <c:strRef>
              <c:f>Sheet1!$A$2:$A$5</c:f>
              <c:strCache>
                <c:ptCount val="4"/>
                <c:pt idx="0">
                  <c:v>Container Apps
LSI</c:v>
                </c:pt>
                <c:pt idx="1">
                  <c:v>Container Apps
CRI</c:v>
                </c:pt>
                <c:pt idx="2">
                  <c:v>App Service
LSI</c:v>
                </c:pt>
                <c:pt idx="3">
                  <c:v>App Service
CRI</c:v>
                </c:pt>
              </c:strCache>
            </c:strRef>
          </c:cat>
          <c:val>
            <c:numRef>
              <c:f>Sheet1!$B$2:$B$5</c:f>
              <c:numCache>
                <c:formatCode>General</c:formatCode>
                <c:ptCount val="4"/>
                <c:pt idx="0">
                  <c:v>10.7</c:v>
                </c:pt>
                <c:pt idx="1">
                  <c:v>26.8</c:v>
                </c:pt>
                <c:pt idx="2">
                  <c:v>40.5</c:v>
                </c:pt>
                <c:pt idx="3">
                  <c:v>24.6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3D7-4158-A6E6-082059592EE3}"/>
            </c:ext>
          </c:extLst>
        </c:ser>
        <c:ser>
          <c:idx val="1"/>
          <c:order val="1"/>
          <c:tx>
            <c:strRef>
              <c:f>Sheet1!$C$1</c:f>
              <c:strCache>
                <c:ptCount val="1"/>
                <c:pt idx="0">
                  <c:v>SRE Agent (hours)</c:v>
                </c:pt>
              </c:strCache>
            </c:strRef>
          </c:tx>
          <c:spPr>
            <a:solidFill>
              <a:srgbClr val="107C10"/>
            </a:solidFill>
          </c:spPr>
          <c:invertIfNegative val="1"/>
          <c:cat>
            <c:strRef>
              <c:f>Sheet1!$A$2:$A$5</c:f>
              <c:strCache>
                <c:ptCount val="4"/>
                <c:pt idx="0">
                  <c:v>Container Apps
LSI</c:v>
                </c:pt>
                <c:pt idx="1">
                  <c:v>Container Apps
CRI</c:v>
                </c:pt>
                <c:pt idx="2">
                  <c:v>App Service
LSI</c:v>
                </c:pt>
                <c:pt idx="3">
                  <c:v>App Service
CRI</c:v>
                </c:pt>
              </c:strCache>
            </c:strRef>
          </c:cat>
          <c:val>
            <c:numRef>
              <c:f>Sheet1!$C$2:$C$5</c:f>
              <c:numCache>
                <c:formatCode>General</c:formatCode>
                <c:ptCount val="4"/>
                <c:pt idx="0">
                  <c:v>0.17</c:v>
                </c:pt>
                <c:pt idx="1">
                  <c:v>0.97</c:v>
                </c:pt>
                <c:pt idx="2">
                  <c:v>0.05</c:v>
                </c:pt>
                <c:pt idx="3">
                  <c:v>4.2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3D7-4158-A6E6-082059592EE3}"/>
            </c:ext>
          </c:extLst>
        </c:ser>
        <c:dLbls>
          <c:showLegendKey val="0"/>
          <c:showVal val="0"/>
          <c:showCatName val="0"/>
          <c:showSerName val="0"/>
          <c:showPercent val="0"/>
          <c:showBubbleSize val="0"/>
        </c:dLbls>
        <c:gapWidth val="12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100"/>
            </a:pPr>
            <a:endParaRPr lang="en-US"/>
          </a:p>
        </c:txPr>
        <c:crossAx val="-2113994440"/>
        <c:crosses val="autoZero"/>
        <c:auto val="1"/>
        <c:lblAlgn val="ctr"/>
        <c:lblOffset val="100"/>
        <c:noMultiLvlLbl val="0"/>
      </c:catAx>
      <c:valAx>
        <c:axId val="-2113994440"/>
        <c:scaling>
          <c:orientation val="minMax"/>
        </c:scaling>
        <c:delete val="0"/>
        <c:axPos val="b"/>
        <c:majorGridlines>
          <c:spPr>
            <a:ln>
              <a:solidFill>
                <a:srgbClr val="E0E0E0"/>
              </a:solidFill>
            </a:ln>
          </c:spPr>
        </c:majorGridlines>
        <c:title>
          <c:tx>
            <c:rich>
              <a:bodyPr/>
              <a:lstStyle/>
              <a:p>
                <a:pPr>
                  <a:defRPr sz="1100"/>
                </a:pPr>
                <a:r>
                  <a:rPr lang="en-US"/>
                  <a:t>Hours</a:t>
                </a:r>
              </a:p>
            </c:rich>
          </c:tx>
          <c:overlay val="0"/>
        </c:title>
        <c:numFmt formatCode="General" sourceLinked="1"/>
        <c:majorTickMark val="out"/>
        <c:minorTickMark val="none"/>
        <c:tickLblPos val="nextTo"/>
        <c:crossAx val="-2068027336"/>
        <c:crosses val="autoZero"/>
        <c:crossBetween val="between"/>
      </c:valAx>
    </c:plotArea>
    <c:legend>
      <c:legendPos val="b"/>
      <c:overlay val="0"/>
      <c:txPr>
        <a:bodyPr/>
        <a:lstStyle/>
        <a:p>
          <a:pPr>
            <a:defRPr sz="1200">
              <a:solidFill>
                <a:srgbClr val="1A1A2E"/>
              </a:solidFill>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Intent Resolution Score</c:v>
                </c:pt>
              </c:strCache>
            </c:strRef>
          </c:tx>
          <c:spPr>
            <a:ln w="38100">
              <a:solidFill>
                <a:srgbClr val="0078D4"/>
              </a:solidFill>
            </a:ln>
          </c:spPr>
          <c:cat>
            <c:strRef>
              <c:f>Sheet1!$A$2:$A$12</c:f>
              <c:strCache>
                <c:ptCount val="11"/>
                <c:pt idx="0">
                  <c:v>W0</c:v>
                </c:pt>
                <c:pt idx="1">
                  <c:v>W2</c:v>
                </c:pt>
                <c:pt idx="2">
                  <c:v>W4</c:v>
                </c:pt>
                <c:pt idx="3">
                  <c:v>W6</c:v>
                </c:pt>
                <c:pt idx="4">
                  <c:v>W8</c:v>
                </c:pt>
                <c:pt idx="5">
                  <c:v>W10</c:v>
                </c:pt>
                <c:pt idx="6">
                  <c:v>W12</c:v>
                </c:pt>
                <c:pt idx="7">
                  <c:v>W14</c:v>
                </c:pt>
                <c:pt idx="8">
                  <c:v>W16</c:v>
                </c:pt>
                <c:pt idx="9">
                  <c:v>W18</c:v>
                </c:pt>
                <c:pt idx="10">
                  <c:v>W20</c:v>
                </c:pt>
              </c:strCache>
            </c:strRef>
          </c:cat>
          <c:val>
            <c:numRef>
              <c:f>Sheet1!$B$2:$B$12</c:f>
              <c:numCache>
                <c:formatCode>General</c:formatCode>
                <c:ptCount val="11"/>
                <c:pt idx="0">
                  <c:v>2.9</c:v>
                </c:pt>
                <c:pt idx="1">
                  <c:v>3</c:v>
                </c:pt>
                <c:pt idx="2">
                  <c:v>3.1</c:v>
                </c:pt>
                <c:pt idx="3">
                  <c:v>2.6</c:v>
                </c:pt>
                <c:pt idx="4">
                  <c:v>3</c:v>
                </c:pt>
                <c:pt idx="5">
                  <c:v>3</c:v>
                </c:pt>
                <c:pt idx="6">
                  <c:v>3.15</c:v>
                </c:pt>
                <c:pt idx="7">
                  <c:v>3</c:v>
                </c:pt>
                <c:pt idx="8">
                  <c:v>3.25</c:v>
                </c:pt>
                <c:pt idx="9">
                  <c:v>3.43</c:v>
                </c:pt>
                <c:pt idx="10">
                  <c:v>3.28</c:v>
                </c:pt>
              </c:numCache>
            </c:numRef>
          </c:val>
          <c:smooth val="1"/>
          <c:extLst>
            <c:ext xmlns:c16="http://schemas.microsoft.com/office/drawing/2014/chart" uri="{C3380CC4-5D6E-409C-BE32-E72D297353CC}">
              <c16:uniqueId val="{00000000-9ADA-4AAB-8804-BEB67DD23205}"/>
            </c:ext>
          </c:extLst>
        </c:ser>
        <c:ser>
          <c:idx val="1"/>
          <c:order val="1"/>
          <c:tx>
            <c:strRef>
              <c:f>Sheet1!$C$1</c:f>
              <c:strCache>
                <c:ptCount val="1"/>
                <c:pt idx="0">
                  <c:v>Threads/Customer/Week (÷10)</c:v>
                </c:pt>
              </c:strCache>
            </c:strRef>
          </c:tx>
          <c:spPr>
            <a:ln w="38100">
              <a:solidFill>
                <a:srgbClr val="00B7C3"/>
              </a:solidFill>
            </a:ln>
          </c:spPr>
          <c:cat>
            <c:strRef>
              <c:f>Sheet1!$A$2:$A$12</c:f>
              <c:strCache>
                <c:ptCount val="11"/>
                <c:pt idx="0">
                  <c:v>W0</c:v>
                </c:pt>
                <c:pt idx="1">
                  <c:v>W2</c:v>
                </c:pt>
                <c:pt idx="2">
                  <c:v>W4</c:v>
                </c:pt>
                <c:pt idx="3">
                  <c:v>W6</c:v>
                </c:pt>
                <c:pt idx="4">
                  <c:v>W8</c:v>
                </c:pt>
                <c:pt idx="5">
                  <c:v>W10</c:v>
                </c:pt>
                <c:pt idx="6">
                  <c:v>W12</c:v>
                </c:pt>
                <c:pt idx="7">
                  <c:v>W14</c:v>
                </c:pt>
                <c:pt idx="8">
                  <c:v>W16</c:v>
                </c:pt>
                <c:pt idx="9">
                  <c:v>W18</c:v>
                </c:pt>
                <c:pt idx="10">
                  <c:v>W20</c:v>
                </c:pt>
              </c:strCache>
            </c:strRef>
          </c:cat>
          <c:val>
            <c:numRef>
              <c:f>Sheet1!$C$2:$C$12</c:f>
              <c:numCache>
                <c:formatCode>General</c:formatCode>
                <c:ptCount val="11"/>
                <c:pt idx="0">
                  <c:v>0.88</c:v>
                </c:pt>
                <c:pt idx="1">
                  <c:v>1.8</c:v>
                </c:pt>
                <c:pt idx="2">
                  <c:v>2.16</c:v>
                </c:pt>
                <c:pt idx="3">
                  <c:v>3.01</c:v>
                </c:pt>
                <c:pt idx="4">
                  <c:v>4.21</c:v>
                </c:pt>
                <c:pt idx="5">
                  <c:v>3.82</c:v>
                </c:pt>
                <c:pt idx="6">
                  <c:v>7.17</c:v>
                </c:pt>
                <c:pt idx="7">
                  <c:v>6.21</c:v>
                </c:pt>
                <c:pt idx="8">
                  <c:v>6.93</c:v>
                </c:pt>
                <c:pt idx="9">
                  <c:v>6.87</c:v>
                </c:pt>
                <c:pt idx="10">
                  <c:v>5.83</c:v>
                </c:pt>
              </c:numCache>
            </c:numRef>
          </c:val>
          <c:smooth val="1"/>
          <c:extLst>
            <c:ext xmlns:c16="http://schemas.microsoft.com/office/drawing/2014/chart" uri="{C3380CC4-5D6E-409C-BE32-E72D297353CC}">
              <c16:uniqueId val="{00000001-9ADA-4AAB-8804-BEB67DD23205}"/>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scaling>
        <c:delete val="0"/>
        <c:axPos val="l"/>
        <c:majorGridlines>
          <c:spPr>
            <a:ln>
              <a:solidFill>
                <a:srgbClr val="E0E0E0"/>
              </a:solidFill>
            </a:ln>
          </c:spPr>
        </c:majorGridlines>
        <c:numFmt formatCode="General" sourceLinked="1"/>
        <c:majorTickMark val="out"/>
        <c:minorTickMark val="none"/>
        <c:tickLblPos val="nextTo"/>
        <c:crossAx val="2118791784"/>
        <c:crosses val="autoZero"/>
        <c:crossBetween val="between"/>
      </c:valAx>
    </c:plotArea>
    <c:legend>
      <c:legendPos val="b"/>
      <c:overlay val="0"/>
      <c:txPr>
        <a:bodyPr/>
        <a:lstStyle/>
        <a:p>
          <a:pPr>
            <a:defRPr sz="1100"/>
          </a:pPr>
          <a:endParaRPr lang="en-US"/>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770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[TITLE SLIDE - </a:t>
            </a:r>
            <a:r>
              <a:rPr lang="en-US" dirty="0"/>
              <a:t>You</a:t>
            </a:r>
            <a:r>
              <a:rPr dirty="0"/>
              <a:t>]</a:t>
            </a:r>
          </a:p>
          <a:p>
            <a:r>
              <a:rPr dirty="0"/>
              <a:t>Welcome everyone to this session. I’m </a:t>
            </a:r>
            <a:r>
              <a:rPr lang="en-US" dirty="0"/>
              <a:t>&lt;</a:t>
            </a:r>
            <a:r>
              <a:rPr lang="en-US"/>
              <a:t>Your-Name&gt;</a:t>
            </a:r>
            <a:r>
              <a:t>.</a:t>
            </a:r>
            <a:endParaRPr dirty="0"/>
          </a:p>
          <a:p>
            <a:endParaRPr dirty="0"/>
          </a:p>
          <a:p>
            <a:r>
              <a:rPr dirty="0"/>
              <a:t>Today we're going to talk about something that directly connects to this year's AFC theme — "AI at Scale: Turning Insight into Enterprise Advantage" — by sharing the story of how we built an AI agent that runs cloud operations at enterprise scale inside Microsoft. Not a prototype. Not a demo. A production system that has mitigated over 35,000 incidents and saved over 50,000 engineering hours.</a:t>
            </a:r>
          </a:p>
          <a:p>
            <a:endParaRPr dirty="0"/>
          </a:p>
          <a:p>
            <a:r>
              <a:rPr dirty="0"/>
              <a:t>We'll share real data, real lessons, and real advice for anyone building AI agents for enterprise use cases.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[SECTION DIVIDER - THE PROBLEM]</a:t>
            </a:r>
          </a:p>
          <a:p>
            <a:r>
              <a:t>Let's start with why we built this in the first place.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[THE TOIL PROBLEM]</a:t>
            </a:r>
          </a:p>
          <a:p>
            <a:r>
              <a:rPr dirty="0"/>
              <a:t>Microsoft runs over 200 Azure services. Each has its own failure modes, its own runbooks, its own on-call teams. Engineers get paged at 3am to investigate issues that follow the same diagnostic pattern they've seen a hundred times before.</a:t>
            </a:r>
          </a:p>
          <a:p>
            <a:endParaRPr dirty="0"/>
          </a:p>
          <a:p>
            <a:r>
              <a:rPr dirty="0"/>
              <a:t>Here's the dirty secret: about 80% of incident investigations are repetitive. Same KQL queries, same diagnostic steps, same mitigation actions. Yet the mean time to mitigate is still measured in hours because of human latency — finding the right person, them getting context, running diagnostics, executing the fix.</a:t>
            </a:r>
          </a:p>
          <a:p>
            <a:endParaRPr dirty="0"/>
          </a:p>
          <a:p>
            <a:r>
              <a:rPr dirty="0"/>
              <a:t>Traditional automation — scripts, playbooks, Logic Apps — works great for exact-match failures. But the moment the failure mode is slightly different, they break. What we needed was something that could reason about novel situations the way an experienced SRE does, but at machine speed.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[SECTION DIVIDER - THE SOLUTION]</a:t>
            </a:r>
          </a:p>
          <a:p>
            <a:r>
              <a:t>So we built Azure SRE Agent.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[WHAT IS SRE AGENT]</a:t>
            </a:r>
          </a:p>
          <a:p>
            <a:r>
              <a:rPr dirty="0"/>
              <a:t>Azure SRE Agent is an AI-powered operations platform. It's generally available today on Azure.</a:t>
            </a:r>
          </a:p>
          <a:p>
            <a:endParaRPr dirty="0"/>
          </a:p>
          <a:p>
            <a:r>
              <a:rPr dirty="0"/>
              <a:t>The numbers you see — 1,300+ agents deployed at Microsoft, 35,000+ incidents mitigated, 50,000+ engineering hours saved — these are production numbers as of this month.</a:t>
            </a:r>
          </a:p>
          <a:p>
            <a:endParaRPr dirty="0"/>
          </a:p>
          <a:p>
            <a:r>
              <a:rPr dirty="0"/>
              <a:t>It handles any kind of operational toil: incident response, scheduled monitoring, customer support workflows, developer operations. It works across Azure natively and extends to hybrid and multi-cloud via the Model Context Protocol. And it scales — our largest customer team runs 51 agents with up to 87 custom tools per agent.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[THREE MODES]</a:t>
            </a:r>
          </a:p>
          <a:p>
            <a:r>
              <a:rPr dirty="0"/>
              <a:t>SRE Agent operates in three complementary modes.</a:t>
            </a:r>
          </a:p>
          <a:p>
            <a:endParaRPr dirty="0"/>
          </a:p>
          <a:p>
            <a:r>
              <a:rPr dirty="0"/>
              <a:t>Interactive: You chat with it in the Azure Portal. Ask questions, run diagnostics, upload HAR traces. Think of it as having a senior SRE always available.</a:t>
            </a:r>
          </a:p>
          <a:p>
            <a:endParaRPr dirty="0"/>
          </a:p>
          <a:p>
            <a:r>
              <a:rPr dirty="0"/>
              <a:t>Reactive: It responds to Azure Monitor alerts, PagerDuty, ServiceNow. When an alert fires, the agent automatically triages, performs RCA, and can trigger mitigation — with human approval gates.</a:t>
            </a:r>
          </a:p>
          <a:p>
            <a:endParaRPr dirty="0"/>
          </a:p>
          <a:p>
            <a:r>
              <a:rPr dirty="0"/>
              <a:t>Proactive: Scheduled tasks on cron expressions. Continuous health checks, compliance scanning, anomaly detection. The agent finds problems before they become incidents.</a:t>
            </a:r>
          </a:p>
          <a:p>
            <a:endParaRPr dirty="0"/>
          </a:p>
          <a:p>
            <a:r>
              <a:rPr dirty="0"/>
              <a:t>The magic is when all three work together — proactive monitoring catches an anomaly, reactive mode handles the resulting alert, and interactive mode lets the engineer ask follow-up questions.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824CF-CA63-48C7-FB92-E018BAC104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C8E5C-D3F7-A17B-2807-74F3CD71800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CF45A2D-29FB-E71B-71D3-2D42B81A9F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An AI operations agent that monitors your resources, responds to incidents, and automates daily SRE tasks — across Azure and beyond.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Needs and interactions are surfaced to the user from SRE agent based on your established configurations and tasks.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Azure Portal / CLI - Chat with your agent, ask questions, trigger actions, review findings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Alerts and incidents - Azure Monitor, ICM, PagerDuty — auto-investigate when things break</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Scheduled tasks - Recurring health checks, capacity reviews, compliance scans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Through secure HTTPS connection, the SRE agent collaborates with the user by leveraging: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Reasoning Engine - LLM-powered. Plans investigation steps and executes autonomously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Skills and tools - K8s diagnostics, metric analysis, log search, CPU/memory profiling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Connectors - Kusto, Geneva, MCP servers, Teams, GitHub, Datadog, custom APIs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Knowledge and Memory - Upload runbooks &amp; docs. Learns from past incidents over time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And we achieve specialization in output and responses by grounding SRE agent in resources in Azure and beyond: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Metrics and Logs - Azure Monitor, Log Analytics, App Insights, Kusto, Datadog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Compute and Apps - AKS, Container Apps, App Service, VMs, Functions, on-prem K8s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Data and Infra - Databases, Storage, Networking, Key Vault, any ARM resource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3</a:t>
            </a:r>
            <a:r>
              <a:rPr kumimoji="0" lang="en-US" sz="1200" b="0" i="0" u="none" strike="noStrike" kern="1200" cap="none" spc="0" normalizeH="0" baseline="30000" noProof="0">
                <a:ln>
                  <a:noFill/>
                </a:ln>
                <a:solidFill>
                  <a:srgbClr val="8B9DC3"/>
                </a:solidFill>
                <a:effectLst/>
                <a:uLnTx/>
                <a:uFillTx/>
                <a:latin typeface="Segoe UI"/>
                <a:ea typeface="+mn-ea"/>
                <a:cs typeface="+mn-cs"/>
              </a:rPr>
              <a:t>rd</a:t>
            </a:r>
            <a:r>
              <a:rPr kumimoji="0" lang="en-US" sz="1200" b="0" i="0" u="none" strike="noStrike" kern="1200" cap="none" spc="0" normalizeH="0" baseline="0" noProof="0">
                <a:ln>
                  <a:noFill/>
                </a:ln>
                <a:solidFill>
                  <a:srgbClr val="8B9DC3"/>
                </a:solidFill>
                <a:effectLst/>
                <a:uLnTx/>
                <a:uFillTx/>
                <a:latin typeface="Segoe UI"/>
                <a:ea typeface="+mn-ea"/>
                <a:cs typeface="+mn-cs"/>
              </a:rPr>
              <a:t>-party and custom info - GitHub, PagerDuty, custom APIs via MCP connector protocol</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Finally, stay in control with human-in-the-loop and agent governance for every interaction.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Azure RBAC – Agents act with your permissions only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Human approval – Write operations require explicit approval action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Safety hooks – custom governance checks occur before actions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8B9DC3"/>
                </a:solidFill>
                <a:effectLst/>
                <a:uLnTx/>
                <a:uFillTx/>
                <a:latin typeface="Segoe UI"/>
                <a:ea typeface="+mn-ea"/>
                <a:cs typeface="+mn-cs"/>
              </a:rPr>
              <a:t>Isolated Compute – each agent runs in its own container app</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200" b="0" i="1"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200" b="0" i="1" u="none" strike="noStrike" kern="1200" cap="none" spc="0" normalizeH="0" baseline="0" noProof="0">
                <a:ln>
                  <a:noFill/>
                </a:ln>
                <a:solidFill>
                  <a:srgbClr val="8B9DC3"/>
                </a:solidFill>
                <a:effectLst/>
                <a:uLnTx/>
                <a:uFillTx/>
                <a:latin typeface="Segoe UI"/>
                <a:ea typeface="+mn-ea"/>
                <a:cs typeface="+mn-cs"/>
              </a:rPr>
              <a:t>Note: All features available in </a:t>
            </a:r>
            <a:r>
              <a:rPr kumimoji="0" lang="en-US" sz="1200" b="0" i="1" u="none" strike="noStrike" kern="1200" cap="none" spc="0" normalizeH="0" baseline="0" noProof="0">
                <a:ln>
                  <a:noFill/>
                </a:ln>
                <a:solidFill>
                  <a:srgbClr val="5B6B8A"/>
                </a:solidFill>
                <a:effectLst/>
                <a:uLnTx/>
                <a:uFillTx/>
                <a:latin typeface="Segoe UI"/>
                <a:ea typeface="+mn-ea"/>
                <a:cs typeface="+mn-cs"/>
              </a:rPr>
              <a:t>East US 2 · Sweden Central · Australia East — with more regions coming</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8B9DC3"/>
              </a:solidFill>
              <a:effectLst/>
              <a:uLnTx/>
              <a:uFillTx/>
              <a:latin typeface="Segoe UI"/>
              <a:ea typeface="+mn-ea"/>
              <a:cs typeface="+mn-cs"/>
            </a:endParaRPr>
          </a:p>
        </p:txBody>
      </p:sp>
      <p:sp>
        <p:nvSpPr>
          <p:cNvPr id="4" name="Slide Number Placeholder 3">
            <a:extLst>
              <a:ext uri="{FF2B5EF4-FFF2-40B4-BE49-F238E27FC236}">
                <a16:creationId xmlns:a16="http://schemas.microsoft.com/office/drawing/2014/main" id="{3991D1C4-D77D-0B23-778F-447F4962F2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F0C0C7-568F-4BC2-B94F-F46546A42968}" type="slidenum">
              <a:rPr kumimoji="0" lang="en-US" sz="1200" b="0" i="0" u="none" strike="noStrike" kern="1200" cap="none" spc="0" normalizeH="0" baseline="0" noProof="0" smtClean="0">
                <a:ln>
                  <a:noFill/>
                </a:ln>
                <a:solidFill>
                  <a:prstClr val="black"/>
                </a:solidFill>
                <a:effectLst/>
                <a:uLnTx/>
                <a:uFillTx/>
                <a:latin typeface="Segoe Sans Display"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Segoe Sans Display" pitchFamily="2" charset="0"/>
              <a:ea typeface="+mn-ea"/>
              <a:cs typeface="+mn-cs"/>
            </a:endParaRPr>
          </a:p>
        </p:txBody>
      </p:sp>
    </p:spTree>
    <p:extLst>
      <p:ext uri="{BB962C8B-B14F-4D97-AF65-F5344CB8AC3E}">
        <p14:creationId xmlns:p14="http://schemas.microsoft.com/office/powerpoint/2010/main" val="1349885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[SECTION DIVIDER - CUSTOMER ZERO]</a:t>
            </a:r>
          </a:p>
          <a:p>
            <a:r>
              <a:t>Now the part I'm most excited about: real production data from Microsoft's own engineering teams.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28D19-5CCA-6DA9-A243-3926AC77E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DF2AFD-D476-4E2D-EEF7-89DA6E56587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173B0F-BAEF-5EE8-FD38-3102B36A3459}"/>
              </a:ext>
            </a:extLst>
          </p:cNvPr>
          <p:cNvSpPr>
            <a:spLocks noGrp="1"/>
          </p:cNvSpPr>
          <p:nvPr>
            <p:ph type="body" idx="1"/>
          </p:nvPr>
        </p:nvSpPr>
        <p:spPr/>
        <p:txBody>
          <a:bodyPr/>
          <a:lstStyle/>
          <a:p>
            <a:r>
              <a:rPr lang="en-US" dirty="0"/>
              <a:t>Free flow talk.. And then</a:t>
            </a:r>
          </a:p>
          <a:p>
            <a:r>
              <a:rPr lang="en-US" dirty="0"/>
              <a:t>Let me talk to you about another use case where the Agentic era is truly helping us reduce toil</a:t>
            </a:r>
          </a:p>
          <a:p>
            <a:endParaRPr lang="en-US" dirty="0"/>
          </a:p>
          <a:p>
            <a:endParaRPr lang="en-US" dirty="0"/>
          </a:p>
          <a:p>
            <a:r>
              <a:rPr lang="en-US" dirty="0"/>
              <a:t>Since implementing SRE agent, the impact at Microsoft has been widespread across teams with over 35,000 incidents handled autonomously and ultimately saving developers 50,000 hours of operations work.</a:t>
            </a:r>
          </a:p>
          <a:p>
            <a:endParaRPr lang="en-US" dirty="0"/>
          </a:p>
          <a:p>
            <a:r>
              <a:rPr lang="en-US" dirty="0"/>
              <a:t>For incident management:</a:t>
            </a:r>
          </a:p>
          <a:p>
            <a:pPr marL="171450" indent="-171450">
              <a:buFont typeface="Arial" panose="020B0604020202020204" pitchFamily="34" charset="0"/>
              <a:buChar char="•"/>
            </a:pPr>
            <a:r>
              <a:rPr lang="en-US" dirty="0"/>
              <a:t>227k incidents have been managed with help from Azure SRE Agent</a:t>
            </a:r>
          </a:p>
          <a:p>
            <a:pPr marL="171450" indent="-171450">
              <a:buFont typeface="Arial" panose="020B0604020202020204" pitchFamily="34" charset="0"/>
              <a:buChar char="•"/>
            </a:pPr>
            <a:r>
              <a:rPr lang="en-US" dirty="0"/>
              <a:t>Azure SRE Agent has enriched context for the human-in-the-loop for over 220k incidents</a:t>
            </a:r>
          </a:p>
          <a:p>
            <a:pPr marL="171450" indent="-171450">
              <a:buFont typeface="Arial" panose="020B0604020202020204" pitchFamily="34" charset="0"/>
              <a:buChar char="•"/>
            </a:pPr>
            <a:r>
              <a:rPr lang="en-US" dirty="0"/>
              <a:t>This has resulted in a 5-minute median time-to-mitigation</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For releases:</a:t>
            </a:r>
          </a:p>
          <a:p>
            <a:pPr marL="171450" indent="-171450">
              <a:buFont typeface="Arial" panose="020B0604020202020204" pitchFamily="34" charset="0"/>
              <a:buChar char="•"/>
            </a:pPr>
            <a:r>
              <a:rPr lang="en-US" dirty="0"/>
              <a:t>We’ve created over 1.8k release threads using 51k total actions</a:t>
            </a:r>
          </a:p>
          <a:p>
            <a:pPr marL="171450" indent="-171450">
              <a:buFont typeface="Arial" panose="020B0604020202020204" pitchFamily="34" charset="0"/>
              <a:buChar char="•"/>
            </a:pPr>
            <a:r>
              <a:rPr lang="en-US" dirty="0"/>
              <a:t>This is a 70x monthly growth of what we were able to do before</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For security:</a:t>
            </a:r>
          </a:p>
          <a:p>
            <a:pPr marL="171450" indent="-171450">
              <a:buFont typeface="Arial" panose="020B0604020202020204" pitchFamily="34" charset="0"/>
              <a:buChar char="•"/>
            </a:pPr>
            <a:r>
              <a:rPr lang="en-US" dirty="0"/>
              <a:t>We’ve implemented 17k security best practice scans throughout environments to kick of 215k actions</a:t>
            </a:r>
          </a:p>
          <a:p>
            <a:pPr marL="171450" indent="-171450">
              <a:buFont typeface="Arial" panose="020B0604020202020204" pitchFamily="34" charset="0"/>
              <a:buChar char="•"/>
            </a:pPr>
            <a:r>
              <a:rPr lang="en-US" dirty="0"/>
              <a:t>This runs the scanning for over 600 agents</a:t>
            </a:r>
          </a:p>
        </p:txBody>
      </p:sp>
      <p:sp>
        <p:nvSpPr>
          <p:cNvPr id="4" name="Slide Number Placeholder 3">
            <a:extLst>
              <a:ext uri="{FF2B5EF4-FFF2-40B4-BE49-F238E27FC236}">
                <a16:creationId xmlns:a16="http://schemas.microsoft.com/office/drawing/2014/main" id="{A8E32721-ED0A-BFB5-1370-8D14B899202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F0C0C7-568F-4BC2-B94F-F46546A42968}" type="slidenum">
              <a:rPr kumimoji="0" lang="en-US" sz="1200" b="0" i="0" u="none" strike="noStrike" kern="1200" cap="none" spc="0" normalizeH="0" baseline="0" noProof="0" smtClean="0">
                <a:ln>
                  <a:noFill/>
                </a:ln>
                <a:solidFill>
                  <a:prstClr val="black"/>
                </a:solidFill>
                <a:effectLst/>
                <a:uLnTx/>
                <a:uFillTx/>
                <a:latin typeface="Segoe Sans Display"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Segoe Sans Display" pitchFamily="2" charset="0"/>
              <a:ea typeface="+mn-ea"/>
              <a:cs typeface="+mn-cs"/>
            </a:endParaRPr>
          </a:p>
        </p:txBody>
      </p:sp>
    </p:spTree>
    <p:extLst>
      <p:ext uri="{BB962C8B-B14F-4D97-AF65-F5344CB8AC3E}">
        <p14:creationId xmlns:p14="http://schemas.microsoft.com/office/powerpoint/2010/main" val="2998003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[CONTAINER APPS </a:t>
            </a:r>
            <a:r>
              <a:t>- </a:t>
            </a:r>
            <a:r>
              <a:rPr lang="en-US"/>
              <a:t>You</a:t>
            </a:r>
            <a:r>
              <a:t>]</a:t>
            </a:r>
            <a:endParaRPr dirty="0"/>
          </a:p>
          <a:p>
            <a:r>
              <a:rPr dirty="0"/>
              <a:t>First: Azure Container Apps. This team runs 3 incident agents and 17 total agents.</a:t>
            </a:r>
          </a:p>
          <a:p>
            <a:endParaRPr dirty="0"/>
          </a:p>
          <a:p>
            <a:r>
              <a:rPr dirty="0"/>
              <a:t>Look at the TTM numbers on the left. When SRE Agent mitigates a </a:t>
            </a:r>
            <a:r>
              <a:rPr dirty="0" err="1"/>
              <a:t>livesite</a:t>
            </a:r>
            <a:r>
              <a:rPr dirty="0"/>
              <a:t> incident, the median time is 10 minutes. When a human handles it alone — 10.7 hours. That's 64x faster.</a:t>
            </a:r>
          </a:p>
          <a:p>
            <a:endParaRPr dirty="0"/>
          </a:p>
          <a:p>
            <a:r>
              <a:rPr dirty="0"/>
              <a:t>For customer-reported incidents — CRIs — the agent resolves them in 58 minutes. Without the agent, 26.8 hours. Almost 28x faster.</a:t>
            </a:r>
          </a:p>
          <a:p>
            <a:endParaRPr dirty="0"/>
          </a:p>
          <a:p>
            <a:r>
              <a:rPr dirty="0"/>
              <a:t>But here's what really stands out: 91.4% agent coverage. Out of 1,190 incidents last month, only 3 </a:t>
            </a:r>
            <a:r>
              <a:rPr dirty="0" err="1"/>
              <a:t>livesite</a:t>
            </a:r>
            <a:r>
              <a:rPr dirty="0"/>
              <a:t> incidents had zero agent involvement. Wall-to-wall coverage.</a:t>
            </a:r>
          </a:p>
          <a:p>
            <a:endParaRPr dirty="0"/>
          </a:p>
          <a:p>
            <a:r>
              <a:rPr dirty="0"/>
              <a:t>And the engineers trust it: 89.8% positive RCA feedback. Nearly 90% of the time, the engineer said the agent's root cause analysis was useful. This isn't a notification forwarder — it's a trusted first responder.</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[APP SERVICE - </a:t>
            </a:r>
            <a:r>
              <a:rPr lang="en-US"/>
              <a:t>You</a:t>
            </a:r>
            <a:r>
              <a:t>]</a:t>
            </a:r>
          </a:p>
          <a:p>
            <a:r>
              <a:t>Now App Service Engineering — a much larger team with deeper customization.</a:t>
            </a:r>
          </a:p>
          <a:p>
            <a:endParaRPr/>
          </a:p>
          <a:p>
            <a:r>
              <a:t>21 custom agents, 51 total, with some running up to 87 custom tools purpose-built for their failure modes.</a:t>
            </a:r>
          </a:p>
          <a:p>
            <a:endParaRPr/>
          </a:p>
          <a:p>
            <a:r>
              <a:t>The headline: 809x faster. Agent mitigates livesite incidents in 3 minutes. Human-only resolution: 40.5 hours. Three minutes versus forty hours.</a:t>
            </a:r>
          </a:p>
          <a:p>
            <a:endParaRPr/>
          </a:p>
          <a:p>
            <a:r>
              <a:t>And there's a fascinating secondary signal: even when the agent doesn't fully mitigate, just having it enrich the incident cuts human resolution time in half. 16.1 hours with enrichment versus 40.5 without. The diagnostics the agent provides give the human engineer a massive head start.</a:t>
            </a:r>
          </a:p>
          <a:p>
            <a:endParaRPr/>
          </a:p>
          <a:p>
            <a:r>
              <a:t>This team proves that deep customization drives results. They didn't use a generic agent — they built domain-specific tools for their exact failure modes.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[SRE4SRE - </a:t>
            </a:r>
            <a:r>
              <a:rPr lang="en-US"/>
              <a:t>You</a:t>
            </a:r>
            <a:r>
              <a:t>]</a:t>
            </a:r>
          </a:p>
          <a:p>
            <a:r>
              <a:t>And now my favorite: SRE Agent managing itself.</a:t>
            </a:r>
          </a:p>
          <a:p>
            <a:endParaRPr/>
          </a:p>
          <a:p>
            <a:r>
              <a:t>We've been dogfooding since October 2025. In the last 90 days: 1,542 manual chats, 96 incidents processed, 906 code edits, 157 GitHub issues triaged, 4,736 scheduled task runs.</a:t>
            </a:r>
          </a:p>
          <a:p>
            <a:endParaRPr/>
          </a:p>
          <a:p>
            <a:r>
              <a:t>The agent handles incidents end-to-end: alert fires, agent investigates, posts RCA with evidence, executes mitigation — zero human touch. 58 incidents fully resolved autonomously.</a:t>
            </a:r>
          </a:p>
          <a:p>
            <a:endParaRPr/>
          </a:p>
          <a:p>
            <a:r>
              <a:t>It writes code: detects a bug in production telemetry, writes the fix with tests, opens a PR, validates. 906 code edits across 173 files.</a:t>
            </a:r>
          </a:p>
          <a:p>
            <a:endParaRPr/>
          </a:p>
          <a:p>
            <a:r>
              <a:t>It triages our public GitHub issues: reads the issue, browses related logs, traces through our code, and posts findings.</a:t>
            </a:r>
          </a:p>
          <a:p>
            <a:endParaRPr/>
          </a:p>
          <a:p>
            <a:r>
              <a:t>It runs 17 scheduled tasks that fire 4,736 times, generating 79 daily health reports.</a:t>
            </a:r>
          </a:p>
          <a:p>
            <a:endParaRPr/>
          </a:p>
          <a:p>
            <a:r>
              <a:t>This is the ultimate forcing function. We can't ship a product we don't trust enough to run our own service.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[DEMO DIVIDER]</a:t>
            </a:r>
          </a:p>
          <a:p>
            <a:r>
              <a:t>And now I'll hand it over to Tina for a walkthrough of SRE Agent in action. Tina?</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[KEY TAKEAWAYS - </a:t>
            </a:r>
            <a:r>
              <a:rPr lang="en-US"/>
              <a:t>You</a:t>
            </a:r>
            <a:r>
              <a:t>]</a:t>
            </a:r>
          </a:p>
          <a:p>
            <a:r>
              <a:t>Five things to remember from this talk:</a:t>
            </a:r>
          </a:p>
          <a:p>
            <a:endParaRPr/>
          </a:p>
          <a:p>
            <a:r>
              <a:t>1. AI agents transform operations speed — not incrementally, but by orders of magnitude. 64x to 809x faster.</a:t>
            </a:r>
          </a:p>
          <a:p>
            <a:r>
              <a:t>2. The value comes from deep integration with your specific tools, logs, and runbooks. Generic chat is table stakes.</a:t>
            </a:r>
          </a:p>
          <a:p>
            <a:r>
              <a:t>3. Safety and governance must be first-class. RBAC, approval gates, safety hooks, auditability.</a:t>
            </a:r>
          </a:p>
          <a:p>
            <a:r>
              <a:t>4. Dogfooding reveals truth. Make the agent manage itself.</a:t>
            </a:r>
          </a:p>
          <a:p>
            <a:r>
              <a:t>5. The future of operations is agentic, and it's here now. 1,300+ agents at Microsoft, generally available on Azure.</a:t>
            </a:r>
          </a:p>
          <a:p>
            <a:endParaRPr/>
          </a:p>
          <a:p>
            <a:r>
              <a:t>Thank you for your time. Let's take questions.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dirty="0"/>
              <a:t>[Q&amp;A - Both]</a:t>
            </a:r>
          </a:p>
          <a:p>
            <a:r>
              <a:rPr dirty="0"/>
              <a:t>Open it up for questions. Be ready for:</a:t>
            </a:r>
          </a:p>
          <a:p>
            <a:r>
              <a:rPr dirty="0"/>
              <a:t>- "How does this compare to {competitor}?"</a:t>
            </a:r>
          </a:p>
          <a:p>
            <a:r>
              <a:rPr dirty="0"/>
              <a:t>- "What LLM are you using?"</a:t>
            </a:r>
          </a:p>
          <a:p>
            <a:r>
              <a:rPr dirty="0"/>
              <a:t>- "How do you handle prompt injection / security?"</a:t>
            </a:r>
          </a:p>
          <a:p>
            <a:r>
              <a:rPr dirty="0"/>
              <a:t>- "What's the pricing model?"</a:t>
            </a:r>
          </a:p>
          <a:p>
            <a:r>
              <a:rPr dirty="0"/>
              <a:t>- "Can it work with non-Azure resources?"</a:t>
            </a:r>
          </a:p>
          <a:p>
            <a:r>
              <a:rPr dirty="0"/>
              <a:t>- "How do you handle PII in logs?"</a:t>
            </a:r>
          </a:p>
          <a:p>
            <a:r>
              <a:rPr dirty="0"/>
              <a:t>- "What happens when the agent gets it wrong?"</a:t>
            </a:r>
          </a:p>
          <a:p>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[THANK YOU - Both]</a:t>
            </a:r>
          </a:p>
          <a:p>
            <a:r>
              <a:t>Thank you for attending. If you want to try Azure SRE Agent, it's generally available at aka.ms/sre-agent. Come talk to us afterward — we'd love to hear about your operational challenges and how AI agents might help.</a:t>
            </a:r>
          </a:p>
          <a:p>
            <a:endParaRPr/>
          </a:p>
          <a:p>
            <a:r>
              <a:t>Connect with us on LinkedIn!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[TTM CHART - </a:t>
            </a:r>
            <a:r>
              <a:rPr lang="en-US"/>
              <a:t>You</a:t>
            </a:r>
            <a:r>
              <a:t>]</a:t>
            </a:r>
          </a:p>
          <a:p>
            <a:r>
              <a:t>Here's the visual summary across both teams.</a:t>
            </a:r>
          </a:p>
          <a:p>
            <a:endParaRPr/>
          </a:p>
          <a:p>
            <a:r>
              <a:t>The bar chart tells the whole story. The red bars are human-only resolution times. The green bars are agent-mitigated times. In every case, the difference is not incremental — it's transformational.</a:t>
            </a:r>
          </a:p>
          <a:p>
            <a:endParaRPr/>
          </a:p>
          <a:p>
            <a:r>
              <a:t>The key takeaway here: AI agents don't just assist — they fundamentally change the speed of operations. And the biggest gains come from teams that deeply customize the agent's tools to their specific failure modes. App Service's 809x improvement didn't happen by accident — it came from 87 purpose-built tools.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[MATURITY JOURNEY - </a:t>
            </a:r>
            <a:r>
              <a:rPr lang="en-US"/>
              <a:t>You</a:t>
            </a:r>
            <a:r>
              <a:t>]</a:t>
            </a:r>
          </a:p>
          <a:p>
            <a:r>
              <a:t>One more data point that I think is important for anyone building AI products: how adoption evolves over time.</a:t>
            </a:r>
          </a:p>
          <a:p>
            <a:endParaRPr/>
          </a:p>
          <a:p>
            <a:r>
              <a:t>We tracked 2,700+ customer subscriptions over 6 months. Two key curves: the blue line is quality (intent resolution score), and the teal line is usage intensity.</a:t>
            </a:r>
          </a:p>
          <a:p>
            <a:endParaRPr/>
          </a:p>
          <a:p>
            <a:r>
              <a:t>There's a clear J-curve. In weeks 0-2, customers explore. Weeks 5-7, scores actually dip — we call this the 'trough of disillusionment.' Customers move past simple hello-world queries into complex operational scenarios where the agent struggles more. But then they learn to frame requests better, customize their tools, and by week 12+ they're power users — 8-10x more usage than onboarding.</a:t>
            </a:r>
          </a:p>
          <a:p>
            <a:endParaRPr/>
          </a:p>
          <a:p>
            <a:r>
              <a:t>The implication: if you're building an AI product, expect this dip. Design your onboarding to help customers through it. The ones who survive become your biggest advocates.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[APPENDIX - Reference only]</a:t>
            </a:r>
          </a:p>
          <a:p>
            <a:r>
              <a:t>This slide provides the full lifecycle view for reference during Q&amp;A if someone asks about the broader agentic DevOps vision.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[AGENTIC DEVOPS - </a:t>
            </a:r>
            <a:r>
              <a:rPr lang="en-US"/>
              <a:t>You</a:t>
            </a:r>
            <a:r>
              <a:t>]</a:t>
            </a:r>
          </a:p>
          <a:p>
            <a:r>
              <a:t>Before we dive into Customer Zero data, I want to zoom out. SRE Agent is part of a broader pattern we're seeing at Microsoft: agents across the entire software lifecycle.</a:t>
            </a:r>
          </a:p>
          <a:p>
            <a:endParaRPr/>
          </a:p>
          <a:p>
            <a:r>
              <a:t>We use GitHub Copilot for coding, Copilot for code review, SRE Agent for operations and deployment. And here's the recursive part — number 5 on this list — SRE Agent managing SRE Agent. We call it SRE4SRE. The agent debugs its own customer issues, finds bugs in its own telemetry, writes fixes, and opens PRs. We'll share that data shortly.</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2.sv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CENT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lgn="ctr">
              <a:defRPr/>
            </a:lvl1pPr>
          </a:lstStyle>
          <a:p>
            <a:r>
              <a:rPr lang="en-US"/>
              <a:t>Click to edit Master title style</a:t>
            </a:r>
          </a:p>
        </p:txBody>
      </p:sp>
    </p:spTree>
    <p:extLst>
      <p:ext uri="{BB962C8B-B14F-4D97-AF65-F5344CB8AC3E}">
        <p14:creationId xmlns:p14="http://schemas.microsoft.com/office/powerpoint/2010/main" val="33162020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MS logo white - EMF" descr="Microsoft logo white text version">
            <a:extLst>
              <a:ext uri="{FF2B5EF4-FFF2-40B4-BE49-F238E27FC236}">
                <a16:creationId xmlns:a16="http://schemas.microsoft.com/office/drawing/2014/main" id="{F7CD6B1F-AE52-08A4-59DD-ADA3920FEFAC}"/>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
        <p:nvSpPr>
          <p:cNvPr id="7" name="TextBox 6">
            <a:extLst>
              <a:ext uri="{FF2B5EF4-FFF2-40B4-BE49-F238E27FC236}">
                <a16:creationId xmlns:a16="http://schemas.microsoft.com/office/drawing/2014/main" id="{53B4BC62-442D-D07F-D062-B23F459AF590}"/>
              </a:ext>
            </a:extLst>
          </p:cNvPr>
          <p:cNvSpPr txBox="1"/>
          <p:nvPr userDrawn="1"/>
        </p:nvSpPr>
        <p:spPr>
          <a:xfrm>
            <a:off x="584200" y="2841172"/>
            <a:ext cx="3790950" cy="1495794"/>
          </a:xfrm>
          <a:prstGeom prst="rect">
            <a:avLst/>
          </a:prstGeom>
          <a:noFill/>
        </p:spPr>
        <p:txBody>
          <a:bodyPr wrap="square" lIns="0" tIns="0" rIns="0" bIns="0" rtlCol="0">
            <a:spAutoFit/>
          </a:bodyPr>
          <a:lstStyle/>
          <a:p>
            <a:pPr algn="l">
              <a:lnSpc>
                <a:spcPct val="90000"/>
              </a:lnSpc>
            </a:pPr>
            <a:r>
              <a:rPr lang="en-US" sz="5400" b="0">
                <a:solidFill>
                  <a:schemeClr val="bg1"/>
                </a:solidFill>
                <a:latin typeface="+mj-lt"/>
              </a:rPr>
              <a:t>Microsoft Azure</a:t>
            </a:r>
          </a:p>
        </p:txBody>
      </p:sp>
    </p:spTree>
    <p:extLst>
      <p:ext uri="{BB962C8B-B14F-4D97-AF65-F5344CB8AC3E}">
        <p14:creationId xmlns:p14="http://schemas.microsoft.com/office/powerpoint/2010/main" val="3160128056"/>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Walkin">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userDrawn="1"/>
        </p:nvSpPr>
        <p:spPr>
          <a:xfrm>
            <a:off x="584200" y="2841172"/>
            <a:ext cx="3790950" cy="1495794"/>
          </a:xfrm>
          <a:prstGeom prst="rect">
            <a:avLst/>
          </a:prstGeom>
          <a:noFill/>
        </p:spPr>
        <p:txBody>
          <a:bodyPr wrap="square" lIns="0" tIns="0" rIns="0" bIns="0" rtlCol="0">
            <a:spAutoFit/>
          </a:bodyPr>
          <a:lstStyle/>
          <a:p>
            <a:pPr algn="l">
              <a:lnSpc>
                <a:spcPct val="90000"/>
              </a:lnSpc>
            </a:pPr>
            <a:r>
              <a:rPr lang="en-US" sz="5400" b="0">
                <a:solidFill>
                  <a:schemeClr val="tx1"/>
                </a:solidFill>
                <a:latin typeface="+mj-lt"/>
              </a:rPr>
              <a:t>Microsoft Azure</a:t>
            </a:r>
          </a:p>
        </p:txBody>
      </p:sp>
      <p:pic>
        <p:nvPicPr>
          <p:cNvPr id="5" name="MS logo gray - EMF" descr="Microsoft logo, gray text version">
            <a:extLst>
              <a:ext uri="{FF2B5EF4-FFF2-40B4-BE49-F238E27FC236}">
                <a16:creationId xmlns:a16="http://schemas.microsoft.com/office/drawing/2014/main" id="{8672AF12-6140-9E72-C268-A8ED4080CADC}"/>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856181953"/>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7212970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31776656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4" name="MS logo white - EMF" descr="Microsoft logo white text version">
            <a:extLst>
              <a:ext uri="{FF2B5EF4-FFF2-40B4-BE49-F238E27FC236}">
                <a16:creationId xmlns:a16="http://schemas.microsoft.com/office/drawing/2014/main" id="{0BB37EE3-73AC-5546-F43B-FE5420C7D02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79493109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4" name="MS logo white - EMF" descr="Microsoft logo white text version">
            <a:extLst>
              <a:ext uri="{FF2B5EF4-FFF2-40B4-BE49-F238E27FC236}">
                <a16:creationId xmlns:a16="http://schemas.microsoft.com/office/drawing/2014/main" id="{0BB37EE3-73AC-5546-F43B-FE5420C7D02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53174440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gray - EMF" descr="Microsoft logo, gray text version">
            <a:extLst>
              <a:ext uri="{FF2B5EF4-FFF2-40B4-BE49-F238E27FC236}">
                <a16:creationId xmlns:a16="http://schemas.microsoft.com/office/drawing/2014/main" id="{BBFAAA10-F521-410E-1BB5-6D77902DD0C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52964658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gray - EMF" descr="Microsoft logo, gray text version">
            <a:extLst>
              <a:ext uri="{FF2B5EF4-FFF2-40B4-BE49-F238E27FC236}">
                <a16:creationId xmlns:a16="http://schemas.microsoft.com/office/drawing/2014/main" id="{BBFAAA10-F521-410E-1BB5-6D77902DD0C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4467733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Slide 3">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6618228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Slide 3">
    <p:bg>
      <p:bgPr>
        <a:blipFill dpi="0" rotWithShape="1">
          <a:blip r:embed="rId2">
            <a:lum/>
          </a:blip>
          <a:srcRect/>
          <a:stretch>
            <a:fillRect l="-3000" r="-3000"/>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7544242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lank titl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2"/>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3B0D12AE-ADCF-1091-117F-BB03F7EC506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6391589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8CE50-46CE-0973-AC08-7477BEAD00F3}"/>
              </a:ext>
            </a:extLst>
          </p:cNvPr>
          <p:cNvSpPr>
            <a:spLocks noGrp="1"/>
          </p:cNvSpPr>
          <p:nvPr>
            <p:ph type="title"/>
          </p:nvPr>
        </p:nvSpPr>
        <p:spPr/>
        <p:txBody>
          <a:bodyPr/>
          <a:lstStyle/>
          <a:p>
            <a:r>
              <a:rPr lang="en-US"/>
              <a:t>Click to edit Master title style</a:t>
            </a:r>
          </a:p>
        </p:txBody>
      </p:sp>
      <p:sp>
        <p:nvSpPr>
          <p:cNvPr id="3" name="Text Placeholder 11">
            <a:extLst>
              <a:ext uri="{FF2B5EF4-FFF2-40B4-BE49-F238E27FC236}">
                <a16:creationId xmlns:a16="http://schemas.microsoft.com/office/drawing/2014/main" id="{03424D10-01E7-37F9-6091-2C95487D9F73}"/>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4" name="Text Placeholder 7">
            <a:extLst>
              <a:ext uri="{FF2B5EF4-FFF2-40B4-BE49-F238E27FC236}">
                <a16:creationId xmlns:a16="http://schemas.microsoft.com/office/drawing/2014/main" id="{FDFE8ED1-0EC9-B339-1813-0B4260A0A2DA}"/>
              </a:ext>
            </a:extLst>
          </p:cNvPr>
          <p:cNvSpPr>
            <a:spLocks noGrp="1"/>
          </p:cNvSpPr>
          <p:nvPr>
            <p:ph type="body" sz="quarter" idx="14"/>
          </p:nvPr>
        </p:nvSpPr>
        <p:spPr>
          <a:xfrm>
            <a:off x="584200" y="228311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5" name="Text Placeholder 11">
            <a:extLst>
              <a:ext uri="{FF2B5EF4-FFF2-40B4-BE49-F238E27FC236}">
                <a16:creationId xmlns:a16="http://schemas.microsoft.com/office/drawing/2014/main" id="{823006D8-810A-DCBB-7E79-17F6322E2FFC}"/>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6" name="Text Placeholder 9">
            <a:extLst>
              <a:ext uri="{FF2B5EF4-FFF2-40B4-BE49-F238E27FC236}">
                <a16:creationId xmlns:a16="http://schemas.microsoft.com/office/drawing/2014/main" id="{ADAAB847-57CB-2458-2ADA-6D7770794074}"/>
              </a:ext>
            </a:extLst>
          </p:cNvPr>
          <p:cNvSpPr>
            <a:spLocks noGrp="1"/>
          </p:cNvSpPr>
          <p:nvPr>
            <p:ph type="body" sz="quarter" idx="15"/>
          </p:nvPr>
        </p:nvSpPr>
        <p:spPr>
          <a:xfrm>
            <a:off x="3413125" y="227647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7" name="Text Placeholder 11">
            <a:extLst>
              <a:ext uri="{FF2B5EF4-FFF2-40B4-BE49-F238E27FC236}">
                <a16:creationId xmlns:a16="http://schemas.microsoft.com/office/drawing/2014/main" id="{6B655A31-FF73-73EA-1EA8-00F13891AB94}"/>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E819634A-80BB-C620-3C16-1EA80A7B1C18}"/>
              </a:ext>
            </a:extLst>
          </p:cNvPr>
          <p:cNvSpPr>
            <a:spLocks noGrp="1"/>
          </p:cNvSpPr>
          <p:nvPr>
            <p:ph type="body" sz="quarter" idx="19"/>
          </p:nvPr>
        </p:nvSpPr>
        <p:spPr>
          <a:xfrm>
            <a:off x="6244208" y="228311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9" name="Text Placeholder 11">
            <a:extLst>
              <a:ext uri="{FF2B5EF4-FFF2-40B4-BE49-F238E27FC236}">
                <a16:creationId xmlns:a16="http://schemas.microsoft.com/office/drawing/2014/main" id="{05E7CC6D-40F5-C58C-FC44-793B1A98AC5D}"/>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E6B93ED5-5CA7-C983-373E-E42D7424C7CB}"/>
              </a:ext>
            </a:extLst>
          </p:cNvPr>
          <p:cNvSpPr>
            <a:spLocks noGrp="1"/>
          </p:cNvSpPr>
          <p:nvPr>
            <p:ph type="body" sz="quarter" idx="21"/>
          </p:nvPr>
        </p:nvSpPr>
        <p:spPr>
          <a:xfrm>
            <a:off x="9073133" y="2276475"/>
            <a:ext cx="2532063" cy="1600438"/>
          </a:xfrm>
        </p:spPr>
        <p:txBody>
          <a:bodyPr vert="horz" wrap="square" lIns="0" tIns="0" rIns="0" bIns="0" rtlCol="0">
            <a:spAutoFit/>
          </a:bodyPr>
          <a:lstStyle>
            <a:lvl1pPr>
              <a:defRPr lang="en-US" sz="1600"/>
            </a:lvl1pPr>
            <a:lvl2pPr>
              <a:defRPr lang="en-US" sz="1600"/>
            </a:lvl2pPr>
            <a:lvl3pPr>
              <a:defRPr lang="en-US" sz="1600"/>
            </a:lvl3pPr>
            <a:lvl4pPr>
              <a:defRPr lang="en-US" sz="140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Tree>
    <p:extLst>
      <p:ext uri="{BB962C8B-B14F-4D97-AF65-F5344CB8AC3E}">
        <p14:creationId xmlns:p14="http://schemas.microsoft.com/office/powerpoint/2010/main" val="636147694"/>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924774464"/>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35047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59628796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23156916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18" Type="http://schemas.openxmlformats.org/officeDocument/2006/relationships/image" Target="../media/image1.sv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blackWhite">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167614775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2"/>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8.png"/><Relationship Id="rId4" Type="http://schemas.openxmlformats.org/officeDocument/2006/relationships/image" Target="../media/image17.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9.xml"/><Relationship Id="rId1" Type="http://schemas.openxmlformats.org/officeDocument/2006/relationships/slideLayout" Target="../slideLayouts/slideLayout28.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linkedin.com/in/meetshamir"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hyperlink" Target="https://aka.ms/sreagent/links" TargetMode="External"/><Relationship Id="rId5" Type="http://schemas.openxmlformats.org/officeDocument/2006/relationships/image" Target="../media/image22.jpe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hyperlink" Target="https://aka.ms/sreagent"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22A50"/>
            </a:gs>
          </a:gsLst>
          <a:lin scaled="0"/>
        </a:gra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0" y="109728"/>
            <a:ext cx="4572000" cy="457200"/>
          </a:xfrm>
          <a:prstGeom prst="rect">
            <a:avLst/>
          </a:prstGeom>
          <a:noFill/>
        </p:spPr>
        <p:txBody>
          <a:bodyPr wrap="square">
            <a:spAutoFit/>
          </a:bodyPr>
          <a:lstStyle/>
          <a:p>
            <a:pPr algn="r">
              <a:defRPr sz="1800" b="1">
                <a:solidFill>
                  <a:srgbClr val="FFFFFF"/>
                </a:solidFill>
                <a:latin typeface="Segoe UI"/>
              </a:defRPr>
            </a:pPr>
            <a:r>
              <a:rPr dirty="0"/>
              <a:t>Microsoft  |  Azure SRE Agent</a:t>
            </a:r>
          </a:p>
        </p:txBody>
      </p:sp>
      <p:sp>
        <p:nvSpPr>
          <p:cNvPr id="5" name="TextBox 4"/>
          <p:cNvSpPr txBox="1"/>
          <p:nvPr/>
        </p:nvSpPr>
        <p:spPr>
          <a:xfrm>
            <a:off x="417443" y="178308"/>
            <a:ext cx="10972800" cy="320040"/>
          </a:xfrm>
          <a:prstGeom prst="rect">
            <a:avLst/>
          </a:prstGeom>
          <a:noFill/>
        </p:spPr>
        <p:txBody>
          <a:bodyPr wrap="square">
            <a:spAutoFit/>
          </a:bodyPr>
          <a:lstStyle/>
          <a:p>
            <a:pPr algn="l">
              <a:defRPr sz="1200" b="0">
                <a:solidFill>
                  <a:srgbClr val="B0D0F0"/>
                </a:solidFill>
                <a:latin typeface="Segoe UI"/>
              </a:defRPr>
            </a:pPr>
            <a:r>
              <a:rPr dirty="0"/>
              <a:t>AI at Scale: Turning Insight into Enterprise Advantage</a:t>
            </a:r>
          </a:p>
        </p:txBody>
      </p:sp>
      <p:sp>
        <p:nvSpPr>
          <p:cNvPr id="6" name="TextBox 5"/>
          <p:cNvSpPr txBox="1"/>
          <p:nvPr/>
        </p:nvSpPr>
        <p:spPr>
          <a:xfrm>
            <a:off x="2831031" y="1880257"/>
            <a:ext cx="10058400" cy="1446550"/>
          </a:xfrm>
          <a:prstGeom prst="rect">
            <a:avLst/>
          </a:prstGeom>
          <a:noFill/>
        </p:spPr>
        <p:txBody>
          <a:bodyPr wrap="square">
            <a:spAutoFit/>
          </a:bodyPr>
          <a:lstStyle/>
          <a:p>
            <a:pPr algn="l">
              <a:defRPr sz="4400" b="1">
                <a:solidFill>
                  <a:srgbClr val="FFFFFF"/>
                </a:solidFill>
                <a:latin typeface="Segoe UI Semibold"/>
              </a:defRPr>
            </a:pPr>
            <a:r>
              <a:rPr lang="en-US"/>
              <a:t>Agentic Operations with </a:t>
            </a:r>
          </a:p>
          <a:p>
            <a:pPr algn="l">
              <a:defRPr sz="4400" b="1">
                <a:solidFill>
                  <a:srgbClr val="FFFFFF"/>
                </a:solidFill>
                <a:latin typeface="Segoe UI Semibold"/>
              </a:defRPr>
            </a:pPr>
            <a:r>
              <a:rPr lang="en-US"/>
              <a:t>Azure SRE Agent</a:t>
            </a:r>
            <a:endParaRPr/>
          </a:p>
        </p:txBody>
      </p:sp>
      <p:sp>
        <p:nvSpPr>
          <p:cNvPr id="8" name="TextBox 7"/>
          <p:cNvSpPr txBox="1"/>
          <p:nvPr/>
        </p:nvSpPr>
        <p:spPr>
          <a:xfrm>
            <a:off x="1838077" y="4800929"/>
            <a:ext cx="4572000" cy="430887"/>
          </a:xfrm>
          <a:prstGeom prst="rect">
            <a:avLst/>
          </a:prstGeom>
          <a:noFill/>
        </p:spPr>
        <p:txBody>
          <a:bodyPr wrap="square">
            <a:spAutoFit/>
          </a:bodyPr>
          <a:lstStyle/>
          <a:p>
            <a:pPr algn="l">
              <a:defRPr sz="2200" b="1">
                <a:solidFill>
                  <a:srgbClr val="FFFFFF"/>
                </a:solidFill>
                <a:latin typeface="Segoe UI"/>
              </a:defRPr>
            </a:pPr>
            <a:r>
              <a:rPr lang="en-US" dirty="0"/>
              <a:t>&lt;Your-Name&gt;</a:t>
            </a:r>
            <a:endParaRPr dirty="0"/>
          </a:p>
        </p:txBody>
      </p:sp>
      <p:sp>
        <p:nvSpPr>
          <p:cNvPr id="9" name="TextBox 8"/>
          <p:cNvSpPr txBox="1"/>
          <p:nvPr/>
        </p:nvSpPr>
        <p:spPr>
          <a:xfrm>
            <a:off x="1838077" y="5166689"/>
            <a:ext cx="4572000" cy="553998"/>
          </a:xfrm>
          <a:prstGeom prst="rect">
            <a:avLst/>
          </a:prstGeom>
          <a:noFill/>
        </p:spPr>
        <p:txBody>
          <a:bodyPr wrap="square">
            <a:spAutoFit/>
          </a:bodyPr>
          <a:lstStyle/>
          <a:p>
            <a:pPr algn="l">
              <a:defRPr sz="1500" b="0">
                <a:solidFill>
                  <a:srgbClr val="B0D0F0"/>
                </a:solidFill>
                <a:latin typeface="Segoe UI"/>
              </a:defRPr>
            </a:pPr>
            <a:r>
              <a:rPr lang="en-US" dirty="0"/>
              <a:t>&lt;Your-Designation&gt;</a:t>
            </a:r>
          </a:p>
          <a:p>
            <a:pPr algn="l">
              <a:defRPr sz="1500" b="0">
                <a:solidFill>
                  <a:srgbClr val="B0D0F0"/>
                </a:solidFill>
                <a:latin typeface="Segoe UI"/>
              </a:defRPr>
            </a:pPr>
            <a:r>
              <a:rPr dirty="0"/>
              <a:t>Microsoft</a:t>
            </a:r>
          </a:p>
        </p:txBody>
      </p:sp>
      <p:sp>
        <p:nvSpPr>
          <p:cNvPr id="13" name="Rectangle 12"/>
          <p:cNvSpPr/>
          <p:nvPr/>
        </p:nvSpPr>
        <p:spPr>
          <a:xfrm>
            <a:off x="731520" y="4480560"/>
            <a:ext cx="36576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Graphic 9">
            <a:extLst>
              <a:ext uri="{FF2B5EF4-FFF2-40B4-BE49-F238E27FC236}">
                <a16:creationId xmlns:a16="http://schemas.microsoft.com/office/drawing/2014/main" id="{9B354483-F22A-E69E-6367-86719A83A6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3347" y="1778065"/>
            <a:ext cx="1650935" cy="1650935"/>
          </a:xfrm>
          <a:prstGeom prst="rect">
            <a:avLst/>
          </a:prstGeom>
        </p:spPr>
      </p:pic>
      <p:pic>
        <p:nvPicPr>
          <p:cNvPr id="7" name="Picture 6">
            <a:extLst>
              <a:ext uri="{FF2B5EF4-FFF2-40B4-BE49-F238E27FC236}">
                <a16:creationId xmlns:a16="http://schemas.microsoft.com/office/drawing/2014/main" id="{92CFB662-6874-4DED-935D-6E370F003322}"/>
              </a:ext>
            </a:extLst>
          </p:cNvPr>
          <p:cNvPicPr>
            <a:picLocks noChangeAspect="1"/>
          </p:cNvPicPr>
          <p:nvPr/>
        </p:nvPicPr>
        <p:blipFill>
          <a:blip r:embed="rId4"/>
          <a:stretch>
            <a:fillRect/>
          </a:stretch>
        </p:blipFill>
        <p:spPr>
          <a:xfrm>
            <a:off x="731520" y="4788741"/>
            <a:ext cx="931946" cy="93194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52D55"/>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828800" cy="365760"/>
          </a:xfrm>
          <a:prstGeom prst="rect">
            <a:avLst/>
          </a:prstGeom>
          <a:noFill/>
        </p:spPr>
        <p:txBody>
          <a:bodyPr wrap="square">
            <a:spAutoFit/>
          </a:bodyPr>
          <a:lstStyle/>
          <a:p>
            <a:pPr algn="l">
              <a:defRPr sz="1400" b="1">
                <a:solidFill>
                  <a:srgbClr val="00B7C3"/>
                </a:solidFill>
                <a:latin typeface="Segoe UI"/>
              </a:defRPr>
            </a:pPr>
            <a:r>
              <a:t>SECTION 01</a:t>
            </a:r>
          </a:p>
        </p:txBody>
      </p:sp>
      <p:sp>
        <p:nvSpPr>
          <p:cNvPr id="3" name="TextBox 2"/>
          <p:cNvSpPr txBox="1"/>
          <p:nvPr/>
        </p:nvSpPr>
        <p:spPr>
          <a:xfrm>
            <a:off x="731520" y="2286000"/>
            <a:ext cx="9144000" cy="914400"/>
          </a:xfrm>
          <a:prstGeom prst="rect">
            <a:avLst/>
          </a:prstGeom>
          <a:noFill/>
        </p:spPr>
        <p:txBody>
          <a:bodyPr wrap="square">
            <a:spAutoFit/>
          </a:bodyPr>
          <a:lstStyle/>
          <a:p>
            <a:pPr algn="l">
              <a:defRPr sz="5200" b="1">
                <a:solidFill>
                  <a:srgbClr val="FFFFFF"/>
                </a:solidFill>
                <a:latin typeface="Segoe UI Semibold"/>
              </a:defRPr>
            </a:pPr>
            <a:r>
              <a:t>The Problem</a:t>
            </a:r>
          </a:p>
        </p:txBody>
      </p:sp>
      <p:sp>
        <p:nvSpPr>
          <p:cNvPr id="4" name="TextBox 3"/>
          <p:cNvSpPr txBox="1"/>
          <p:nvPr/>
        </p:nvSpPr>
        <p:spPr>
          <a:xfrm>
            <a:off x="731519" y="3474720"/>
            <a:ext cx="8770290" cy="1107996"/>
          </a:xfrm>
          <a:prstGeom prst="rect">
            <a:avLst/>
          </a:prstGeom>
          <a:noFill/>
        </p:spPr>
        <p:txBody>
          <a:bodyPr wrap="square">
            <a:spAutoFit/>
          </a:bodyPr>
          <a:lstStyle/>
          <a:p>
            <a:pPr algn="l">
              <a:defRPr sz="2200" b="0">
                <a:solidFill>
                  <a:srgbClr val="B0D0F0"/>
                </a:solidFill>
                <a:latin typeface="Segoe UI"/>
              </a:defRPr>
            </a:pPr>
            <a:r>
              <a:rPr lang="en-US"/>
              <a:t>O</a:t>
            </a:r>
            <a:r>
              <a:t>perations at scale is a human bottleneck.</a:t>
            </a:r>
            <a:br>
              <a:rPr/>
            </a:br>
            <a:r>
              <a:t>More services, more alerts, </a:t>
            </a:r>
            <a:r>
              <a:rPr lang="en-US"/>
              <a:t>more tickets, </a:t>
            </a:r>
            <a:r>
              <a:t>more toil — and never enough engineers.</a:t>
            </a:r>
          </a:p>
        </p:txBody>
      </p:sp>
      <p:sp>
        <p:nvSpPr>
          <p:cNvPr id="5" name="Rectangle 4"/>
          <p:cNvSpPr/>
          <p:nvPr/>
        </p:nvSpPr>
        <p:spPr>
          <a:xfrm>
            <a:off x="731520" y="2103120"/>
            <a:ext cx="274320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200" b="1">
                <a:solidFill>
                  <a:srgbClr val="0B1D3A"/>
                </a:solidFill>
                <a:latin typeface="Segoe UI Semibold"/>
              </a:defRPr>
            </a:pPr>
            <a:r>
              <a:t>The Toil Problem at Microsoft Scale</a:t>
            </a:r>
          </a:p>
        </p:txBody>
      </p:sp>
      <p:sp>
        <p:nvSpPr>
          <p:cNvPr id="3" name="Rectangle 2"/>
          <p:cNvSpPr/>
          <p:nvPr/>
        </p:nvSpPr>
        <p:spPr>
          <a:xfrm>
            <a:off x="731520" y="109728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31520" y="1645920"/>
            <a:ext cx="2560320" cy="20116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783080"/>
            <a:ext cx="2194560" cy="640080"/>
          </a:xfrm>
          <a:prstGeom prst="rect">
            <a:avLst/>
          </a:prstGeom>
          <a:noFill/>
        </p:spPr>
        <p:txBody>
          <a:bodyPr wrap="square">
            <a:spAutoFit/>
          </a:bodyPr>
          <a:lstStyle/>
          <a:p>
            <a:pPr algn="ctr">
              <a:defRPr sz="4000" b="1">
                <a:solidFill>
                  <a:srgbClr val="0078D4"/>
                </a:solidFill>
                <a:latin typeface="Segoe UI"/>
              </a:defRPr>
            </a:pPr>
            <a:r>
              <a:t>200+</a:t>
            </a:r>
          </a:p>
        </p:txBody>
      </p:sp>
      <p:sp>
        <p:nvSpPr>
          <p:cNvPr id="6" name="TextBox 5"/>
          <p:cNvSpPr txBox="1"/>
          <p:nvPr/>
        </p:nvSpPr>
        <p:spPr>
          <a:xfrm>
            <a:off x="914400" y="2423160"/>
            <a:ext cx="2194560" cy="320040"/>
          </a:xfrm>
          <a:prstGeom prst="rect">
            <a:avLst/>
          </a:prstGeom>
          <a:noFill/>
        </p:spPr>
        <p:txBody>
          <a:bodyPr wrap="square">
            <a:spAutoFit/>
          </a:bodyPr>
          <a:lstStyle/>
          <a:p>
            <a:pPr algn="ctr">
              <a:defRPr sz="1600" b="1">
                <a:solidFill>
                  <a:srgbClr val="0B1D3A"/>
                </a:solidFill>
                <a:latin typeface="Segoe UI"/>
              </a:defRPr>
            </a:pPr>
            <a:r>
              <a:t>Azure services</a:t>
            </a:r>
          </a:p>
        </p:txBody>
      </p:sp>
      <p:sp>
        <p:nvSpPr>
          <p:cNvPr id="7" name="TextBox 6"/>
          <p:cNvSpPr txBox="1"/>
          <p:nvPr/>
        </p:nvSpPr>
        <p:spPr>
          <a:xfrm>
            <a:off x="914400" y="2788920"/>
            <a:ext cx="2194560" cy="640080"/>
          </a:xfrm>
          <a:prstGeom prst="rect">
            <a:avLst/>
          </a:prstGeom>
          <a:noFill/>
        </p:spPr>
        <p:txBody>
          <a:bodyPr wrap="square">
            <a:spAutoFit/>
          </a:bodyPr>
          <a:lstStyle/>
          <a:p>
            <a:pPr algn="ctr">
              <a:defRPr sz="1100" b="0">
                <a:solidFill>
                  <a:srgbClr val="9E9E9E"/>
                </a:solidFill>
                <a:latin typeface="Segoe UI"/>
              </a:defRPr>
            </a:pPr>
            <a:r>
              <a:t>Each with unique failure modes,</a:t>
            </a:r>
            <a:br/>
            <a:r>
              <a:t>runbooks, and on-call teams</a:t>
            </a:r>
          </a:p>
        </p:txBody>
      </p:sp>
      <p:sp>
        <p:nvSpPr>
          <p:cNvPr id="8" name="Rounded Rectangle 7"/>
          <p:cNvSpPr/>
          <p:nvPr/>
        </p:nvSpPr>
        <p:spPr>
          <a:xfrm>
            <a:off x="3566160" y="1645920"/>
            <a:ext cx="2560320" cy="20116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749040" y="1783080"/>
            <a:ext cx="2194560" cy="640080"/>
          </a:xfrm>
          <a:prstGeom prst="rect">
            <a:avLst/>
          </a:prstGeom>
          <a:noFill/>
        </p:spPr>
        <p:txBody>
          <a:bodyPr wrap="square">
            <a:spAutoFit/>
          </a:bodyPr>
          <a:lstStyle/>
          <a:p>
            <a:pPr algn="ctr">
              <a:defRPr sz="4000" b="1">
                <a:solidFill>
                  <a:srgbClr val="0078D4"/>
                </a:solidFill>
                <a:latin typeface="Segoe UI"/>
              </a:defRPr>
            </a:pPr>
            <a:r>
              <a:t>24/7</a:t>
            </a:r>
          </a:p>
        </p:txBody>
      </p:sp>
      <p:sp>
        <p:nvSpPr>
          <p:cNvPr id="10" name="TextBox 9"/>
          <p:cNvSpPr txBox="1"/>
          <p:nvPr/>
        </p:nvSpPr>
        <p:spPr>
          <a:xfrm>
            <a:off x="3749040" y="2423160"/>
            <a:ext cx="2194560" cy="320040"/>
          </a:xfrm>
          <a:prstGeom prst="rect">
            <a:avLst/>
          </a:prstGeom>
          <a:noFill/>
        </p:spPr>
        <p:txBody>
          <a:bodyPr wrap="square">
            <a:spAutoFit/>
          </a:bodyPr>
          <a:lstStyle/>
          <a:p>
            <a:pPr algn="ctr">
              <a:defRPr sz="1600" b="1">
                <a:solidFill>
                  <a:srgbClr val="0B1D3A"/>
                </a:solidFill>
                <a:latin typeface="Segoe UI"/>
              </a:defRPr>
            </a:pPr>
            <a:r>
              <a:t>On-call rotations</a:t>
            </a:r>
          </a:p>
        </p:txBody>
      </p:sp>
      <p:sp>
        <p:nvSpPr>
          <p:cNvPr id="11" name="TextBox 10"/>
          <p:cNvSpPr txBox="1"/>
          <p:nvPr/>
        </p:nvSpPr>
        <p:spPr>
          <a:xfrm>
            <a:off x="3672839" y="2788919"/>
            <a:ext cx="2346961" cy="430887"/>
          </a:xfrm>
          <a:prstGeom prst="rect">
            <a:avLst/>
          </a:prstGeom>
          <a:noFill/>
        </p:spPr>
        <p:txBody>
          <a:bodyPr wrap="square">
            <a:spAutoFit/>
          </a:bodyPr>
          <a:lstStyle/>
          <a:p>
            <a:pPr algn="ctr">
              <a:defRPr sz="1100" b="0">
                <a:solidFill>
                  <a:srgbClr val="9E9E9E"/>
                </a:solidFill>
                <a:latin typeface="Segoe UI"/>
              </a:defRPr>
            </a:pPr>
            <a:r>
              <a:t>Engineers paged at 3am for issues</a:t>
            </a:r>
            <a:br>
              <a:rPr/>
            </a:br>
            <a:r>
              <a:t>that follow the same pattern</a:t>
            </a:r>
          </a:p>
        </p:txBody>
      </p:sp>
      <p:sp>
        <p:nvSpPr>
          <p:cNvPr id="12" name="Rounded Rectangle 11"/>
          <p:cNvSpPr/>
          <p:nvPr/>
        </p:nvSpPr>
        <p:spPr>
          <a:xfrm>
            <a:off x="6400800" y="1645920"/>
            <a:ext cx="2560320" cy="20116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83680" y="1783080"/>
            <a:ext cx="2194560" cy="640080"/>
          </a:xfrm>
          <a:prstGeom prst="rect">
            <a:avLst/>
          </a:prstGeom>
          <a:noFill/>
        </p:spPr>
        <p:txBody>
          <a:bodyPr wrap="square">
            <a:spAutoFit/>
          </a:bodyPr>
          <a:lstStyle/>
          <a:p>
            <a:pPr algn="ctr">
              <a:defRPr sz="4000" b="1">
                <a:solidFill>
                  <a:srgbClr val="0078D4"/>
                </a:solidFill>
                <a:latin typeface="Segoe UI"/>
              </a:defRPr>
            </a:pPr>
            <a:r>
              <a:t>80%</a:t>
            </a:r>
          </a:p>
        </p:txBody>
      </p:sp>
      <p:sp>
        <p:nvSpPr>
          <p:cNvPr id="14" name="TextBox 13"/>
          <p:cNvSpPr txBox="1"/>
          <p:nvPr/>
        </p:nvSpPr>
        <p:spPr>
          <a:xfrm>
            <a:off x="6400800" y="2423160"/>
            <a:ext cx="2560320" cy="338554"/>
          </a:xfrm>
          <a:prstGeom prst="rect">
            <a:avLst/>
          </a:prstGeom>
          <a:noFill/>
        </p:spPr>
        <p:txBody>
          <a:bodyPr wrap="square">
            <a:spAutoFit/>
          </a:bodyPr>
          <a:lstStyle/>
          <a:p>
            <a:pPr algn="ctr">
              <a:defRPr sz="1600" b="1">
                <a:solidFill>
                  <a:srgbClr val="0B1D3A"/>
                </a:solidFill>
                <a:latin typeface="Segoe UI"/>
              </a:defRPr>
            </a:pPr>
            <a:r>
              <a:t>Repetitive investigations</a:t>
            </a:r>
          </a:p>
        </p:txBody>
      </p:sp>
      <p:sp>
        <p:nvSpPr>
          <p:cNvPr id="15" name="TextBox 14"/>
          <p:cNvSpPr txBox="1"/>
          <p:nvPr/>
        </p:nvSpPr>
        <p:spPr>
          <a:xfrm>
            <a:off x="6583680" y="2788920"/>
            <a:ext cx="2275398" cy="430887"/>
          </a:xfrm>
          <a:prstGeom prst="rect">
            <a:avLst/>
          </a:prstGeom>
          <a:noFill/>
        </p:spPr>
        <p:txBody>
          <a:bodyPr wrap="square">
            <a:spAutoFit/>
          </a:bodyPr>
          <a:lstStyle/>
          <a:p>
            <a:pPr algn="ctr">
              <a:defRPr sz="1100" b="0">
                <a:solidFill>
                  <a:srgbClr val="9E9E9E"/>
                </a:solidFill>
                <a:latin typeface="Segoe UI"/>
              </a:defRPr>
            </a:pPr>
            <a:r>
              <a:t>Same diagnostic steps, same KQL</a:t>
            </a:r>
            <a:br>
              <a:rPr/>
            </a:br>
            <a:r>
              <a:t>queries, same mitigation actions</a:t>
            </a:r>
          </a:p>
        </p:txBody>
      </p:sp>
      <p:sp>
        <p:nvSpPr>
          <p:cNvPr id="16" name="Rounded Rectangle 15"/>
          <p:cNvSpPr/>
          <p:nvPr/>
        </p:nvSpPr>
        <p:spPr>
          <a:xfrm>
            <a:off x="9235440" y="1645920"/>
            <a:ext cx="2560320" cy="20116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418320" y="1783080"/>
            <a:ext cx="2194560" cy="707886"/>
          </a:xfrm>
          <a:prstGeom prst="rect">
            <a:avLst/>
          </a:prstGeom>
          <a:noFill/>
        </p:spPr>
        <p:txBody>
          <a:bodyPr wrap="square">
            <a:spAutoFit/>
          </a:bodyPr>
          <a:lstStyle/>
          <a:p>
            <a:pPr algn="ctr">
              <a:defRPr sz="4000" b="1">
                <a:solidFill>
                  <a:srgbClr val="0078D4"/>
                </a:solidFill>
                <a:latin typeface="Segoe UI"/>
              </a:defRPr>
            </a:pPr>
            <a:r>
              <a:rPr lang="en-US"/>
              <a:t>Days</a:t>
            </a:r>
            <a:endParaRPr/>
          </a:p>
        </p:txBody>
      </p:sp>
      <p:sp>
        <p:nvSpPr>
          <p:cNvPr id="18" name="TextBox 17"/>
          <p:cNvSpPr txBox="1"/>
          <p:nvPr/>
        </p:nvSpPr>
        <p:spPr>
          <a:xfrm>
            <a:off x="9418320" y="2423160"/>
            <a:ext cx="2329732" cy="338554"/>
          </a:xfrm>
          <a:prstGeom prst="rect">
            <a:avLst/>
          </a:prstGeom>
          <a:noFill/>
        </p:spPr>
        <p:txBody>
          <a:bodyPr wrap="square">
            <a:spAutoFit/>
          </a:bodyPr>
          <a:lstStyle/>
          <a:p>
            <a:pPr algn="ctr">
              <a:defRPr sz="1600" b="1">
                <a:solidFill>
                  <a:srgbClr val="0B1D3A"/>
                </a:solidFill>
                <a:latin typeface="Segoe UI"/>
              </a:defRPr>
            </a:pPr>
            <a:r>
              <a:t>Mean time to mitigate</a:t>
            </a:r>
          </a:p>
        </p:txBody>
      </p:sp>
      <p:sp>
        <p:nvSpPr>
          <p:cNvPr id="19" name="TextBox 18"/>
          <p:cNvSpPr txBox="1"/>
          <p:nvPr/>
        </p:nvSpPr>
        <p:spPr>
          <a:xfrm>
            <a:off x="9418320" y="2788920"/>
            <a:ext cx="2194560" cy="640080"/>
          </a:xfrm>
          <a:prstGeom prst="rect">
            <a:avLst/>
          </a:prstGeom>
          <a:noFill/>
        </p:spPr>
        <p:txBody>
          <a:bodyPr wrap="square">
            <a:spAutoFit/>
          </a:bodyPr>
          <a:lstStyle/>
          <a:p>
            <a:pPr algn="ctr">
              <a:defRPr sz="1100" b="0">
                <a:solidFill>
                  <a:srgbClr val="9E9E9E"/>
                </a:solidFill>
                <a:latin typeface="Segoe UI"/>
              </a:defRPr>
            </a:pPr>
            <a:r>
              <a:t>Even when the fix is known,</a:t>
            </a:r>
            <a:br>
              <a:rPr/>
            </a:br>
            <a:r>
              <a:t>human latency dominates TTM</a:t>
            </a:r>
          </a:p>
        </p:txBody>
      </p:sp>
      <p:sp>
        <p:nvSpPr>
          <p:cNvPr id="20" name="Rounded Rectangle 19"/>
          <p:cNvSpPr/>
          <p:nvPr/>
        </p:nvSpPr>
        <p:spPr>
          <a:xfrm>
            <a:off x="731520" y="4114800"/>
            <a:ext cx="10698480" cy="1645920"/>
          </a:xfrm>
          <a:prstGeom prst="roundRect">
            <a:avLst/>
          </a:prstGeom>
          <a:solidFill>
            <a:srgbClr val="FDF0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97280" y="4297680"/>
            <a:ext cx="10058400" cy="1371600"/>
          </a:xfrm>
          <a:prstGeom prst="rect">
            <a:avLst/>
          </a:prstGeom>
          <a:noFill/>
        </p:spPr>
        <p:txBody>
          <a:bodyPr wrap="square">
            <a:spAutoFit/>
          </a:bodyPr>
          <a:lstStyle/>
          <a:p>
            <a:pPr>
              <a:defRPr sz="1800" b="1">
                <a:solidFill>
                  <a:srgbClr val="E86C00"/>
                </a:solidFill>
                <a:latin typeface="Segoe UI"/>
              </a:defRPr>
            </a:pPr>
            <a:r>
              <a:t>The Insight</a:t>
            </a:r>
          </a:p>
          <a:p>
            <a:pPr algn="l">
              <a:spcBef>
                <a:spcPts val="800"/>
              </a:spcBef>
              <a:spcAft>
                <a:spcPts val="200"/>
              </a:spcAft>
              <a:defRPr sz="1500" b="0">
                <a:solidFill>
                  <a:srgbClr val="0B1D3A"/>
                </a:solidFill>
                <a:latin typeface="Segoe UI"/>
              </a:defRPr>
            </a:pPr>
            <a:r>
              <a:t>Traditional automation (runbooks, scripts, playbooks) breaks every time the failure mode is slightly different.</a:t>
            </a:r>
          </a:p>
          <a:p>
            <a:pPr algn="l">
              <a:spcBef>
                <a:spcPts val="400"/>
              </a:spcBef>
              <a:spcAft>
                <a:spcPts val="200"/>
              </a:spcAft>
              <a:defRPr sz="1500" b="1">
                <a:solidFill>
                  <a:srgbClr val="0B1D3A"/>
                </a:solidFill>
                <a:latin typeface="Segoe UI"/>
              </a:defRPr>
            </a:pPr>
            <a:r>
              <a:t>What if we could give AI agents the same tools and reasoning an experienced SRE uses — but at machine speed?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52D55"/>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828800" cy="365760"/>
          </a:xfrm>
          <a:prstGeom prst="rect">
            <a:avLst/>
          </a:prstGeom>
          <a:noFill/>
        </p:spPr>
        <p:txBody>
          <a:bodyPr wrap="square">
            <a:spAutoFit/>
          </a:bodyPr>
          <a:lstStyle/>
          <a:p>
            <a:pPr algn="l">
              <a:defRPr sz="1400" b="1">
                <a:solidFill>
                  <a:srgbClr val="00B7C3"/>
                </a:solidFill>
                <a:latin typeface="Segoe UI"/>
              </a:defRPr>
            </a:pPr>
            <a:r>
              <a:t>SECTION 02</a:t>
            </a:r>
          </a:p>
        </p:txBody>
      </p:sp>
      <p:sp>
        <p:nvSpPr>
          <p:cNvPr id="3" name="TextBox 2"/>
          <p:cNvSpPr txBox="1"/>
          <p:nvPr/>
        </p:nvSpPr>
        <p:spPr>
          <a:xfrm>
            <a:off x="731520" y="2286000"/>
            <a:ext cx="9144000" cy="914400"/>
          </a:xfrm>
          <a:prstGeom prst="rect">
            <a:avLst/>
          </a:prstGeom>
          <a:noFill/>
        </p:spPr>
        <p:txBody>
          <a:bodyPr wrap="square">
            <a:spAutoFit/>
          </a:bodyPr>
          <a:lstStyle/>
          <a:p>
            <a:pPr algn="l">
              <a:defRPr sz="5200" b="1">
                <a:solidFill>
                  <a:srgbClr val="FFFFFF"/>
                </a:solidFill>
                <a:latin typeface="Segoe UI Semibold"/>
              </a:defRPr>
            </a:pPr>
            <a:r>
              <a:t>The Solution</a:t>
            </a:r>
          </a:p>
        </p:txBody>
      </p:sp>
      <p:sp>
        <p:nvSpPr>
          <p:cNvPr id="4" name="TextBox 3"/>
          <p:cNvSpPr txBox="1"/>
          <p:nvPr/>
        </p:nvSpPr>
        <p:spPr>
          <a:xfrm>
            <a:off x="731520" y="3474720"/>
            <a:ext cx="9048584" cy="1107996"/>
          </a:xfrm>
          <a:prstGeom prst="rect">
            <a:avLst/>
          </a:prstGeom>
          <a:noFill/>
        </p:spPr>
        <p:txBody>
          <a:bodyPr wrap="square">
            <a:spAutoFit/>
          </a:bodyPr>
          <a:lstStyle/>
          <a:p>
            <a:pPr>
              <a:defRPr sz="2200" b="0">
                <a:solidFill>
                  <a:srgbClr val="B0D0F0"/>
                </a:solidFill>
                <a:latin typeface="Segoe UI"/>
              </a:defRPr>
            </a:pPr>
            <a:r>
              <a:t>Azure SRE Agent — </a:t>
            </a:r>
            <a:r>
              <a:rPr lang="en-US" sz="2200">
                <a:solidFill>
                  <a:srgbClr val="B0D0F0"/>
                </a:solidFill>
                <a:latin typeface="Segoe UI"/>
              </a:rPr>
              <a:t>End to end agentic operations platform, reducing toil for any platform at scale</a:t>
            </a:r>
          </a:p>
          <a:p>
            <a:pPr algn="l">
              <a:defRPr sz="2200" b="0">
                <a:solidFill>
                  <a:srgbClr val="B0D0F0"/>
                </a:solidFill>
                <a:latin typeface="Segoe UI"/>
              </a:defRPr>
            </a:pPr>
            <a:endParaRPr/>
          </a:p>
        </p:txBody>
      </p:sp>
      <p:sp>
        <p:nvSpPr>
          <p:cNvPr id="5" name="Rectangle 4"/>
          <p:cNvSpPr/>
          <p:nvPr/>
        </p:nvSpPr>
        <p:spPr>
          <a:xfrm>
            <a:off x="731520" y="2103120"/>
            <a:ext cx="274320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000" b="1">
                <a:solidFill>
                  <a:srgbClr val="0B1D3A"/>
                </a:solidFill>
                <a:latin typeface="Segoe UI Semibold"/>
              </a:defRPr>
            </a:pPr>
            <a:r>
              <a:t>Azure SRE Agent — End-to-End Agentic Operations</a:t>
            </a:r>
          </a:p>
        </p:txBody>
      </p:sp>
      <p:sp>
        <p:nvSpPr>
          <p:cNvPr id="3" name="Rectangle 2"/>
          <p:cNvSpPr/>
          <p:nvPr/>
        </p:nvSpPr>
        <p:spPr>
          <a:xfrm>
            <a:off x="731520" y="105156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09601" y="1864894"/>
            <a:ext cx="3474720" cy="15544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3921" y="2002054"/>
            <a:ext cx="2926080" cy="365760"/>
          </a:xfrm>
          <a:prstGeom prst="rect">
            <a:avLst/>
          </a:prstGeom>
          <a:noFill/>
        </p:spPr>
        <p:txBody>
          <a:bodyPr wrap="square">
            <a:spAutoFit/>
          </a:bodyPr>
          <a:lstStyle/>
          <a:p>
            <a:pPr algn="l">
              <a:defRPr sz="1800" b="1">
                <a:solidFill>
                  <a:srgbClr val="0078D4"/>
                </a:solidFill>
                <a:latin typeface="Segoe UI"/>
              </a:defRPr>
            </a:pPr>
            <a:r>
              <a:t>Any Toil</a:t>
            </a:r>
          </a:p>
        </p:txBody>
      </p:sp>
      <p:sp>
        <p:nvSpPr>
          <p:cNvPr id="15" name="TextBox 14"/>
          <p:cNvSpPr txBox="1"/>
          <p:nvPr/>
        </p:nvSpPr>
        <p:spPr>
          <a:xfrm>
            <a:off x="883921" y="2413534"/>
            <a:ext cx="2926080" cy="914400"/>
          </a:xfrm>
          <a:prstGeom prst="rect">
            <a:avLst/>
          </a:prstGeom>
          <a:noFill/>
        </p:spPr>
        <p:txBody>
          <a:bodyPr wrap="square">
            <a:spAutoFit/>
          </a:bodyPr>
          <a:lstStyle/>
          <a:p>
            <a:pPr algn="l">
              <a:defRPr sz="1300" b="0">
                <a:solidFill>
                  <a:srgbClr val="1A1A2E"/>
                </a:solidFill>
                <a:latin typeface="Segoe UI"/>
              </a:defRPr>
            </a:pPr>
            <a:r>
              <a:t>Incident response, scheduled</a:t>
            </a:r>
            <a:br/>
            <a:r>
              <a:t>workflows, customer support,</a:t>
            </a:r>
            <a:br/>
            <a:r>
              <a:t>developer operations</a:t>
            </a:r>
          </a:p>
        </p:txBody>
      </p:sp>
      <p:sp>
        <p:nvSpPr>
          <p:cNvPr id="16" name="Rounded Rectangle 15"/>
          <p:cNvSpPr/>
          <p:nvPr/>
        </p:nvSpPr>
        <p:spPr>
          <a:xfrm>
            <a:off x="4358640" y="1864894"/>
            <a:ext cx="3474720" cy="15544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32960" y="2002054"/>
            <a:ext cx="2926080" cy="365760"/>
          </a:xfrm>
          <a:prstGeom prst="rect">
            <a:avLst/>
          </a:prstGeom>
          <a:noFill/>
        </p:spPr>
        <p:txBody>
          <a:bodyPr wrap="square">
            <a:spAutoFit/>
          </a:bodyPr>
          <a:lstStyle/>
          <a:p>
            <a:pPr algn="l">
              <a:defRPr sz="1800" b="1">
                <a:solidFill>
                  <a:srgbClr val="0078D4"/>
                </a:solidFill>
                <a:latin typeface="Segoe UI"/>
              </a:defRPr>
            </a:pPr>
            <a:r>
              <a:t>Any Platform</a:t>
            </a:r>
          </a:p>
        </p:txBody>
      </p:sp>
      <p:sp>
        <p:nvSpPr>
          <p:cNvPr id="18" name="TextBox 17"/>
          <p:cNvSpPr txBox="1"/>
          <p:nvPr/>
        </p:nvSpPr>
        <p:spPr>
          <a:xfrm>
            <a:off x="4632960" y="2413534"/>
            <a:ext cx="2926080" cy="492443"/>
          </a:xfrm>
          <a:prstGeom prst="rect">
            <a:avLst/>
          </a:prstGeom>
          <a:noFill/>
        </p:spPr>
        <p:txBody>
          <a:bodyPr wrap="square">
            <a:spAutoFit/>
          </a:bodyPr>
          <a:lstStyle/>
          <a:p>
            <a:pPr algn="l">
              <a:defRPr sz="1300" b="0">
                <a:solidFill>
                  <a:srgbClr val="1A1A2E"/>
                </a:solidFill>
                <a:latin typeface="Segoe UI"/>
              </a:defRPr>
            </a:pPr>
            <a:r>
              <a:t>Azure</a:t>
            </a:r>
            <a:r>
              <a:rPr lang="en-US"/>
              <a:t> native</a:t>
            </a:r>
            <a:r>
              <a:t>, hybrid</a:t>
            </a:r>
            <a:r>
              <a:rPr lang="en-US"/>
              <a:t> via Azure Arc</a:t>
            </a:r>
            <a:r>
              <a:t>, multi-cloud</a:t>
            </a:r>
            <a:r>
              <a:rPr lang="en-US"/>
              <a:t> via connectors</a:t>
            </a:r>
            <a:endParaRPr/>
          </a:p>
        </p:txBody>
      </p:sp>
      <p:sp>
        <p:nvSpPr>
          <p:cNvPr id="19" name="Rounded Rectangle 18"/>
          <p:cNvSpPr/>
          <p:nvPr/>
        </p:nvSpPr>
        <p:spPr>
          <a:xfrm>
            <a:off x="8107680" y="1864894"/>
            <a:ext cx="3474720" cy="15544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82000" y="2002054"/>
            <a:ext cx="2926080" cy="365760"/>
          </a:xfrm>
          <a:prstGeom prst="rect">
            <a:avLst/>
          </a:prstGeom>
          <a:noFill/>
        </p:spPr>
        <p:txBody>
          <a:bodyPr wrap="square">
            <a:spAutoFit/>
          </a:bodyPr>
          <a:lstStyle/>
          <a:p>
            <a:pPr algn="l">
              <a:defRPr sz="1800" b="1">
                <a:solidFill>
                  <a:srgbClr val="0078D4"/>
                </a:solidFill>
                <a:latin typeface="Segoe UI"/>
              </a:defRPr>
            </a:pPr>
            <a:r>
              <a:t>At Scale</a:t>
            </a:r>
          </a:p>
        </p:txBody>
      </p:sp>
      <p:sp>
        <p:nvSpPr>
          <p:cNvPr id="21" name="TextBox 20"/>
          <p:cNvSpPr txBox="1"/>
          <p:nvPr/>
        </p:nvSpPr>
        <p:spPr>
          <a:xfrm>
            <a:off x="8382000" y="2413534"/>
            <a:ext cx="2926080" cy="692497"/>
          </a:xfrm>
          <a:prstGeom prst="rect">
            <a:avLst/>
          </a:prstGeom>
          <a:noFill/>
        </p:spPr>
        <p:txBody>
          <a:bodyPr wrap="square">
            <a:spAutoFit/>
          </a:bodyPr>
          <a:lstStyle/>
          <a:p>
            <a:pPr algn="l">
              <a:defRPr sz="1300" b="0">
                <a:solidFill>
                  <a:srgbClr val="1A1A2E"/>
                </a:solidFill>
                <a:latin typeface="Segoe UI"/>
              </a:defRPr>
            </a:pPr>
            <a:r>
              <a:rPr lang="en-US"/>
              <a:t>Some of the largest engineering teams at</a:t>
            </a:r>
            <a:r>
              <a:t> </a:t>
            </a:r>
            <a:r>
              <a:rPr lang="en-US"/>
              <a:t>Microsoft </a:t>
            </a:r>
            <a:r>
              <a:t>using SRE Agent</a:t>
            </a:r>
            <a:r>
              <a:rPr lang="en-US"/>
              <a:t> and several Fortune 500 companies</a:t>
            </a:r>
            <a:endParaRPr/>
          </a:p>
        </p:txBody>
      </p:sp>
      <p:sp>
        <p:nvSpPr>
          <p:cNvPr id="22" name="TextBox 21"/>
          <p:cNvSpPr txBox="1"/>
          <p:nvPr/>
        </p:nvSpPr>
        <p:spPr>
          <a:xfrm>
            <a:off x="653315" y="6103620"/>
            <a:ext cx="9144000" cy="307777"/>
          </a:xfrm>
          <a:prstGeom prst="rect">
            <a:avLst/>
          </a:prstGeom>
          <a:noFill/>
        </p:spPr>
        <p:txBody>
          <a:bodyPr wrap="square">
            <a:spAutoFit/>
          </a:bodyPr>
          <a:lstStyle/>
          <a:p>
            <a:pPr algn="l">
              <a:defRPr sz="1400" b="0">
                <a:solidFill>
                  <a:srgbClr val="9E9E9E"/>
                </a:solidFill>
                <a:latin typeface="Segoe UI"/>
              </a:defRPr>
            </a:pPr>
            <a:r>
              <a:t>Generally Available — </a:t>
            </a:r>
            <a:r>
              <a:rPr lang="en-US"/>
              <a:t>March </a:t>
            </a:r>
            <a:r>
              <a:t>202</a:t>
            </a:r>
            <a:r>
              <a:rPr lang="en-US"/>
              <a:t>6</a:t>
            </a:r>
            <a:r>
              <a:t>  |  Built on Azure, for Azure, extensible to any platform</a:t>
            </a:r>
          </a:p>
        </p:txBody>
      </p:sp>
      <p:sp>
        <p:nvSpPr>
          <p:cNvPr id="28" name="Rounded Rectangle 18">
            <a:extLst>
              <a:ext uri="{FF2B5EF4-FFF2-40B4-BE49-F238E27FC236}">
                <a16:creationId xmlns:a16="http://schemas.microsoft.com/office/drawing/2014/main" id="{F78364F8-16F5-B204-82F9-AC2CEE9ED048}"/>
              </a:ext>
            </a:extLst>
          </p:cNvPr>
          <p:cNvSpPr/>
          <p:nvPr/>
        </p:nvSpPr>
        <p:spPr>
          <a:xfrm>
            <a:off x="2072641" y="3676850"/>
            <a:ext cx="3474720" cy="15544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3D964FC5-4CA3-9646-43A0-6B351CDE3C2D}"/>
              </a:ext>
            </a:extLst>
          </p:cNvPr>
          <p:cNvSpPr txBox="1"/>
          <p:nvPr/>
        </p:nvSpPr>
        <p:spPr>
          <a:xfrm>
            <a:off x="2346961" y="3814010"/>
            <a:ext cx="2926080" cy="365760"/>
          </a:xfrm>
          <a:prstGeom prst="rect">
            <a:avLst/>
          </a:prstGeom>
          <a:noFill/>
        </p:spPr>
        <p:txBody>
          <a:bodyPr wrap="square">
            <a:spAutoFit/>
          </a:bodyPr>
          <a:lstStyle/>
          <a:p>
            <a:pPr algn="l">
              <a:defRPr sz="1800" b="1">
                <a:solidFill>
                  <a:srgbClr val="0078D4"/>
                </a:solidFill>
                <a:latin typeface="Segoe UI"/>
              </a:defRPr>
            </a:pPr>
            <a:r>
              <a:rPr lang="en-US"/>
              <a:t>Extensible</a:t>
            </a:r>
            <a:endParaRPr/>
          </a:p>
        </p:txBody>
      </p:sp>
      <p:sp>
        <p:nvSpPr>
          <p:cNvPr id="32" name="TextBox 31">
            <a:extLst>
              <a:ext uri="{FF2B5EF4-FFF2-40B4-BE49-F238E27FC236}">
                <a16:creationId xmlns:a16="http://schemas.microsoft.com/office/drawing/2014/main" id="{444E20C7-4934-E055-4975-C7B3DEC5D793}"/>
              </a:ext>
            </a:extLst>
          </p:cNvPr>
          <p:cNvSpPr txBox="1"/>
          <p:nvPr/>
        </p:nvSpPr>
        <p:spPr>
          <a:xfrm>
            <a:off x="2346961" y="4225490"/>
            <a:ext cx="2926080" cy="692497"/>
          </a:xfrm>
          <a:prstGeom prst="rect">
            <a:avLst/>
          </a:prstGeom>
          <a:noFill/>
        </p:spPr>
        <p:txBody>
          <a:bodyPr wrap="square">
            <a:spAutoFit/>
          </a:bodyPr>
          <a:lstStyle/>
          <a:p>
            <a:pPr algn="l">
              <a:defRPr sz="1300" b="0">
                <a:solidFill>
                  <a:srgbClr val="1A1A2E"/>
                </a:solidFill>
                <a:latin typeface="Segoe UI"/>
              </a:defRPr>
            </a:pPr>
            <a:r>
              <a:rPr lang="en-US"/>
              <a:t>MCP, Python Code Interpreter, Custom Agents + Skills, Browser Operator, Knowledge, Triggers</a:t>
            </a:r>
            <a:endParaRPr/>
          </a:p>
        </p:txBody>
      </p:sp>
      <p:sp>
        <p:nvSpPr>
          <p:cNvPr id="34" name="Rounded Rectangle 18">
            <a:extLst>
              <a:ext uri="{FF2B5EF4-FFF2-40B4-BE49-F238E27FC236}">
                <a16:creationId xmlns:a16="http://schemas.microsoft.com/office/drawing/2014/main" id="{8F6E1ACE-704E-B0A7-8C3C-5BCABE0AB634}"/>
              </a:ext>
            </a:extLst>
          </p:cNvPr>
          <p:cNvSpPr/>
          <p:nvPr/>
        </p:nvSpPr>
        <p:spPr>
          <a:xfrm>
            <a:off x="6052286" y="3690085"/>
            <a:ext cx="3474720" cy="155448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CE2162C-62E1-6C9C-67FC-B4FDA3EE436C}"/>
              </a:ext>
            </a:extLst>
          </p:cNvPr>
          <p:cNvSpPr txBox="1"/>
          <p:nvPr/>
        </p:nvSpPr>
        <p:spPr>
          <a:xfrm>
            <a:off x="6326606" y="3827245"/>
            <a:ext cx="2926080" cy="365760"/>
          </a:xfrm>
          <a:prstGeom prst="rect">
            <a:avLst/>
          </a:prstGeom>
          <a:noFill/>
        </p:spPr>
        <p:txBody>
          <a:bodyPr wrap="square">
            <a:spAutoFit/>
          </a:bodyPr>
          <a:lstStyle/>
          <a:p>
            <a:pPr algn="l">
              <a:defRPr sz="1800" b="1">
                <a:solidFill>
                  <a:srgbClr val="0078D4"/>
                </a:solidFill>
                <a:latin typeface="Segoe UI"/>
              </a:defRPr>
            </a:pPr>
            <a:r>
              <a:rPr lang="en-US"/>
              <a:t>Enterprise Ready</a:t>
            </a:r>
            <a:endParaRPr/>
          </a:p>
        </p:txBody>
      </p:sp>
      <p:sp>
        <p:nvSpPr>
          <p:cNvPr id="38" name="TextBox 37">
            <a:extLst>
              <a:ext uri="{FF2B5EF4-FFF2-40B4-BE49-F238E27FC236}">
                <a16:creationId xmlns:a16="http://schemas.microsoft.com/office/drawing/2014/main" id="{537A33F5-4780-B694-58EC-B68A7053ECAE}"/>
              </a:ext>
            </a:extLst>
          </p:cNvPr>
          <p:cNvSpPr txBox="1"/>
          <p:nvPr/>
        </p:nvSpPr>
        <p:spPr>
          <a:xfrm>
            <a:off x="6326606" y="4238725"/>
            <a:ext cx="2926080" cy="692497"/>
          </a:xfrm>
          <a:prstGeom prst="rect">
            <a:avLst/>
          </a:prstGeom>
          <a:noFill/>
        </p:spPr>
        <p:txBody>
          <a:bodyPr wrap="square">
            <a:spAutoFit/>
          </a:bodyPr>
          <a:lstStyle/>
          <a:p>
            <a:pPr>
              <a:defRPr sz="1300" b="0">
                <a:solidFill>
                  <a:srgbClr val="1A1A2E"/>
                </a:solidFill>
                <a:latin typeface="Segoe UI"/>
              </a:defRPr>
            </a:pPr>
            <a:r>
              <a:rPr lang="en-US"/>
              <a:t>RBAC, Managed Identity, OBO, Hooks, Audit, Evaluation, Learning, Human-in-loop, Tenant Isolation</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000" b="1">
                <a:solidFill>
                  <a:srgbClr val="0B1D3A"/>
                </a:solidFill>
                <a:latin typeface="Segoe UI Semibold"/>
              </a:defRPr>
            </a:pPr>
            <a:r>
              <a:t>Three Ways to Use </a:t>
            </a:r>
            <a:r>
              <a:rPr lang="en-US"/>
              <a:t>Azure </a:t>
            </a:r>
            <a:r>
              <a:t>SRE Agent</a:t>
            </a:r>
          </a:p>
        </p:txBody>
      </p:sp>
      <p:sp>
        <p:nvSpPr>
          <p:cNvPr id="3" name="Rectangle 2"/>
          <p:cNvSpPr/>
          <p:nvPr/>
        </p:nvSpPr>
        <p:spPr>
          <a:xfrm>
            <a:off x="731520" y="105156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640081" y="2243889"/>
            <a:ext cx="3474720" cy="64008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1" y="2243889"/>
            <a:ext cx="3108960" cy="365760"/>
          </a:xfrm>
          <a:prstGeom prst="rect">
            <a:avLst/>
          </a:prstGeom>
          <a:noFill/>
        </p:spPr>
        <p:txBody>
          <a:bodyPr wrap="square">
            <a:spAutoFit/>
          </a:bodyPr>
          <a:lstStyle/>
          <a:p>
            <a:pPr algn="ctr">
              <a:defRPr sz="2200" b="1">
                <a:solidFill>
                  <a:srgbClr val="FFFFFF"/>
                </a:solidFill>
                <a:latin typeface="Segoe UI"/>
              </a:defRPr>
            </a:pPr>
            <a:r>
              <a:t>Interactive</a:t>
            </a:r>
          </a:p>
        </p:txBody>
      </p:sp>
      <p:sp>
        <p:nvSpPr>
          <p:cNvPr id="6" name="TextBox 5"/>
          <p:cNvSpPr txBox="1"/>
          <p:nvPr/>
        </p:nvSpPr>
        <p:spPr>
          <a:xfrm>
            <a:off x="822961" y="2563929"/>
            <a:ext cx="3108960" cy="274320"/>
          </a:xfrm>
          <a:prstGeom prst="rect">
            <a:avLst/>
          </a:prstGeom>
          <a:noFill/>
        </p:spPr>
        <p:txBody>
          <a:bodyPr wrap="square">
            <a:spAutoFit/>
          </a:bodyPr>
          <a:lstStyle/>
          <a:p>
            <a:pPr algn="ctr">
              <a:defRPr sz="1200" b="0">
                <a:solidFill>
                  <a:srgbClr val="E0F0FF"/>
                </a:solidFill>
                <a:latin typeface="Segoe UI"/>
              </a:defRPr>
            </a:pPr>
            <a:r>
              <a:t>Ask &amp; Collaborate</a:t>
            </a:r>
          </a:p>
        </p:txBody>
      </p:sp>
      <p:sp>
        <p:nvSpPr>
          <p:cNvPr id="7" name="Rounded Rectangle 6"/>
          <p:cNvSpPr/>
          <p:nvPr/>
        </p:nvSpPr>
        <p:spPr>
          <a:xfrm>
            <a:off x="640081" y="2929689"/>
            <a:ext cx="3474720" cy="228600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1" y="3066849"/>
            <a:ext cx="2926080" cy="457200"/>
          </a:xfrm>
          <a:prstGeom prst="rect">
            <a:avLst/>
          </a:prstGeom>
          <a:noFill/>
        </p:spPr>
        <p:txBody>
          <a:bodyPr wrap="square">
            <a:spAutoFit/>
          </a:bodyPr>
          <a:lstStyle/>
          <a:p>
            <a:pPr algn="l">
              <a:defRPr sz="1400" b="0">
                <a:solidFill>
                  <a:srgbClr val="1A1A2E"/>
                </a:solidFill>
                <a:latin typeface="Segoe UI"/>
              </a:defRPr>
            </a:pPr>
            <a:r>
              <a:t>✓  Chat directly in the Portal</a:t>
            </a:r>
          </a:p>
        </p:txBody>
      </p:sp>
      <p:sp>
        <p:nvSpPr>
          <p:cNvPr id="9" name="TextBox 8"/>
          <p:cNvSpPr txBox="1"/>
          <p:nvPr/>
        </p:nvSpPr>
        <p:spPr>
          <a:xfrm>
            <a:off x="914401" y="3569769"/>
            <a:ext cx="2926080" cy="457200"/>
          </a:xfrm>
          <a:prstGeom prst="rect">
            <a:avLst/>
          </a:prstGeom>
          <a:noFill/>
        </p:spPr>
        <p:txBody>
          <a:bodyPr wrap="square">
            <a:spAutoFit/>
          </a:bodyPr>
          <a:lstStyle/>
          <a:p>
            <a:pPr algn="l">
              <a:defRPr sz="1400" b="0">
                <a:solidFill>
                  <a:srgbClr val="1A1A2E"/>
                </a:solidFill>
                <a:latin typeface="Segoe UI"/>
              </a:defRPr>
            </a:pPr>
            <a:r>
              <a:t>✓  Ask questions, run diagnostics</a:t>
            </a:r>
          </a:p>
        </p:txBody>
      </p:sp>
      <p:sp>
        <p:nvSpPr>
          <p:cNvPr id="10" name="TextBox 9"/>
          <p:cNvSpPr txBox="1"/>
          <p:nvPr/>
        </p:nvSpPr>
        <p:spPr>
          <a:xfrm>
            <a:off x="914401" y="4072689"/>
            <a:ext cx="2926080" cy="457200"/>
          </a:xfrm>
          <a:prstGeom prst="rect">
            <a:avLst/>
          </a:prstGeom>
          <a:noFill/>
        </p:spPr>
        <p:txBody>
          <a:bodyPr wrap="square">
            <a:spAutoFit/>
          </a:bodyPr>
          <a:lstStyle/>
          <a:p>
            <a:pPr algn="l">
              <a:defRPr sz="1400" b="0">
                <a:solidFill>
                  <a:srgbClr val="1A1A2E"/>
                </a:solidFill>
                <a:latin typeface="Segoe UI"/>
              </a:defRPr>
            </a:pPr>
            <a:r>
              <a:t>✓  Natural language operations</a:t>
            </a:r>
          </a:p>
        </p:txBody>
      </p:sp>
      <p:sp>
        <p:nvSpPr>
          <p:cNvPr id="11" name="TextBox 10"/>
          <p:cNvSpPr txBox="1"/>
          <p:nvPr/>
        </p:nvSpPr>
        <p:spPr>
          <a:xfrm>
            <a:off x="914401" y="4575609"/>
            <a:ext cx="2926080" cy="457200"/>
          </a:xfrm>
          <a:prstGeom prst="rect">
            <a:avLst/>
          </a:prstGeom>
          <a:noFill/>
        </p:spPr>
        <p:txBody>
          <a:bodyPr wrap="square">
            <a:spAutoFit/>
          </a:bodyPr>
          <a:lstStyle/>
          <a:p>
            <a:pPr algn="l">
              <a:defRPr sz="1400" b="0">
                <a:solidFill>
                  <a:srgbClr val="1A1A2E"/>
                </a:solidFill>
                <a:latin typeface="Segoe UI"/>
              </a:defRPr>
            </a:pPr>
            <a:r>
              <a:t>✓  Upload images, files, HAR traces</a:t>
            </a:r>
          </a:p>
        </p:txBody>
      </p:sp>
      <p:sp>
        <p:nvSpPr>
          <p:cNvPr id="12" name="Rounded Rectangle 11"/>
          <p:cNvSpPr/>
          <p:nvPr/>
        </p:nvSpPr>
        <p:spPr>
          <a:xfrm>
            <a:off x="4389120" y="2243889"/>
            <a:ext cx="3474720" cy="640080"/>
          </a:xfrm>
          <a:prstGeom prst="round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0" y="2243889"/>
            <a:ext cx="3108960" cy="365760"/>
          </a:xfrm>
          <a:prstGeom prst="rect">
            <a:avLst/>
          </a:prstGeom>
          <a:noFill/>
        </p:spPr>
        <p:txBody>
          <a:bodyPr wrap="square">
            <a:spAutoFit/>
          </a:bodyPr>
          <a:lstStyle/>
          <a:p>
            <a:pPr algn="ctr">
              <a:defRPr sz="2200" b="1">
                <a:solidFill>
                  <a:srgbClr val="FFFFFF"/>
                </a:solidFill>
                <a:latin typeface="Segoe UI"/>
              </a:defRPr>
            </a:pPr>
            <a:r>
              <a:t>Reactive</a:t>
            </a:r>
          </a:p>
        </p:txBody>
      </p:sp>
      <p:sp>
        <p:nvSpPr>
          <p:cNvPr id="14" name="TextBox 13"/>
          <p:cNvSpPr txBox="1"/>
          <p:nvPr/>
        </p:nvSpPr>
        <p:spPr>
          <a:xfrm>
            <a:off x="4572000" y="2563929"/>
            <a:ext cx="3108960" cy="274320"/>
          </a:xfrm>
          <a:prstGeom prst="rect">
            <a:avLst/>
          </a:prstGeom>
          <a:noFill/>
        </p:spPr>
        <p:txBody>
          <a:bodyPr wrap="square">
            <a:spAutoFit/>
          </a:bodyPr>
          <a:lstStyle/>
          <a:p>
            <a:pPr algn="ctr">
              <a:defRPr sz="1200" b="0">
                <a:solidFill>
                  <a:srgbClr val="E0F0FF"/>
                </a:solidFill>
                <a:latin typeface="Segoe UI"/>
              </a:defRPr>
            </a:pPr>
            <a:r>
              <a:t>Alert-Driven Response</a:t>
            </a:r>
          </a:p>
        </p:txBody>
      </p:sp>
      <p:sp>
        <p:nvSpPr>
          <p:cNvPr id="15" name="Rounded Rectangle 14"/>
          <p:cNvSpPr/>
          <p:nvPr/>
        </p:nvSpPr>
        <p:spPr>
          <a:xfrm>
            <a:off x="4389120" y="2929689"/>
            <a:ext cx="3474720" cy="228600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63440" y="3066849"/>
            <a:ext cx="2926080" cy="457200"/>
          </a:xfrm>
          <a:prstGeom prst="rect">
            <a:avLst/>
          </a:prstGeom>
          <a:noFill/>
        </p:spPr>
        <p:txBody>
          <a:bodyPr wrap="square">
            <a:spAutoFit/>
          </a:bodyPr>
          <a:lstStyle/>
          <a:p>
            <a:pPr algn="l">
              <a:defRPr sz="1400" b="0">
                <a:solidFill>
                  <a:srgbClr val="1A1A2E"/>
                </a:solidFill>
                <a:latin typeface="Segoe UI"/>
              </a:defRPr>
            </a:pPr>
            <a:r>
              <a:t>✓  Responds to Azure Monitor alerts</a:t>
            </a:r>
          </a:p>
        </p:txBody>
      </p:sp>
      <p:sp>
        <p:nvSpPr>
          <p:cNvPr id="17" name="TextBox 16"/>
          <p:cNvSpPr txBox="1"/>
          <p:nvPr/>
        </p:nvSpPr>
        <p:spPr>
          <a:xfrm>
            <a:off x="4663439" y="3569769"/>
            <a:ext cx="3200400" cy="523220"/>
          </a:xfrm>
          <a:prstGeom prst="rect">
            <a:avLst/>
          </a:prstGeom>
          <a:noFill/>
        </p:spPr>
        <p:txBody>
          <a:bodyPr wrap="square">
            <a:spAutoFit/>
          </a:bodyPr>
          <a:lstStyle/>
          <a:p>
            <a:pPr algn="l">
              <a:defRPr sz="1400" b="0">
                <a:solidFill>
                  <a:srgbClr val="1A1A2E"/>
                </a:solidFill>
                <a:latin typeface="Segoe UI"/>
              </a:defRPr>
            </a:pPr>
            <a:r>
              <a:t>✓  Integrates PagerDuty</a:t>
            </a:r>
            <a:r>
              <a:rPr lang="en-US"/>
              <a:t>,</a:t>
            </a:r>
            <a:r>
              <a:t> ServiceNow</a:t>
            </a:r>
            <a:r>
              <a:rPr lang="en-US"/>
              <a:t>, Release &amp; HTTP Triggers</a:t>
            </a:r>
            <a:endParaRPr/>
          </a:p>
        </p:txBody>
      </p:sp>
      <p:sp>
        <p:nvSpPr>
          <p:cNvPr id="18" name="TextBox 17"/>
          <p:cNvSpPr txBox="1"/>
          <p:nvPr/>
        </p:nvSpPr>
        <p:spPr>
          <a:xfrm>
            <a:off x="4663440" y="4072689"/>
            <a:ext cx="2926080" cy="457200"/>
          </a:xfrm>
          <a:prstGeom prst="rect">
            <a:avLst/>
          </a:prstGeom>
          <a:noFill/>
        </p:spPr>
        <p:txBody>
          <a:bodyPr wrap="square">
            <a:spAutoFit/>
          </a:bodyPr>
          <a:lstStyle/>
          <a:p>
            <a:pPr algn="l">
              <a:defRPr sz="1400" b="0">
                <a:solidFill>
                  <a:srgbClr val="1A1A2E"/>
                </a:solidFill>
                <a:latin typeface="Segoe UI"/>
              </a:defRPr>
            </a:pPr>
            <a:r>
              <a:t>✓  Automated triage and initial RCA</a:t>
            </a:r>
          </a:p>
        </p:txBody>
      </p:sp>
      <p:sp>
        <p:nvSpPr>
          <p:cNvPr id="19" name="TextBox 18"/>
          <p:cNvSpPr txBox="1"/>
          <p:nvPr/>
        </p:nvSpPr>
        <p:spPr>
          <a:xfrm>
            <a:off x="4663440" y="4575609"/>
            <a:ext cx="2926080" cy="457200"/>
          </a:xfrm>
          <a:prstGeom prst="rect">
            <a:avLst/>
          </a:prstGeom>
          <a:noFill/>
        </p:spPr>
        <p:txBody>
          <a:bodyPr wrap="square">
            <a:spAutoFit/>
          </a:bodyPr>
          <a:lstStyle/>
          <a:p>
            <a:pPr algn="l">
              <a:defRPr sz="1400" b="0">
                <a:solidFill>
                  <a:srgbClr val="1A1A2E"/>
                </a:solidFill>
                <a:latin typeface="Segoe UI"/>
              </a:defRPr>
            </a:pPr>
            <a:r>
              <a:t>✓  Triggers mitigation with approval</a:t>
            </a:r>
          </a:p>
        </p:txBody>
      </p:sp>
      <p:sp>
        <p:nvSpPr>
          <p:cNvPr id="20" name="Rounded Rectangle 19"/>
          <p:cNvSpPr/>
          <p:nvPr/>
        </p:nvSpPr>
        <p:spPr>
          <a:xfrm>
            <a:off x="8138160" y="2243889"/>
            <a:ext cx="3474720" cy="64008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21040" y="2243889"/>
            <a:ext cx="3108960" cy="365760"/>
          </a:xfrm>
          <a:prstGeom prst="rect">
            <a:avLst/>
          </a:prstGeom>
          <a:noFill/>
        </p:spPr>
        <p:txBody>
          <a:bodyPr wrap="square">
            <a:spAutoFit/>
          </a:bodyPr>
          <a:lstStyle/>
          <a:p>
            <a:pPr algn="ctr">
              <a:defRPr sz="2200" b="1">
                <a:solidFill>
                  <a:srgbClr val="FFFFFF"/>
                </a:solidFill>
                <a:latin typeface="Segoe UI"/>
              </a:defRPr>
            </a:pPr>
            <a:r>
              <a:t>Proactive</a:t>
            </a:r>
          </a:p>
        </p:txBody>
      </p:sp>
      <p:sp>
        <p:nvSpPr>
          <p:cNvPr id="22" name="TextBox 21"/>
          <p:cNvSpPr txBox="1"/>
          <p:nvPr/>
        </p:nvSpPr>
        <p:spPr>
          <a:xfrm>
            <a:off x="8321040" y="2563929"/>
            <a:ext cx="3108960" cy="274320"/>
          </a:xfrm>
          <a:prstGeom prst="rect">
            <a:avLst/>
          </a:prstGeom>
          <a:noFill/>
        </p:spPr>
        <p:txBody>
          <a:bodyPr wrap="square">
            <a:spAutoFit/>
          </a:bodyPr>
          <a:lstStyle/>
          <a:p>
            <a:pPr algn="ctr">
              <a:defRPr sz="1200" b="0">
                <a:solidFill>
                  <a:srgbClr val="E0F0FF"/>
                </a:solidFill>
                <a:latin typeface="Segoe UI"/>
              </a:defRPr>
            </a:pPr>
            <a:r>
              <a:t>Scheduled &amp; Autonomous</a:t>
            </a:r>
          </a:p>
        </p:txBody>
      </p:sp>
      <p:sp>
        <p:nvSpPr>
          <p:cNvPr id="23" name="Rounded Rectangle 22"/>
          <p:cNvSpPr/>
          <p:nvPr/>
        </p:nvSpPr>
        <p:spPr>
          <a:xfrm>
            <a:off x="8138160" y="2929689"/>
            <a:ext cx="3474720" cy="2286000"/>
          </a:xfrm>
          <a:prstGeom prst="roundRect">
            <a:avLst/>
          </a:prstGeom>
          <a:solidFill>
            <a:srgbClr val="FFFFFF"/>
          </a:solidFill>
          <a:ln w="1270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3066849"/>
            <a:ext cx="2926080" cy="457200"/>
          </a:xfrm>
          <a:prstGeom prst="rect">
            <a:avLst/>
          </a:prstGeom>
          <a:noFill/>
        </p:spPr>
        <p:txBody>
          <a:bodyPr wrap="square">
            <a:spAutoFit/>
          </a:bodyPr>
          <a:lstStyle/>
          <a:p>
            <a:pPr algn="l">
              <a:defRPr sz="1400" b="0">
                <a:solidFill>
                  <a:srgbClr val="1A1A2E"/>
                </a:solidFill>
                <a:latin typeface="Segoe UI"/>
              </a:defRPr>
            </a:pPr>
            <a:r>
              <a:t>✓  Scheduled tasks on cron expressions</a:t>
            </a:r>
          </a:p>
        </p:txBody>
      </p:sp>
      <p:sp>
        <p:nvSpPr>
          <p:cNvPr id="25" name="TextBox 24"/>
          <p:cNvSpPr txBox="1"/>
          <p:nvPr/>
        </p:nvSpPr>
        <p:spPr>
          <a:xfrm>
            <a:off x="8412480" y="3569769"/>
            <a:ext cx="2926080" cy="457200"/>
          </a:xfrm>
          <a:prstGeom prst="rect">
            <a:avLst/>
          </a:prstGeom>
          <a:noFill/>
        </p:spPr>
        <p:txBody>
          <a:bodyPr wrap="square">
            <a:spAutoFit/>
          </a:bodyPr>
          <a:lstStyle/>
          <a:p>
            <a:pPr algn="l">
              <a:defRPr sz="1400" b="0">
                <a:solidFill>
                  <a:srgbClr val="1A1A2E"/>
                </a:solidFill>
                <a:latin typeface="Segoe UI"/>
              </a:defRPr>
            </a:pPr>
            <a:r>
              <a:t>✓  Continuous health &amp; compliance checks</a:t>
            </a:r>
          </a:p>
        </p:txBody>
      </p:sp>
      <p:sp>
        <p:nvSpPr>
          <p:cNvPr id="26" name="TextBox 25"/>
          <p:cNvSpPr txBox="1"/>
          <p:nvPr/>
        </p:nvSpPr>
        <p:spPr>
          <a:xfrm>
            <a:off x="8412480" y="4072689"/>
            <a:ext cx="2926080" cy="457200"/>
          </a:xfrm>
          <a:prstGeom prst="rect">
            <a:avLst/>
          </a:prstGeom>
          <a:noFill/>
        </p:spPr>
        <p:txBody>
          <a:bodyPr wrap="square">
            <a:spAutoFit/>
          </a:bodyPr>
          <a:lstStyle/>
          <a:p>
            <a:pPr algn="l">
              <a:defRPr sz="1400" b="0">
                <a:solidFill>
                  <a:srgbClr val="1A1A2E"/>
                </a:solidFill>
                <a:latin typeface="Segoe UI"/>
              </a:defRPr>
            </a:pPr>
            <a:r>
              <a:t>✓  Anomaly detection across resources</a:t>
            </a:r>
          </a:p>
        </p:txBody>
      </p:sp>
      <p:sp>
        <p:nvSpPr>
          <p:cNvPr id="27" name="TextBox 26"/>
          <p:cNvSpPr txBox="1"/>
          <p:nvPr/>
        </p:nvSpPr>
        <p:spPr>
          <a:xfrm>
            <a:off x="8412480" y="4575609"/>
            <a:ext cx="2926080" cy="523220"/>
          </a:xfrm>
          <a:prstGeom prst="rect">
            <a:avLst/>
          </a:prstGeom>
          <a:noFill/>
        </p:spPr>
        <p:txBody>
          <a:bodyPr wrap="square">
            <a:spAutoFit/>
          </a:bodyPr>
          <a:lstStyle/>
          <a:p>
            <a:pPr algn="l">
              <a:defRPr sz="1400" b="0">
                <a:solidFill>
                  <a:srgbClr val="1A1A2E"/>
                </a:solidFill>
                <a:latin typeface="Segoe UI"/>
              </a:defRPr>
            </a:pPr>
            <a:r>
              <a:t>✓  Resource optimization</a:t>
            </a:r>
            <a:r>
              <a:rPr lang="en-US"/>
              <a:t> &amp; cost analysis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07A9D-70A8-88FD-8564-9D5F75EE3689}"/>
            </a:ext>
          </a:extLst>
        </p:cNvPr>
        <p:cNvGrpSpPr/>
        <p:nvPr/>
      </p:nvGrpSpPr>
      <p:grpSpPr>
        <a:xfrm>
          <a:off x="0" y="0"/>
          <a:ext cx="0" cy="0"/>
          <a:chOff x="0" y="0"/>
          <a:chExt cx="0" cy="0"/>
        </a:xfrm>
      </p:grpSpPr>
      <p:sp>
        <p:nvSpPr>
          <p:cNvPr id="26" name="Rounded Rectangle 25">
            <a:extLst>
              <a:ext uri="{FF2B5EF4-FFF2-40B4-BE49-F238E27FC236}">
                <a16:creationId xmlns:a16="http://schemas.microsoft.com/office/drawing/2014/main" id="{3B010CF0-0158-4832-29DF-CBCBFCA301A5}"/>
              </a:ext>
            </a:extLst>
          </p:cNvPr>
          <p:cNvSpPr/>
          <p:nvPr/>
        </p:nvSpPr>
        <p:spPr>
          <a:xfrm>
            <a:off x="4524947" y="1928190"/>
            <a:ext cx="7062856" cy="2894473"/>
          </a:xfrm>
          <a:prstGeom prst="roundRect">
            <a:avLst>
              <a:gd name="adj" fmla="val 4593"/>
            </a:avLst>
          </a:prstGeom>
          <a:solidFill>
            <a:schemeClr val="bg2"/>
          </a:solidFill>
          <a:ln w="12700">
            <a:noFill/>
          </a:ln>
          <a:effectLst>
            <a:outerShdw blurRad="50800" dist="38100" dir="2700000" algn="tl" rotWithShape="0">
              <a:prstClr val="black">
                <a:alpha val="40000"/>
              </a:prstClr>
            </a:outerShdw>
          </a:effectLst>
        </p:spPr>
        <p:txBody>
          <a:bodyPr wrap="square" lIns="0" tIns="0" rIns="0" bIns="0" rtlCol="0" anchor="ctr">
            <a:noAutofit/>
          </a:bodyPr>
          <a:lstStyle/>
          <a:p>
            <a:pPr algn="ctr" defTabSz="1219139">
              <a:spcBef>
                <a:spcPts val="711"/>
              </a:spcBef>
              <a:buClr>
                <a:srgbClr val="000000"/>
              </a:buClr>
            </a:pPr>
            <a:endParaRPr sz="1600">
              <a:ln w="3175">
                <a:noFill/>
              </a:ln>
              <a:solidFill>
                <a:srgbClr val="FFFFFF"/>
              </a:solidFill>
              <a:latin typeface="Helvetica"/>
              <a:cs typeface="Helvetica" panose="020B0604020202020204" pitchFamily="34" charset="0"/>
            </a:endParaRPr>
          </a:p>
        </p:txBody>
      </p:sp>
      <p:sp>
        <p:nvSpPr>
          <p:cNvPr id="5" name="Rounded Rectangle 4">
            <a:extLst>
              <a:ext uri="{FF2B5EF4-FFF2-40B4-BE49-F238E27FC236}">
                <a16:creationId xmlns:a16="http://schemas.microsoft.com/office/drawing/2014/main" id="{73875C6C-7FAC-A5F0-6637-0A7EE04065B1}"/>
              </a:ext>
            </a:extLst>
          </p:cNvPr>
          <p:cNvSpPr/>
          <p:nvPr/>
        </p:nvSpPr>
        <p:spPr>
          <a:xfrm>
            <a:off x="604197" y="1928191"/>
            <a:ext cx="3389120" cy="2894472"/>
          </a:xfrm>
          <a:prstGeom prst="roundRect">
            <a:avLst>
              <a:gd name="adj" fmla="val 5727"/>
            </a:avLst>
          </a:prstGeom>
          <a:solidFill>
            <a:schemeClr val="bg2"/>
          </a:solidFill>
          <a:ln w="12700">
            <a:noFill/>
          </a:ln>
          <a:effectLst>
            <a:outerShdw blurRad="50800" dist="38100" dir="2700000" algn="tl" rotWithShape="0">
              <a:prstClr val="black">
                <a:alpha val="40000"/>
              </a:prstClr>
            </a:outerShdw>
          </a:effectLst>
        </p:spPr>
        <p:txBody>
          <a:bodyPr wrap="square" lIns="0" tIns="0" rIns="0" bIns="0" rtlCol="0" anchor="ctr">
            <a:noAutofit/>
          </a:bodyPr>
          <a:lstStyle/>
          <a:p>
            <a:pPr algn="ctr" defTabSz="1219139">
              <a:spcBef>
                <a:spcPts val="711"/>
              </a:spcBef>
              <a:buClr>
                <a:srgbClr val="000000"/>
              </a:buClr>
            </a:pPr>
            <a:endParaRPr sz="1600">
              <a:ln w="3175">
                <a:noFill/>
              </a:ln>
              <a:solidFill>
                <a:srgbClr val="FFFFFF"/>
              </a:solidFill>
              <a:latin typeface="Helvetica"/>
              <a:cs typeface="Helvetica" panose="020B0604020202020204" pitchFamily="34" charset="0"/>
            </a:endParaRPr>
          </a:p>
        </p:txBody>
      </p:sp>
      <p:sp>
        <p:nvSpPr>
          <p:cNvPr id="11" name="Rounded Rectangle 10">
            <a:extLst>
              <a:ext uri="{FF2B5EF4-FFF2-40B4-BE49-F238E27FC236}">
                <a16:creationId xmlns:a16="http://schemas.microsoft.com/office/drawing/2014/main" id="{5929FED4-4AF2-7AFB-CC2D-237E8595AE25}"/>
              </a:ext>
            </a:extLst>
          </p:cNvPr>
          <p:cNvSpPr/>
          <p:nvPr/>
        </p:nvSpPr>
        <p:spPr>
          <a:xfrm>
            <a:off x="741356" y="2608750"/>
            <a:ext cx="3027459" cy="404053"/>
          </a:xfrm>
          <a:prstGeom prst="roundRect">
            <a:avLst/>
          </a:prstGeom>
          <a:solidFill>
            <a:schemeClr val="bg1">
              <a:lumMod val="95000"/>
            </a:schemeClr>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2" name="TextBox 11">
            <a:extLst>
              <a:ext uri="{FF2B5EF4-FFF2-40B4-BE49-F238E27FC236}">
                <a16:creationId xmlns:a16="http://schemas.microsoft.com/office/drawing/2014/main" id="{0D2010BD-9A13-C92B-DFE9-4749D7B8355A}"/>
              </a:ext>
            </a:extLst>
          </p:cNvPr>
          <p:cNvSpPr txBox="1"/>
          <p:nvPr/>
        </p:nvSpPr>
        <p:spPr>
          <a:xfrm>
            <a:off x="897496" y="2700656"/>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lang="en-US" sz="1500" b="0" i="0" u="none" strike="noStrike" kern="1200" cap="none" spc="0" normalizeH="0" baseline="0" noProof="0">
                <a:ln>
                  <a:noFill/>
                </a:ln>
                <a:solidFill>
                  <a:srgbClr val="FFFFFF"/>
                </a:solidFill>
                <a:effectLst/>
                <a:uLnTx/>
                <a:uFillTx/>
                <a:latin typeface="Segoe UI"/>
                <a:ea typeface="+mn-ea"/>
                <a:cs typeface="+mn-cs"/>
              </a:rPr>
              <a:t>💻</a:t>
            </a:r>
            <a:endParaRPr kumimoji="0" sz="1500" b="0" i="0" u="none" strike="noStrike" kern="1200" cap="none" spc="0" normalizeH="0" baseline="0" noProof="0">
              <a:ln>
                <a:noFill/>
              </a:ln>
              <a:solidFill>
                <a:srgbClr val="FFFFFF"/>
              </a:solidFill>
              <a:effectLst/>
              <a:uLnTx/>
              <a:uFillTx/>
              <a:latin typeface="Segoe UI"/>
              <a:ea typeface="+mn-ea"/>
              <a:cs typeface="+mn-cs"/>
            </a:endParaRPr>
          </a:p>
        </p:txBody>
      </p:sp>
      <p:sp>
        <p:nvSpPr>
          <p:cNvPr id="15" name="Rounded Rectangle 14">
            <a:extLst>
              <a:ext uri="{FF2B5EF4-FFF2-40B4-BE49-F238E27FC236}">
                <a16:creationId xmlns:a16="http://schemas.microsoft.com/office/drawing/2014/main" id="{1C34F5DB-7579-5AF1-0482-66F5DE987286}"/>
              </a:ext>
            </a:extLst>
          </p:cNvPr>
          <p:cNvSpPr/>
          <p:nvPr/>
        </p:nvSpPr>
        <p:spPr>
          <a:xfrm>
            <a:off x="759644" y="3140604"/>
            <a:ext cx="3011709" cy="404053"/>
          </a:xfrm>
          <a:prstGeom prst="roundRect">
            <a:avLst/>
          </a:prstGeom>
          <a:solidFill>
            <a:schemeClr val="bg1">
              <a:lumMod val="95000"/>
            </a:schemeClr>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6" name="TextBox 15">
            <a:extLst>
              <a:ext uri="{FF2B5EF4-FFF2-40B4-BE49-F238E27FC236}">
                <a16:creationId xmlns:a16="http://schemas.microsoft.com/office/drawing/2014/main" id="{A6B40CCB-513E-2B86-ABAC-7516056F84EC}"/>
              </a:ext>
            </a:extLst>
          </p:cNvPr>
          <p:cNvSpPr txBox="1"/>
          <p:nvPr/>
        </p:nvSpPr>
        <p:spPr>
          <a:xfrm>
            <a:off x="897496" y="3234106"/>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19" name="Rounded Rectangle 18">
            <a:extLst>
              <a:ext uri="{FF2B5EF4-FFF2-40B4-BE49-F238E27FC236}">
                <a16:creationId xmlns:a16="http://schemas.microsoft.com/office/drawing/2014/main" id="{43AF6961-D8E2-0A82-9F3B-57A1A6D5C31A}"/>
              </a:ext>
            </a:extLst>
          </p:cNvPr>
          <p:cNvSpPr/>
          <p:nvPr/>
        </p:nvSpPr>
        <p:spPr>
          <a:xfrm>
            <a:off x="741356" y="3705790"/>
            <a:ext cx="3027459" cy="404053"/>
          </a:xfrm>
          <a:prstGeom prst="roundRect">
            <a:avLst/>
          </a:prstGeom>
          <a:solidFill>
            <a:schemeClr val="bg1">
              <a:lumMod val="95000"/>
            </a:schemeClr>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20" name="TextBox 19">
            <a:extLst>
              <a:ext uri="{FF2B5EF4-FFF2-40B4-BE49-F238E27FC236}">
                <a16:creationId xmlns:a16="http://schemas.microsoft.com/office/drawing/2014/main" id="{3502CE99-8091-8AE0-85E2-9D0057E2E570}"/>
              </a:ext>
            </a:extLst>
          </p:cNvPr>
          <p:cNvSpPr txBox="1"/>
          <p:nvPr/>
        </p:nvSpPr>
        <p:spPr>
          <a:xfrm>
            <a:off x="897496" y="3816545"/>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88" name="Title 87">
            <a:extLst>
              <a:ext uri="{FF2B5EF4-FFF2-40B4-BE49-F238E27FC236}">
                <a16:creationId xmlns:a16="http://schemas.microsoft.com/office/drawing/2014/main" id="{4F7380AA-0046-C3FC-66BD-5BCE54DB147F}"/>
              </a:ext>
            </a:extLst>
          </p:cNvPr>
          <p:cNvSpPr>
            <a:spLocks noGrp="1"/>
          </p:cNvSpPr>
          <p:nvPr>
            <p:ph type="title"/>
          </p:nvPr>
        </p:nvSpPr>
        <p:spPr>
          <a:xfrm>
            <a:off x="588263" y="768096"/>
            <a:ext cx="11018520" cy="923330"/>
          </a:xfrm>
        </p:spPr>
        <p:txBody>
          <a:bodyPr>
            <a:normAutofit fontScale="90000"/>
          </a:bodyPr>
          <a:lstStyle/>
          <a:p>
            <a:r>
              <a:rPr lang="en-US"/>
              <a:t>Azure SRE Agent</a:t>
            </a:r>
            <a:br>
              <a:rPr lang="en-US"/>
            </a:br>
            <a:endParaRPr lang="en-US" sz="2400" b="1" spc="0">
              <a:ln>
                <a:noFill/>
              </a:ln>
              <a:solidFill>
                <a:schemeClr val="tx1"/>
              </a:solidFill>
              <a:cs typeface="Cascadia Code" panose="020B0609020000020004" pitchFamily="49" charset="0"/>
            </a:endParaRPr>
          </a:p>
        </p:txBody>
      </p:sp>
      <p:sp>
        <p:nvSpPr>
          <p:cNvPr id="107" name="TextBox 106">
            <a:extLst>
              <a:ext uri="{FF2B5EF4-FFF2-40B4-BE49-F238E27FC236}">
                <a16:creationId xmlns:a16="http://schemas.microsoft.com/office/drawing/2014/main" id="{FA477536-B4B0-FD60-2E05-7F9006FA0313}"/>
              </a:ext>
            </a:extLst>
          </p:cNvPr>
          <p:cNvSpPr txBox="1"/>
          <p:nvPr/>
        </p:nvSpPr>
        <p:spPr>
          <a:xfrm>
            <a:off x="1333594" y="2004354"/>
            <a:ext cx="1751649" cy="369332"/>
          </a:xfrm>
          <a:prstGeom prst="rect">
            <a:avLst/>
          </a:prstGeom>
          <a:noFill/>
        </p:spPr>
        <p:txBody>
          <a:bodyPr wrap="square" lIns="0" tIns="0" rIns="0" bIns="0" rtlCol="0">
            <a:spAutoFit/>
          </a:bodyPr>
          <a:lstStyle/>
          <a:p>
            <a:pPr algn="l"/>
            <a:r>
              <a:rPr lang="en-US" sz="2400" b="1">
                <a:latin typeface="+mj-lt"/>
                <a:cs typeface="Cascadia Code" panose="020B0609020000020004" pitchFamily="49" charset="0"/>
              </a:rPr>
              <a:t>User</a:t>
            </a:r>
          </a:p>
        </p:txBody>
      </p:sp>
      <p:sp>
        <p:nvSpPr>
          <p:cNvPr id="108" name="TextBox 107">
            <a:extLst>
              <a:ext uri="{FF2B5EF4-FFF2-40B4-BE49-F238E27FC236}">
                <a16:creationId xmlns:a16="http://schemas.microsoft.com/office/drawing/2014/main" id="{C9AF3A26-87B4-852B-0708-75E7C28FDFBE}"/>
              </a:ext>
            </a:extLst>
          </p:cNvPr>
          <p:cNvSpPr txBox="1"/>
          <p:nvPr/>
        </p:nvSpPr>
        <p:spPr>
          <a:xfrm>
            <a:off x="1333594" y="2687666"/>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Portal / CLI</a:t>
            </a:r>
          </a:p>
        </p:txBody>
      </p:sp>
      <p:sp>
        <p:nvSpPr>
          <p:cNvPr id="109" name="TextBox 108">
            <a:extLst>
              <a:ext uri="{FF2B5EF4-FFF2-40B4-BE49-F238E27FC236}">
                <a16:creationId xmlns:a16="http://schemas.microsoft.com/office/drawing/2014/main" id="{43CCE913-A872-7CE8-6EF2-7C229A4EC177}"/>
              </a:ext>
            </a:extLst>
          </p:cNvPr>
          <p:cNvSpPr txBox="1"/>
          <p:nvPr/>
        </p:nvSpPr>
        <p:spPr>
          <a:xfrm>
            <a:off x="1333594" y="3219520"/>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Alerts and incidents</a:t>
            </a:r>
          </a:p>
        </p:txBody>
      </p:sp>
      <p:sp>
        <p:nvSpPr>
          <p:cNvPr id="110" name="TextBox 109">
            <a:extLst>
              <a:ext uri="{FF2B5EF4-FFF2-40B4-BE49-F238E27FC236}">
                <a16:creationId xmlns:a16="http://schemas.microsoft.com/office/drawing/2014/main" id="{8F196360-5A15-9129-CFF6-A6C5162A80C6}"/>
              </a:ext>
            </a:extLst>
          </p:cNvPr>
          <p:cNvSpPr txBox="1"/>
          <p:nvPr/>
        </p:nvSpPr>
        <p:spPr>
          <a:xfrm>
            <a:off x="1333594" y="3784706"/>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Scheduled Tasks</a:t>
            </a:r>
          </a:p>
        </p:txBody>
      </p:sp>
      <p:sp>
        <p:nvSpPr>
          <p:cNvPr id="111" name="TextBox 110">
            <a:extLst>
              <a:ext uri="{FF2B5EF4-FFF2-40B4-BE49-F238E27FC236}">
                <a16:creationId xmlns:a16="http://schemas.microsoft.com/office/drawing/2014/main" id="{EDC912D5-93D0-ECF9-FB8D-992674BE8EBB}"/>
              </a:ext>
            </a:extLst>
          </p:cNvPr>
          <p:cNvSpPr txBox="1"/>
          <p:nvPr/>
        </p:nvSpPr>
        <p:spPr>
          <a:xfrm>
            <a:off x="5300064" y="2004354"/>
            <a:ext cx="1751649" cy="369332"/>
          </a:xfrm>
          <a:prstGeom prst="rect">
            <a:avLst/>
          </a:prstGeom>
          <a:noFill/>
        </p:spPr>
        <p:txBody>
          <a:bodyPr wrap="square" lIns="0" tIns="0" rIns="0" bIns="0" rtlCol="0">
            <a:spAutoFit/>
          </a:bodyPr>
          <a:lstStyle/>
          <a:p>
            <a:pPr algn="l"/>
            <a:r>
              <a:rPr lang="en-US" sz="2400" b="1">
                <a:latin typeface="+mj-lt"/>
                <a:cs typeface="Cascadia Code" panose="020B0609020000020004" pitchFamily="49" charset="0"/>
              </a:rPr>
              <a:t>SRE Agent</a:t>
            </a:r>
          </a:p>
        </p:txBody>
      </p:sp>
      <p:sp>
        <p:nvSpPr>
          <p:cNvPr id="115" name="Rounded Rectangle 10">
            <a:extLst>
              <a:ext uri="{FF2B5EF4-FFF2-40B4-BE49-F238E27FC236}">
                <a16:creationId xmlns:a16="http://schemas.microsoft.com/office/drawing/2014/main" id="{72FBC714-3703-3386-7DF1-05E00C065ED5}"/>
              </a:ext>
            </a:extLst>
          </p:cNvPr>
          <p:cNvSpPr/>
          <p:nvPr/>
        </p:nvSpPr>
        <p:spPr>
          <a:xfrm>
            <a:off x="4707826" y="2580708"/>
            <a:ext cx="3027459" cy="404053"/>
          </a:xfrm>
          <a:prstGeom prst="roundRect">
            <a:avLst/>
          </a:prstGeom>
          <a:solidFill>
            <a:schemeClr val="bg1">
              <a:lumMod val="95000"/>
            </a:schemeClr>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16" name="Rounded Rectangle 14">
            <a:extLst>
              <a:ext uri="{FF2B5EF4-FFF2-40B4-BE49-F238E27FC236}">
                <a16:creationId xmlns:a16="http://schemas.microsoft.com/office/drawing/2014/main" id="{B884FB6A-946A-6610-238C-068985836067}"/>
              </a:ext>
            </a:extLst>
          </p:cNvPr>
          <p:cNvSpPr/>
          <p:nvPr/>
        </p:nvSpPr>
        <p:spPr>
          <a:xfrm>
            <a:off x="4726114" y="3140604"/>
            <a:ext cx="3011709" cy="404053"/>
          </a:xfrm>
          <a:prstGeom prst="roundRect">
            <a:avLst/>
          </a:prstGeom>
          <a:solidFill>
            <a:schemeClr val="bg1">
              <a:lumMod val="95000"/>
            </a:schemeClr>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18" name="TextBox 117">
            <a:extLst>
              <a:ext uri="{FF2B5EF4-FFF2-40B4-BE49-F238E27FC236}">
                <a16:creationId xmlns:a16="http://schemas.microsoft.com/office/drawing/2014/main" id="{8BE2B26A-BF8A-E02A-5354-E8D440725736}"/>
              </a:ext>
            </a:extLst>
          </p:cNvPr>
          <p:cNvSpPr txBox="1"/>
          <p:nvPr/>
        </p:nvSpPr>
        <p:spPr>
          <a:xfrm>
            <a:off x="5300064" y="2659624"/>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Reasoning Engine</a:t>
            </a:r>
          </a:p>
        </p:txBody>
      </p:sp>
      <p:sp>
        <p:nvSpPr>
          <p:cNvPr id="33" name="TextBox 32">
            <a:extLst>
              <a:ext uri="{FF2B5EF4-FFF2-40B4-BE49-F238E27FC236}">
                <a16:creationId xmlns:a16="http://schemas.microsoft.com/office/drawing/2014/main" id="{F3D09811-6D96-A3B4-4B1C-98655D00C4C4}"/>
              </a:ext>
            </a:extLst>
          </p:cNvPr>
          <p:cNvSpPr txBox="1"/>
          <p:nvPr/>
        </p:nvSpPr>
        <p:spPr>
          <a:xfrm>
            <a:off x="4865912" y="268667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117" name="Rounded Rectangle 18">
            <a:extLst>
              <a:ext uri="{FF2B5EF4-FFF2-40B4-BE49-F238E27FC236}">
                <a16:creationId xmlns:a16="http://schemas.microsoft.com/office/drawing/2014/main" id="{097CC6FE-573C-E7B3-19D3-A8408A746A30}"/>
              </a:ext>
            </a:extLst>
          </p:cNvPr>
          <p:cNvSpPr/>
          <p:nvPr/>
        </p:nvSpPr>
        <p:spPr>
          <a:xfrm>
            <a:off x="4707826" y="3700500"/>
            <a:ext cx="3027459" cy="404053"/>
          </a:xfrm>
          <a:prstGeom prst="roundRect">
            <a:avLst/>
          </a:prstGeom>
          <a:solidFill>
            <a:schemeClr val="bg1">
              <a:lumMod val="95000"/>
            </a:schemeClr>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19" name="TextBox 118">
            <a:extLst>
              <a:ext uri="{FF2B5EF4-FFF2-40B4-BE49-F238E27FC236}">
                <a16:creationId xmlns:a16="http://schemas.microsoft.com/office/drawing/2014/main" id="{EFBE154F-45C6-7C2B-1AF6-F6FEEF8C57B1}"/>
              </a:ext>
            </a:extLst>
          </p:cNvPr>
          <p:cNvSpPr txBox="1"/>
          <p:nvPr/>
        </p:nvSpPr>
        <p:spPr>
          <a:xfrm>
            <a:off x="5300064" y="3219520"/>
            <a:ext cx="2507958"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Code Sandbox + Interpreter</a:t>
            </a:r>
          </a:p>
        </p:txBody>
      </p:sp>
      <p:sp>
        <p:nvSpPr>
          <p:cNvPr id="120" name="TextBox 119">
            <a:extLst>
              <a:ext uri="{FF2B5EF4-FFF2-40B4-BE49-F238E27FC236}">
                <a16:creationId xmlns:a16="http://schemas.microsoft.com/office/drawing/2014/main" id="{72501FCC-A946-B8D7-4206-36F372E093F5}"/>
              </a:ext>
            </a:extLst>
          </p:cNvPr>
          <p:cNvSpPr txBox="1"/>
          <p:nvPr/>
        </p:nvSpPr>
        <p:spPr>
          <a:xfrm>
            <a:off x="5300063" y="3779416"/>
            <a:ext cx="2373313" cy="492443"/>
          </a:xfrm>
          <a:prstGeom prst="rect">
            <a:avLst/>
          </a:prstGeom>
          <a:noFill/>
        </p:spPr>
        <p:txBody>
          <a:bodyPr wrap="square" lIns="0" tIns="0" rIns="0" bIns="0" rtlCol="0">
            <a:spAutoFit/>
          </a:bodyPr>
          <a:lstStyle/>
          <a:p>
            <a:r>
              <a:rPr lang="en-US" sz="1600" b="1">
                <a:latin typeface="+mj-lt"/>
                <a:cs typeface="Cascadia Code" panose="020B0609020000020004" pitchFamily="49" charset="0"/>
              </a:rPr>
              <a:t>Connectors, </a:t>
            </a:r>
            <a:r>
              <a:rPr lang="en-US" sz="1600" b="1">
                <a:cs typeface="Cascadia Code" panose="020B0609020000020004" pitchFamily="49" charset="0"/>
              </a:rPr>
              <a:t>Skills and tools</a:t>
            </a:r>
          </a:p>
          <a:p>
            <a:pPr algn="l"/>
            <a:endParaRPr lang="en-US" sz="1600" b="1">
              <a:latin typeface="+mj-lt"/>
              <a:cs typeface="Cascadia Code" panose="020B0609020000020004" pitchFamily="49" charset="0"/>
            </a:endParaRPr>
          </a:p>
        </p:txBody>
      </p:sp>
      <p:sp>
        <p:nvSpPr>
          <p:cNvPr id="121" name="Rounded Rectangle 18">
            <a:extLst>
              <a:ext uri="{FF2B5EF4-FFF2-40B4-BE49-F238E27FC236}">
                <a16:creationId xmlns:a16="http://schemas.microsoft.com/office/drawing/2014/main" id="{B62A397F-F498-8096-F906-1D158CB54BAF}"/>
              </a:ext>
            </a:extLst>
          </p:cNvPr>
          <p:cNvSpPr/>
          <p:nvPr/>
        </p:nvSpPr>
        <p:spPr>
          <a:xfrm>
            <a:off x="4707826" y="4232354"/>
            <a:ext cx="3027459" cy="404053"/>
          </a:xfrm>
          <a:prstGeom prst="roundRect">
            <a:avLst/>
          </a:prstGeom>
          <a:solidFill>
            <a:schemeClr val="bg1">
              <a:lumMod val="95000"/>
            </a:schemeClr>
          </a:solidFill>
          <a:ln>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22" name="TextBox 121">
            <a:extLst>
              <a:ext uri="{FF2B5EF4-FFF2-40B4-BE49-F238E27FC236}">
                <a16:creationId xmlns:a16="http://schemas.microsoft.com/office/drawing/2014/main" id="{2D441862-B53E-8821-0ECC-F55436241C15}"/>
              </a:ext>
            </a:extLst>
          </p:cNvPr>
          <p:cNvSpPr txBox="1"/>
          <p:nvPr/>
        </p:nvSpPr>
        <p:spPr>
          <a:xfrm>
            <a:off x="5300064" y="4311270"/>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Knowledge and memory</a:t>
            </a:r>
          </a:p>
        </p:txBody>
      </p:sp>
      <p:sp>
        <p:nvSpPr>
          <p:cNvPr id="37" name="TextBox 36">
            <a:extLst>
              <a:ext uri="{FF2B5EF4-FFF2-40B4-BE49-F238E27FC236}">
                <a16:creationId xmlns:a16="http://schemas.microsoft.com/office/drawing/2014/main" id="{147615CE-958B-1E4F-E039-4EF6013E124D}"/>
              </a:ext>
            </a:extLst>
          </p:cNvPr>
          <p:cNvSpPr txBox="1"/>
          <p:nvPr/>
        </p:nvSpPr>
        <p:spPr>
          <a:xfrm>
            <a:off x="4865912" y="3246463"/>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41" name="TextBox 40">
            <a:extLst>
              <a:ext uri="{FF2B5EF4-FFF2-40B4-BE49-F238E27FC236}">
                <a16:creationId xmlns:a16="http://schemas.microsoft.com/office/drawing/2014/main" id="{19C193C7-E3B1-E8CE-3B02-D8FB69472C73}"/>
              </a:ext>
            </a:extLst>
          </p:cNvPr>
          <p:cNvSpPr txBox="1"/>
          <p:nvPr/>
        </p:nvSpPr>
        <p:spPr>
          <a:xfrm>
            <a:off x="4865912" y="3800774"/>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45" name="TextBox 44">
            <a:extLst>
              <a:ext uri="{FF2B5EF4-FFF2-40B4-BE49-F238E27FC236}">
                <a16:creationId xmlns:a16="http://schemas.microsoft.com/office/drawing/2014/main" id="{DFD596BD-F994-31D9-10DC-875371B2C65E}"/>
              </a:ext>
            </a:extLst>
          </p:cNvPr>
          <p:cNvSpPr txBox="1"/>
          <p:nvPr/>
        </p:nvSpPr>
        <p:spPr>
          <a:xfrm>
            <a:off x="4865912" y="432461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129" name="TextBox 128">
            <a:extLst>
              <a:ext uri="{FF2B5EF4-FFF2-40B4-BE49-F238E27FC236}">
                <a16:creationId xmlns:a16="http://schemas.microsoft.com/office/drawing/2014/main" id="{CCF4A9A6-A3F2-B56B-DE5C-9B6EB3A2EBCC}"/>
              </a:ext>
            </a:extLst>
          </p:cNvPr>
          <p:cNvSpPr txBox="1"/>
          <p:nvPr/>
        </p:nvSpPr>
        <p:spPr>
          <a:xfrm>
            <a:off x="8973802" y="2004354"/>
            <a:ext cx="2583161" cy="369332"/>
          </a:xfrm>
          <a:prstGeom prst="rect">
            <a:avLst/>
          </a:prstGeom>
          <a:noFill/>
        </p:spPr>
        <p:txBody>
          <a:bodyPr wrap="square" lIns="0" tIns="0" rIns="0" bIns="0" rtlCol="0">
            <a:spAutoFit/>
          </a:bodyPr>
          <a:lstStyle/>
          <a:p>
            <a:pPr algn="l"/>
            <a:r>
              <a:rPr lang="en-US" sz="2400" b="1">
                <a:latin typeface="+mj-lt"/>
                <a:cs typeface="Cascadia Code" panose="020B0609020000020004" pitchFamily="49" charset="0"/>
              </a:rPr>
              <a:t>Cloud resources</a:t>
            </a:r>
          </a:p>
        </p:txBody>
      </p:sp>
      <p:sp>
        <p:nvSpPr>
          <p:cNvPr id="130" name="Rounded Rectangle 10">
            <a:extLst>
              <a:ext uri="{FF2B5EF4-FFF2-40B4-BE49-F238E27FC236}">
                <a16:creationId xmlns:a16="http://schemas.microsoft.com/office/drawing/2014/main" id="{3B829525-1094-3945-2922-EFD88C5E59AC}"/>
              </a:ext>
            </a:extLst>
          </p:cNvPr>
          <p:cNvSpPr/>
          <p:nvPr/>
        </p:nvSpPr>
        <p:spPr>
          <a:xfrm>
            <a:off x="8381564" y="2580708"/>
            <a:ext cx="3027459" cy="404053"/>
          </a:xfrm>
          <a:prstGeom prst="roundRect">
            <a:avLst/>
          </a:prstGeom>
          <a:solidFill>
            <a:schemeClr val="bg1">
              <a:lumMod val="95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31" name="Rounded Rectangle 14">
            <a:extLst>
              <a:ext uri="{FF2B5EF4-FFF2-40B4-BE49-F238E27FC236}">
                <a16:creationId xmlns:a16="http://schemas.microsoft.com/office/drawing/2014/main" id="{1771DF7B-5E72-4E56-4D30-2DD00D4350D7}"/>
              </a:ext>
            </a:extLst>
          </p:cNvPr>
          <p:cNvSpPr/>
          <p:nvPr/>
        </p:nvSpPr>
        <p:spPr>
          <a:xfrm>
            <a:off x="8399852" y="3140604"/>
            <a:ext cx="3011709" cy="404053"/>
          </a:xfrm>
          <a:prstGeom prst="roundRect">
            <a:avLst/>
          </a:prstGeom>
          <a:solidFill>
            <a:schemeClr val="bg1">
              <a:lumMod val="95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32" name="TextBox 131">
            <a:extLst>
              <a:ext uri="{FF2B5EF4-FFF2-40B4-BE49-F238E27FC236}">
                <a16:creationId xmlns:a16="http://schemas.microsoft.com/office/drawing/2014/main" id="{9FD63A25-51FE-DE88-F28E-8A98626E3050}"/>
              </a:ext>
            </a:extLst>
          </p:cNvPr>
          <p:cNvSpPr txBox="1"/>
          <p:nvPr/>
        </p:nvSpPr>
        <p:spPr>
          <a:xfrm>
            <a:off x="8973802" y="2659624"/>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Metrics and logs</a:t>
            </a:r>
          </a:p>
        </p:txBody>
      </p:sp>
      <p:sp>
        <p:nvSpPr>
          <p:cNvPr id="134" name="Rounded Rectangle 18">
            <a:extLst>
              <a:ext uri="{FF2B5EF4-FFF2-40B4-BE49-F238E27FC236}">
                <a16:creationId xmlns:a16="http://schemas.microsoft.com/office/drawing/2014/main" id="{9977E1BA-87B9-BCA4-FA17-FC2D329E87DA}"/>
              </a:ext>
            </a:extLst>
          </p:cNvPr>
          <p:cNvSpPr/>
          <p:nvPr/>
        </p:nvSpPr>
        <p:spPr>
          <a:xfrm>
            <a:off x="8381564" y="3699220"/>
            <a:ext cx="3027459" cy="404053"/>
          </a:xfrm>
          <a:prstGeom prst="roundRect">
            <a:avLst/>
          </a:prstGeom>
          <a:solidFill>
            <a:schemeClr val="bg1">
              <a:lumMod val="95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35" name="TextBox 134">
            <a:extLst>
              <a:ext uri="{FF2B5EF4-FFF2-40B4-BE49-F238E27FC236}">
                <a16:creationId xmlns:a16="http://schemas.microsoft.com/office/drawing/2014/main" id="{E2E866EF-7625-A81D-6874-C60D3F0B2584}"/>
              </a:ext>
            </a:extLst>
          </p:cNvPr>
          <p:cNvSpPr txBox="1"/>
          <p:nvPr/>
        </p:nvSpPr>
        <p:spPr>
          <a:xfrm>
            <a:off x="8973802" y="3219520"/>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Compute and Apps</a:t>
            </a:r>
          </a:p>
        </p:txBody>
      </p:sp>
      <p:sp>
        <p:nvSpPr>
          <p:cNvPr id="136" name="TextBox 135">
            <a:extLst>
              <a:ext uri="{FF2B5EF4-FFF2-40B4-BE49-F238E27FC236}">
                <a16:creationId xmlns:a16="http://schemas.microsoft.com/office/drawing/2014/main" id="{34486148-A4DB-A766-0D7F-0E4234C189A6}"/>
              </a:ext>
            </a:extLst>
          </p:cNvPr>
          <p:cNvSpPr txBox="1"/>
          <p:nvPr/>
        </p:nvSpPr>
        <p:spPr>
          <a:xfrm>
            <a:off x="8973802" y="3778136"/>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Data and infra</a:t>
            </a:r>
          </a:p>
        </p:txBody>
      </p:sp>
      <p:sp>
        <p:nvSpPr>
          <p:cNvPr id="137" name="Rounded Rectangle 18">
            <a:extLst>
              <a:ext uri="{FF2B5EF4-FFF2-40B4-BE49-F238E27FC236}">
                <a16:creationId xmlns:a16="http://schemas.microsoft.com/office/drawing/2014/main" id="{06CFF682-6E4B-DF1E-5500-ADFD36C3E522}"/>
              </a:ext>
            </a:extLst>
          </p:cNvPr>
          <p:cNvSpPr/>
          <p:nvPr/>
        </p:nvSpPr>
        <p:spPr>
          <a:xfrm>
            <a:off x="8381564" y="4231074"/>
            <a:ext cx="3027459" cy="404053"/>
          </a:xfrm>
          <a:prstGeom prst="roundRect">
            <a:avLst/>
          </a:prstGeom>
          <a:solidFill>
            <a:schemeClr val="bg1">
              <a:lumMod val="95000"/>
            </a:schemeClr>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138" name="TextBox 137">
            <a:extLst>
              <a:ext uri="{FF2B5EF4-FFF2-40B4-BE49-F238E27FC236}">
                <a16:creationId xmlns:a16="http://schemas.microsoft.com/office/drawing/2014/main" id="{5B06F0E9-8AC6-9F04-1D86-2196036D9AE9}"/>
              </a:ext>
            </a:extLst>
          </p:cNvPr>
          <p:cNvSpPr txBox="1"/>
          <p:nvPr/>
        </p:nvSpPr>
        <p:spPr>
          <a:xfrm>
            <a:off x="8973802" y="4309990"/>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3</a:t>
            </a:r>
            <a:r>
              <a:rPr lang="en-US" sz="1600" b="1" baseline="30000">
                <a:latin typeface="+mj-lt"/>
                <a:cs typeface="Cascadia Code" panose="020B0609020000020004" pitchFamily="49" charset="0"/>
              </a:rPr>
              <a:t>rd</a:t>
            </a:r>
            <a:r>
              <a:rPr lang="en-US" sz="1600" b="1">
                <a:latin typeface="+mj-lt"/>
                <a:cs typeface="Cascadia Code" panose="020B0609020000020004" pitchFamily="49" charset="0"/>
              </a:rPr>
              <a:t> party and custom</a:t>
            </a:r>
          </a:p>
        </p:txBody>
      </p:sp>
      <p:sp>
        <p:nvSpPr>
          <p:cNvPr id="58" name="TextBox 57">
            <a:extLst>
              <a:ext uri="{FF2B5EF4-FFF2-40B4-BE49-F238E27FC236}">
                <a16:creationId xmlns:a16="http://schemas.microsoft.com/office/drawing/2014/main" id="{A10ED77B-088B-83EC-8723-F2F35BC53206}"/>
              </a:ext>
            </a:extLst>
          </p:cNvPr>
          <p:cNvSpPr txBox="1"/>
          <p:nvPr/>
        </p:nvSpPr>
        <p:spPr>
          <a:xfrm>
            <a:off x="8548182" y="267445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62" name="TextBox 61">
            <a:extLst>
              <a:ext uri="{FF2B5EF4-FFF2-40B4-BE49-F238E27FC236}">
                <a16:creationId xmlns:a16="http://schemas.microsoft.com/office/drawing/2014/main" id="{4401835F-F2A5-660A-17A6-DD1FD605B83B}"/>
              </a:ext>
            </a:extLst>
          </p:cNvPr>
          <p:cNvSpPr txBox="1"/>
          <p:nvPr/>
        </p:nvSpPr>
        <p:spPr>
          <a:xfrm>
            <a:off x="8548182" y="3213669"/>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66" name="TextBox 65">
            <a:extLst>
              <a:ext uri="{FF2B5EF4-FFF2-40B4-BE49-F238E27FC236}">
                <a16:creationId xmlns:a16="http://schemas.microsoft.com/office/drawing/2014/main" id="{8D450EF7-CD34-CFD6-15D4-BBA61567D210}"/>
              </a:ext>
            </a:extLst>
          </p:cNvPr>
          <p:cNvSpPr txBox="1"/>
          <p:nvPr/>
        </p:nvSpPr>
        <p:spPr>
          <a:xfrm>
            <a:off x="8548182" y="3784168"/>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70" name="TextBox 69">
            <a:extLst>
              <a:ext uri="{FF2B5EF4-FFF2-40B4-BE49-F238E27FC236}">
                <a16:creationId xmlns:a16="http://schemas.microsoft.com/office/drawing/2014/main" id="{44B35ABA-DD28-38D9-885D-D7AA7B499C3C}"/>
              </a:ext>
            </a:extLst>
          </p:cNvPr>
          <p:cNvSpPr txBox="1"/>
          <p:nvPr/>
        </p:nvSpPr>
        <p:spPr>
          <a:xfrm>
            <a:off x="8548182" y="4331091"/>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sz="1500" b="0" i="0" u="none" strike="noStrike" kern="1200" cap="none" spc="0" normalizeH="0" baseline="0" noProof="0">
                <a:ln>
                  <a:noFill/>
                </a:ln>
                <a:solidFill>
                  <a:srgbClr val="FFFFFF"/>
                </a:solidFill>
                <a:effectLst/>
                <a:uLnTx/>
                <a:uFillTx/>
                <a:latin typeface="Segoe UI"/>
                <a:ea typeface="+mn-ea"/>
                <a:cs typeface="+mn-cs"/>
              </a:rPr>
              <a:t>🌍</a:t>
            </a:r>
          </a:p>
        </p:txBody>
      </p:sp>
      <p:sp>
        <p:nvSpPr>
          <p:cNvPr id="73" name="Rounded Rectangle 72">
            <a:extLst>
              <a:ext uri="{FF2B5EF4-FFF2-40B4-BE49-F238E27FC236}">
                <a16:creationId xmlns:a16="http://schemas.microsoft.com/office/drawing/2014/main" id="{9D01D1D8-8469-A4E3-0299-F9BDBE33AFE2}"/>
              </a:ext>
            </a:extLst>
          </p:cNvPr>
          <p:cNvSpPr/>
          <p:nvPr/>
        </p:nvSpPr>
        <p:spPr>
          <a:xfrm>
            <a:off x="604197" y="5033856"/>
            <a:ext cx="11002586" cy="1178102"/>
          </a:xfrm>
          <a:prstGeom prst="roundRect">
            <a:avLst>
              <a:gd name="adj" fmla="val 12449"/>
            </a:avLst>
          </a:prstGeom>
          <a:solidFill>
            <a:schemeClr val="bg2"/>
          </a:solidFill>
          <a:ln w="12700">
            <a:noFill/>
          </a:ln>
          <a:effectLst>
            <a:outerShdw blurRad="50800" dist="38100" dir="2700000" algn="tl" rotWithShape="0">
              <a:prstClr val="black">
                <a:alpha val="40000"/>
              </a:prstClr>
            </a:outerShdw>
          </a:effectLst>
        </p:spPr>
        <p:txBody>
          <a:bodyPr wrap="square" lIns="0" tIns="0" rIns="0" bIns="0" rtlCol="0" anchor="ctr">
            <a:noAutofit/>
          </a:bodyPr>
          <a:lstStyle/>
          <a:p>
            <a:pPr algn="ctr" defTabSz="1219139">
              <a:spcBef>
                <a:spcPts val="711"/>
              </a:spcBef>
              <a:buClr>
                <a:srgbClr val="000000"/>
              </a:buClr>
            </a:pPr>
            <a:endParaRPr sz="1600">
              <a:ln w="3175">
                <a:noFill/>
              </a:ln>
              <a:solidFill>
                <a:srgbClr val="FFFFFF"/>
              </a:solidFill>
              <a:latin typeface="Helvetica"/>
              <a:cs typeface="Helvetica" panose="020B0604020202020204" pitchFamily="34" charset="0"/>
            </a:endParaRPr>
          </a:p>
        </p:txBody>
      </p:sp>
      <p:sp>
        <p:nvSpPr>
          <p:cNvPr id="75" name="TextBox 74">
            <a:extLst>
              <a:ext uri="{FF2B5EF4-FFF2-40B4-BE49-F238E27FC236}">
                <a16:creationId xmlns:a16="http://schemas.microsoft.com/office/drawing/2014/main" id="{181486FE-9A48-1936-E32B-3B7487B5A365}"/>
              </a:ext>
            </a:extLst>
          </p:cNvPr>
          <p:cNvSpPr txBox="1"/>
          <p:nvPr/>
        </p:nvSpPr>
        <p:spPr>
          <a:xfrm>
            <a:off x="4890978" y="534902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400" b="0">
                <a:solidFill>
                  <a:srgbClr val="FFFFFF"/>
                </a:solidFill>
                <a:latin typeface="Segoe UI"/>
              </a:defRPr>
            </a:pPr>
            <a:r>
              <a:rPr kumimoji="0" sz="1400" b="0" i="0" u="none" strike="noStrike" kern="1200" cap="none" spc="0" normalizeH="0" baseline="0" noProof="0">
                <a:ln>
                  <a:noFill/>
                </a:ln>
                <a:solidFill>
                  <a:srgbClr val="FFFFFF"/>
                </a:solidFill>
                <a:effectLst/>
                <a:uLnTx/>
                <a:uFillTx/>
                <a:latin typeface="Segoe UI"/>
                <a:ea typeface="+mn-ea"/>
                <a:cs typeface="+mn-cs"/>
              </a:rPr>
              <a:t>🛡️</a:t>
            </a:r>
          </a:p>
        </p:txBody>
      </p:sp>
      <p:sp>
        <p:nvSpPr>
          <p:cNvPr id="78" name="TextBox 77">
            <a:extLst>
              <a:ext uri="{FF2B5EF4-FFF2-40B4-BE49-F238E27FC236}">
                <a16:creationId xmlns:a16="http://schemas.microsoft.com/office/drawing/2014/main" id="{F460ABA2-8FE3-DC50-1D76-D6227B04F6A9}"/>
              </a:ext>
            </a:extLst>
          </p:cNvPr>
          <p:cNvSpPr txBox="1"/>
          <p:nvPr/>
        </p:nvSpPr>
        <p:spPr>
          <a:xfrm>
            <a:off x="6693391" y="534902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400" b="0">
                <a:solidFill>
                  <a:srgbClr val="FFFFFF"/>
                </a:solidFill>
                <a:latin typeface="Segoe UI"/>
              </a:defRPr>
            </a:pPr>
            <a:r>
              <a:rPr kumimoji="0" sz="1400" b="0" i="0" u="none" strike="noStrike" kern="1200" cap="none" spc="0" normalizeH="0" baseline="0" noProof="0">
                <a:ln>
                  <a:noFill/>
                </a:ln>
                <a:solidFill>
                  <a:srgbClr val="FFFFFF"/>
                </a:solidFill>
                <a:effectLst/>
                <a:uLnTx/>
                <a:uFillTx/>
                <a:latin typeface="Segoe UI"/>
                <a:ea typeface="+mn-ea"/>
                <a:cs typeface="+mn-cs"/>
              </a:rPr>
              <a:t>✅</a:t>
            </a:r>
          </a:p>
        </p:txBody>
      </p:sp>
      <p:sp>
        <p:nvSpPr>
          <p:cNvPr id="81" name="TextBox 80">
            <a:extLst>
              <a:ext uri="{FF2B5EF4-FFF2-40B4-BE49-F238E27FC236}">
                <a16:creationId xmlns:a16="http://schemas.microsoft.com/office/drawing/2014/main" id="{9A66C943-BB87-BE80-8FC2-C07BE70FA704}"/>
              </a:ext>
            </a:extLst>
          </p:cNvPr>
          <p:cNvSpPr txBox="1"/>
          <p:nvPr/>
        </p:nvSpPr>
        <p:spPr>
          <a:xfrm>
            <a:off x="8495804" y="534902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400" b="0">
                <a:solidFill>
                  <a:srgbClr val="FFFFFF"/>
                </a:solidFill>
                <a:latin typeface="Segoe UI"/>
              </a:defRPr>
            </a:pPr>
            <a:r>
              <a:rPr kumimoji="0" sz="1400" b="0" i="0" u="none" strike="noStrike" kern="1200" cap="none" spc="0" normalizeH="0" baseline="0" noProof="0">
                <a:ln>
                  <a:noFill/>
                </a:ln>
                <a:solidFill>
                  <a:srgbClr val="FFFFFF"/>
                </a:solidFill>
                <a:effectLst/>
                <a:uLnTx/>
                <a:uFillTx/>
                <a:latin typeface="Segoe UI"/>
                <a:ea typeface="+mn-ea"/>
                <a:cs typeface="+mn-cs"/>
              </a:rPr>
              <a:t>🪝</a:t>
            </a:r>
          </a:p>
        </p:txBody>
      </p:sp>
      <p:sp>
        <p:nvSpPr>
          <p:cNvPr id="84" name="TextBox 83">
            <a:extLst>
              <a:ext uri="{FF2B5EF4-FFF2-40B4-BE49-F238E27FC236}">
                <a16:creationId xmlns:a16="http://schemas.microsoft.com/office/drawing/2014/main" id="{408BABA6-7613-F004-7142-A7F68E7474A5}"/>
              </a:ext>
            </a:extLst>
          </p:cNvPr>
          <p:cNvSpPr txBox="1"/>
          <p:nvPr/>
        </p:nvSpPr>
        <p:spPr>
          <a:xfrm>
            <a:off x="10298217" y="5349022"/>
            <a:ext cx="274320" cy="2286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400" b="0">
                <a:solidFill>
                  <a:srgbClr val="FFFFFF"/>
                </a:solidFill>
                <a:latin typeface="Segoe UI"/>
              </a:defRPr>
            </a:pPr>
            <a:r>
              <a:rPr kumimoji="0" sz="1400" b="0" i="0" u="none" strike="noStrike" kern="1200" cap="none" spc="0" normalizeH="0" baseline="0" noProof="0">
                <a:ln>
                  <a:noFill/>
                </a:ln>
                <a:solidFill>
                  <a:srgbClr val="FFFFFF"/>
                </a:solidFill>
                <a:effectLst/>
                <a:uLnTx/>
                <a:uFillTx/>
                <a:latin typeface="Segoe UI"/>
                <a:ea typeface="+mn-ea"/>
                <a:cs typeface="+mn-cs"/>
              </a:rPr>
              <a:t>🔒</a:t>
            </a:r>
          </a:p>
        </p:txBody>
      </p:sp>
      <p:cxnSp>
        <p:nvCxnSpPr>
          <p:cNvPr id="148" name="Straight Connector 147">
            <a:extLst>
              <a:ext uri="{FF2B5EF4-FFF2-40B4-BE49-F238E27FC236}">
                <a16:creationId xmlns:a16="http://schemas.microsoft.com/office/drawing/2014/main" id="{FD35EB32-EDE4-7AC0-CBD9-5ABBE11D3104}"/>
              </a:ext>
            </a:extLst>
          </p:cNvPr>
          <p:cNvCxnSpPr/>
          <p:nvPr/>
        </p:nvCxnSpPr>
        <p:spPr>
          <a:xfrm>
            <a:off x="604197" y="2452602"/>
            <a:ext cx="3389120" cy="0"/>
          </a:xfrm>
          <a:prstGeom prst="line">
            <a:avLst/>
          </a:prstGeom>
          <a:ln w="38100">
            <a:solidFill>
              <a:schemeClr val="accent6"/>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88DBB549-5091-0DD4-6216-715BBC3D48A5}"/>
              </a:ext>
            </a:extLst>
          </p:cNvPr>
          <p:cNvCxnSpPr>
            <a:cxnSpLocks/>
          </p:cNvCxnSpPr>
          <p:nvPr/>
        </p:nvCxnSpPr>
        <p:spPr>
          <a:xfrm>
            <a:off x="4524947" y="2452602"/>
            <a:ext cx="7081836" cy="0"/>
          </a:xfrm>
          <a:prstGeom prst="line">
            <a:avLst/>
          </a:prstGeom>
          <a:ln w="38100">
            <a:gradFill>
              <a:gsLst>
                <a:gs pos="0">
                  <a:schemeClr val="tx2"/>
                </a:gs>
                <a:gs pos="100000">
                  <a:schemeClr val="accent3"/>
                </a:gs>
              </a:gsLst>
              <a:lin ang="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54" name="TextBox 153">
            <a:extLst>
              <a:ext uri="{FF2B5EF4-FFF2-40B4-BE49-F238E27FC236}">
                <a16:creationId xmlns:a16="http://schemas.microsoft.com/office/drawing/2014/main" id="{2DDE27CA-407B-F1EA-762D-E2B250684581}"/>
              </a:ext>
            </a:extLst>
          </p:cNvPr>
          <p:cNvSpPr txBox="1"/>
          <p:nvPr/>
        </p:nvSpPr>
        <p:spPr>
          <a:xfrm>
            <a:off x="4205178" y="5670971"/>
            <a:ext cx="1645920" cy="246221"/>
          </a:xfrm>
          <a:prstGeom prst="rect">
            <a:avLst/>
          </a:prstGeom>
          <a:noFill/>
        </p:spPr>
        <p:txBody>
          <a:bodyPr wrap="square" lIns="0" tIns="0" rIns="0" bIns="0" rtlCol="0">
            <a:spAutoFit/>
          </a:bodyPr>
          <a:lstStyle/>
          <a:p>
            <a:pPr algn="ctr"/>
            <a:r>
              <a:rPr lang="en-US" sz="1600" b="1">
                <a:latin typeface="+mj-lt"/>
                <a:cs typeface="Cascadia Code" panose="020B0609020000020004" pitchFamily="49" charset="0"/>
              </a:rPr>
              <a:t>Azure RBAC</a:t>
            </a:r>
          </a:p>
        </p:txBody>
      </p:sp>
      <p:sp>
        <p:nvSpPr>
          <p:cNvPr id="155" name="TextBox 154">
            <a:extLst>
              <a:ext uri="{FF2B5EF4-FFF2-40B4-BE49-F238E27FC236}">
                <a16:creationId xmlns:a16="http://schemas.microsoft.com/office/drawing/2014/main" id="{E8BBEDE3-020F-B4EC-080A-5E373EF055BD}"/>
              </a:ext>
            </a:extLst>
          </p:cNvPr>
          <p:cNvSpPr txBox="1"/>
          <p:nvPr/>
        </p:nvSpPr>
        <p:spPr>
          <a:xfrm>
            <a:off x="6006600" y="5654292"/>
            <a:ext cx="1645920" cy="246221"/>
          </a:xfrm>
          <a:prstGeom prst="rect">
            <a:avLst/>
          </a:prstGeom>
          <a:noFill/>
        </p:spPr>
        <p:txBody>
          <a:bodyPr wrap="square" lIns="0" tIns="0" rIns="0" bIns="0" rtlCol="0">
            <a:spAutoFit/>
          </a:bodyPr>
          <a:lstStyle/>
          <a:p>
            <a:pPr algn="ctr"/>
            <a:r>
              <a:rPr lang="en-US" sz="1600" b="1">
                <a:latin typeface="+mj-lt"/>
                <a:cs typeface="Cascadia Code" panose="020B0609020000020004" pitchFamily="49" charset="0"/>
              </a:rPr>
              <a:t>Human approval</a:t>
            </a:r>
          </a:p>
        </p:txBody>
      </p:sp>
      <p:sp>
        <p:nvSpPr>
          <p:cNvPr id="158" name="TextBox 157">
            <a:extLst>
              <a:ext uri="{FF2B5EF4-FFF2-40B4-BE49-F238E27FC236}">
                <a16:creationId xmlns:a16="http://schemas.microsoft.com/office/drawing/2014/main" id="{B9EC312B-95E0-CB85-B09F-7315F34F75EB}"/>
              </a:ext>
            </a:extLst>
          </p:cNvPr>
          <p:cNvSpPr txBox="1"/>
          <p:nvPr/>
        </p:nvSpPr>
        <p:spPr>
          <a:xfrm>
            <a:off x="7808022" y="5654292"/>
            <a:ext cx="1645920" cy="246221"/>
          </a:xfrm>
          <a:prstGeom prst="rect">
            <a:avLst/>
          </a:prstGeom>
          <a:noFill/>
        </p:spPr>
        <p:txBody>
          <a:bodyPr wrap="square" lIns="0" tIns="0" rIns="0" bIns="0" rtlCol="0">
            <a:spAutoFit/>
          </a:bodyPr>
          <a:lstStyle/>
          <a:p>
            <a:pPr algn="ctr"/>
            <a:r>
              <a:rPr lang="en-US" sz="1600" b="1">
                <a:latin typeface="+mj-lt"/>
                <a:cs typeface="Cascadia Code" panose="020B0609020000020004" pitchFamily="49" charset="0"/>
              </a:rPr>
              <a:t>Safety hooks</a:t>
            </a:r>
          </a:p>
        </p:txBody>
      </p:sp>
      <p:sp>
        <p:nvSpPr>
          <p:cNvPr id="159" name="TextBox 158">
            <a:extLst>
              <a:ext uri="{FF2B5EF4-FFF2-40B4-BE49-F238E27FC236}">
                <a16:creationId xmlns:a16="http://schemas.microsoft.com/office/drawing/2014/main" id="{C0895232-49C6-AAD4-B9E4-74AD002A993A}"/>
              </a:ext>
            </a:extLst>
          </p:cNvPr>
          <p:cNvSpPr txBox="1"/>
          <p:nvPr/>
        </p:nvSpPr>
        <p:spPr>
          <a:xfrm>
            <a:off x="9609443" y="5654292"/>
            <a:ext cx="1645920" cy="246221"/>
          </a:xfrm>
          <a:prstGeom prst="rect">
            <a:avLst/>
          </a:prstGeom>
          <a:noFill/>
        </p:spPr>
        <p:txBody>
          <a:bodyPr wrap="square" lIns="0" tIns="0" rIns="0" bIns="0" rtlCol="0">
            <a:spAutoFit/>
          </a:bodyPr>
          <a:lstStyle/>
          <a:p>
            <a:pPr algn="ctr"/>
            <a:r>
              <a:rPr lang="en-US" sz="1600" b="1">
                <a:latin typeface="+mj-lt"/>
                <a:cs typeface="Cascadia Code" panose="020B0609020000020004" pitchFamily="49" charset="0"/>
              </a:rPr>
              <a:t>Isolated compute</a:t>
            </a:r>
          </a:p>
        </p:txBody>
      </p:sp>
      <p:sp>
        <p:nvSpPr>
          <p:cNvPr id="160" name="Rectangle: Rounded Corners 159">
            <a:extLst>
              <a:ext uri="{FF2B5EF4-FFF2-40B4-BE49-F238E27FC236}">
                <a16:creationId xmlns:a16="http://schemas.microsoft.com/office/drawing/2014/main" id="{FF0DFA35-1BB2-8B15-B739-B7FB816A3879}"/>
              </a:ext>
            </a:extLst>
          </p:cNvPr>
          <p:cNvSpPr/>
          <p:nvPr/>
        </p:nvSpPr>
        <p:spPr bwMode="auto">
          <a:xfrm>
            <a:off x="760912" y="5114229"/>
            <a:ext cx="3009171" cy="991802"/>
          </a:xfrm>
          <a:prstGeom prst="roundRect">
            <a:avLst/>
          </a:prstGeom>
          <a:gradFill flip="none" rotWithShape="1">
            <a:gsLst>
              <a:gs pos="55000">
                <a:srgbClr val="FFFFFF"/>
              </a:gs>
              <a:gs pos="0">
                <a:srgbClr val="FFFFFF"/>
              </a:gs>
            </a:gsLst>
            <a:lin ang="16200000" scaled="1"/>
            <a:tileRect/>
          </a:gradFill>
          <a:ln w="25400">
            <a:gradFill flip="none" rotWithShape="1">
              <a:gsLst>
                <a:gs pos="0">
                  <a:schemeClr val="tx2"/>
                </a:gs>
                <a:gs pos="100000">
                  <a:schemeClr val="accent3"/>
                </a:gs>
              </a:gsLst>
              <a:lin ang="13500000" scaled="1"/>
              <a:tileRect/>
            </a:gradFill>
          </a:ln>
          <a:effectLst/>
        </p:spPr>
        <p:txBody>
          <a:bodyPr wrap="square" lIns="182856" tIns="27428" rIns="182856" bIns="54857" rtlCol="0" anchor="ctr" anchorCtr="0">
            <a:noAutofit/>
          </a:bodyPr>
          <a:lstStyle/>
          <a:p>
            <a:pPr defTabSz="914254" fontAlgn="base">
              <a:spcBef>
                <a:spcPct val="0"/>
              </a:spcBef>
              <a:spcAft>
                <a:spcPct val="0"/>
              </a:spcAft>
              <a:tabLst>
                <a:tab pos="1486861" algn="l"/>
              </a:tabLst>
            </a:pPr>
            <a:r>
              <a:rPr lang="en-US" sz="2200">
                <a:ln w="3175">
                  <a:noFill/>
                </a:ln>
                <a:solidFill>
                  <a:schemeClr val="tx1"/>
                </a:solidFill>
                <a:latin typeface="Segoe Sans Text Semibold"/>
                <a:cs typeface="Segoe Sans Display Semibold"/>
              </a:rPr>
              <a:t>Governance and </a:t>
            </a:r>
            <a:r>
              <a:rPr lang="en-US" sz="2200">
                <a:ln w="3175">
                  <a:noFill/>
                </a:ln>
                <a:latin typeface="Segoe Sans Text Semibold"/>
                <a:cs typeface="Segoe Sans Display Semibold"/>
              </a:rPr>
              <a:t>human-in-the-loop</a:t>
            </a:r>
            <a:endParaRPr lang="en-US" sz="2200">
              <a:ln w="3175">
                <a:noFill/>
              </a:ln>
              <a:solidFill>
                <a:schemeClr val="tx1"/>
              </a:solidFill>
              <a:latin typeface="Segoe Sans Text Semibold"/>
              <a:cs typeface="Segoe Sans Display Semibold"/>
            </a:endParaRPr>
          </a:p>
        </p:txBody>
      </p:sp>
      <p:sp>
        <p:nvSpPr>
          <p:cNvPr id="2" name="Oval 1">
            <a:extLst>
              <a:ext uri="{FF2B5EF4-FFF2-40B4-BE49-F238E27FC236}">
                <a16:creationId xmlns:a16="http://schemas.microsoft.com/office/drawing/2014/main" id="{FFD67F9A-E72D-2F0F-7D28-0CE605900B7C}"/>
              </a:ext>
            </a:extLst>
          </p:cNvPr>
          <p:cNvSpPr/>
          <p:nvPr/>
        </p:nvSpPr>
        <p:spPr bwMode="auto">
          <a:xfrm>
            <a:off x="4087028" y="2636792"/>
            <a:ext cx="376011" cy="376011"/>
          </a:xfrm>
          <a:prstGeom prst="ellipse">
            <a:avLst/>
          </a:prstGeom>
          <a:solidFill>
            <a:schemeClr val="accent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Oval 2">
            <a:extLst>
              <a:ext uri="{FF2B5EF4-FFF2-40B4-BE49-F238E27FC236}">
                <a16:creationId xmlns:a16="http://schemas.microsoft.com/office/drawing/2014/main" id="{95141959-4E04-D779-2517-2C3B6D0A1DD4}"/>
              </a:ext>
            </a:extLst>
          </p:cNvPr>
          <p:cNvSpPr/>
          <p:nvPr/>
        </p:nvSpPr>
        <p:spPr bwMode="auto">
          <a:xfrm>
            <a:off x="4087028" y="3719810"/>
            <a:ext cx="376011" cy="376011"/>
          </a:xfrm>
          <a:prstGeom prst="ellipse">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Right Brace 3">
            <a:extLst>
              <a:ext uri="{FF2B5EF4-FFF2-40B4-BE49-F238E27FC236}">
                <a16:creationId xmlns:a16="http://schemas.microsoft.com/office/drawing/2014/main" id="{9B74C908-701E-C57A-E575-78289078E207}"/>
              </a:ext>
            </a:extLst>
          </p:cNvPr>
          <p:cNvSpPr/>
          <p:nvPr/>
        </p:nvSpPr>
        <p:spPr>
          <a:xfrm>
            <a:off x="7735285" y="2580405"/>
            <a:ext cx="318469" cy="2054722"/>
          </a:xfrm>
          <a:prstGeom prst="rightBrace">
            <a:avLst>
              <a:gd name="adj1" fmla="val 36482"/>
              <a:gd name="adj2" fmla="val 50000"/>
            </a:avLst>
          </a:prstGeom>
          <a:gradFill>
            <a:gsLst>
              <a:gs pos="0">
                <a:schemeClr val="tx2"/>
              </a:gs>
              <a:gs pos="100000">
                <a:schemeClr val="tx2">
                  <a:alpha val="0"/>
                </a:schemeClr>
              </a:gs>
            </a:gsLst>
            <a:lin ang="10800000" scaled="0"/>
          </a:gradFill>
          <a:ln>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Right Brace 5">
            <a:extLst>
              <a:ext uri="{FF2B5EF4-FFF2-40B4-BE49-F238E27FC236}">
                <a16:creationId xmlns:a16="http://schemas.microsoft.com/office/drawing/2014/main" id="{4AA8D6A3-A395-F41A-EDA9-B4EBA2B48B48}"/>
              </a:ext>
            </a:extLst>
          </p:cNvPr>
          <p:cNvSpPr/>
          <p:nvPr/>
        </p:nvSpPr>
        <p:spPr>
          <a:xfrm flipH="1">
            <a:off x="8061135" y="2580405"/>
            <a:ext cx="318469" cy="2054722"/>
          </a:xfrm>
          <a:prstGeom prst="rightBrace">
            <a:avLst>
              <a:gd name="adj1" fmla="val 25222"/>
              <a:gd name="adj2" fmla="val 50000"/>
            </a:avLst>
          </a:prstGeom>
          <a:gradFill>
            <a:gsLst>
              <a:gs pos="0">
                <a:schemeClr val="accent3"/>
              </a:gs>
              <a:gs pos="100000">
                <a:schemeClr val="accent3">
                  <a:alpha val="0"/>
                </a:schemeClr>
              </a:gs>
            </a:gsLst>
            <a:lin ang="10800000" scaled="0"/>
          </a:gradFill>
          <a:ln>
            <a:solidFill>
              <a:schemeClr val="accent3"/>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Arrow: Chevron 8">
            <a:extLst>
              <a:ext uri="{FF2B5EF4-FFF2-40B4-BE49-F238E27FC236}">
                <a16:creationId xmlns:a16="http://schemas.microsoft.com/office/drawing/2014/main" id="{2E49AA8E-F031-FF95-E6E4-C25FDC05807C}"/>
              </a:ext>
            </a:extLst>
          </p:cNvPr>
          <p:cNvSpPr/>
          <p:nvPr/>
        </p:nvSpPr>
        <p:spPr bwMode="auto">
          <a:xfrm>
            <a:off x="4209436" y="2753017"/>
            <a:ext cx="143560" cy="143560"/>
          </a:xfrm>
          <a:prstGeom prst="chevron">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10" name="Arrow: Chevron 9">
            <a:extLst>
              <a:ext uri="{FF2B5EF4-FFF2-40B4-BE49-F238E27FC236}">
                <a16:creationId xmlns:a16="http://schemas.microsoft.com/office/drawing/2014/main" id="{A53966E4-1AAB-3EA5-790D-E3961AC273A3}"/>
              </a:ext>
            </a:extLst>
          </p:cNvPr>
          <p:cNvSpPr/>
          <p:nvPr/>
        </p:nvSpPr>
        <p:spPr bwMode="auto">
          <a:xfrm flipH="1">
            <a:off x="4199275" y="3836035"/>
            <a:ext cx="143560" cy="143560"/>
          </a:xfrm>
          <a:prstGeom prst="chevron">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pic>
        <p:nvPicPr>
          <p:cNvPr id="13" name="Picture 12" descr="A logo of a chain link&#10;&#10;AI-generated content may be incorrect.">
            <a:extLst>
              <a:ext uri="{FF2B5EF4-FFF2-40B4-BE49-F238E27FC236}">
                <a16:creationId xmlns:a16="http://schemas.microsoft.com/office/drawing/2014/main" id="{86D1B53A-F671-1CBA-BEA4-4E1CDCE4AD96}"/>
              </a:ext>
            </a:extLst>
          </p:cNvPr>
          <p:cNvPicPr>
            <a:picLocks noChangeAspect="1"/>
          </p:cNvPicPr>
          <p:nvPr/>
        </p:nvPicPr>
        <p:blipFill>
          <a:blip r:embed="rId3"/>
          <a:stretch>
            <a:fillRect/>
          </a:stretch>
        </p:blipFill>
        <p:spPr>
          <a:xfrm>
            <a:off x="4829520" y="2033664"/>
            <a:ext cx="310712" cy="310712"/>
          </a:xfrm>
          <a:prstGeom prst="rect">
            <a:avLst/>
          </a:prstGeom>
        </p:spPr>
      </p:pic>
      <p:pic>
        <p:nvPicPr>
          <p:cNvPr id="17" name="Graphic 16" descr="User with solid fill">
            <a:extLst>
              <a:ext uri="{FF2B5EF4-FFF2-40B4-BE49-F238E27FC236}">
                <a16:creationId xmlns:a16="http://schemas.microsoft.com/office/drawing/2014/main" id="{22C26485-765B-2DFB-3989-D20AABE3F9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2922" y="2007079"/>
            <a:ext cx="363883" cy="363883"/>
          </a:xfrm>
          <a:prstGeom prst="rect">
            <a:avLst/>
          </a:prstGeom>
        </p:spPr>
      </p:pic>
      <p:pic>
        <p:nvPicPr>
          <p:cNvPr id="18" name="Picture 17">
            <a:extLst>
              <a:ext uri="{FF2B5EF4-FFF2-40B4-BE49-F238E27FC236}">
                <a16:creationId xmlns:a16="http://schemas.microsoft.com/office/drawing/2014/main" id="{599C774F-DAC9-4EF2-D7DB-D7F39A853BE3}"/>
              </a:ext>
              <a:ext uri="{C183D7F6-B498-43B3-948B-1728B52AA6E4}">
                <adec:decorative xmlns:adec="http://schemas.microsoft.com/office/drawing/2017/decorative" val="1"/>
              </a:ext>
            </a:extLst>
          </p:cNvPr>
          <p:cNvPicPr>
            <a:picLocks noChangeAspect="1"/>
          </p:cNvPicPr>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rcRect/>
          <a:stretch/>
        </p:blipFill>
        <p:spPr>
          <a:xfrm>
            <a:off x="8495804" y="2015948"/>
            <a:ext cx="338094" cy="346144"/>
          </a:xfrm>
          <a:prstGeom prst="rect">
            <a:avLst/>
          </a:prstGeom>
        </p:spPr>
      </p:pic>
      <p:sp>
        <p:nvSpPr>
          <p:cNvPr id="23" name="Rounded Rectangle 18">
            <a:extLst>
              <a:ext uri="{FF2B5EF4-FFF2-40B4-BE49-F238E27FC236}">
                <a16:creationId xmlns:a16="http://schemas.microsoft.com/office/drawing/2014/main" id="{6E585FE4-4F3E-3233-4BE5-45449E19A592}"/>
              </a:ext>
            </a:extLst>
          </p:cNvPr>
          <p:cNvSpPr/>
          <p:nvPr/>
        </p:nvSpPr>
        <p:spPr>
          <a:xfrm>
            <a:off x="741356" y="4231074"/>
            <a:ext cx="3027459" cy="404053"/>
          </a:xfrm>
          <a:prstGeom prst="roundRect">
            <a:avLst/>
          </a:prstGeom>
          <a:solidFill>
            <a:schemeClr val="bg1">
              <a:lumMod val="95000"/>
            </a:schemeClr>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
        <p:nvSpPr>
          <p:cNvPr id="24" name="TextBox 23">
            <a:extLst>
              <a:ext uri="{FF2B5EF4-FFF2-40B4-BE49-F238E27FC236}">
                <a16:creationId xmlns:a16="http://schemas.microsoft.com/office/drawing/2014/main" id="{844BB047-051E-BD8E-756E-CBCE21861B11}"/>
              </a:ext>
            </a:extLst>
          </p:cNvPr>
          <p:cNvSpPr txBox="1"/>
          <p:nvPr/>
        </p:nvSpPr>
        <p:spPr>
          <a:xfrm>
            <a:off x="1333594" y="4309990"/>
            <a:ext cx="2286000" cy="246221"/>
          </a:xfrm>
          <a:prstGeom prst="rect">
            <a:avLst/>
          </a:prstGeom>
          <a:noFill/>
        </p:spPr>
        <p:txBody>
          <a:bodyPr wrap="square" lIns="0" tIns="0" rIns="0" bIns="0" rtlCol="0">
            <a:spAutoFit/>
          </a:bodyPr>
          <a:lstStyle/>
          <a:p>
            <a:pPr algn="l"/>
            <a:r>
              <a:rPr lang="en-US" sz="1600" b="1">
                <a:latin typeface="+mj-lt"/>
                <a:cs typeface="Cascadia Code" panose="020B0609020000020004" pitchFamily="49" charset="0"/>
              </a:rPr>
              <a:t>HTTP triggers</a:t>
            </a:r>
          </a:p>
        </p:txBody>
      </p:sp>
      <p:sp>
        <p:nvSpPr>
          <p:cNvPr id="25" name="TextBox 24">
            <a:extLst>
              <a:ext uri="{FF2B5EF4-FFF2-40B4-BE49-F238E27FC236}">
                <a16:creationId xmlns:a16="http://schemas.microsoft.com/office/drawing/2014/main" id="{093DFEB0-2889-A08E-5D77-E9FE95A44F9A}"/>
              </a:ext>
            </a:extLst>
          </p:cNvPr>
          <p:cNvSpPr txBox="1"/>
          <p:nvPr/>
        </p:nvSpPr>
        <p:spPr>
          <a:xfrm>
            <a:off x="897496" y="4309990"/>
            <a:ext cx="274320" cy="228600"/>
          </a:xfrm>
          <a:prstGeom prst="rect">
            <a:avLst/>
          </a:prstGeom>
          <a:noFill/>
        </p:spPr>
        <p:txBody>
          <a:bodyPr wrap="square" lIns="0" tIns="0" rIns="0" bIns="0">
            <a:spAutoFit/>
          </a:bodyPr>
          <a:lstStyle/>
          <a:p>
            <a:pPr marL="0" marR="0" lvl="0" indent="0" algn="ctr" defTabSz="914400" eaLnBrk="1" fontAlgn="auto" latinLnBrk="0" hangingPunct="1">
              <a:lnSpc>
                <a:spcPct val="100000"/>
              </a:lnSpc>
              <a:spcBef>
                <a:spcPts val="0"/>
              </a:spcBef>
              <a:spcAft>
                <a:spcPts val="0"/>
              </a:spcAft>
              <a:buClrTx/>
              <a:buSzTx/>
              <a:buFontTx/>
              <a:buNone/>
              <a:tabLst/>
              <a:defRPr sz="1500" b="0">
                <a:solidFill>
                  <a:srgbClr val="FFFFFF"/>
                </a:solidFill>
                <a:latin typeface="Segoe UI"/>
              </a:defRPr>
            </a:pPr>
            <a:r>
              <a:rPr kumimoji="0" lang="en-US" sz="1500" b="0" i="0" u="none" strike="noStrike" kern="1200" cap="none" spc="0" normalizeH="0" baseline="0" noProof="0">
                <a:ln>
                  <a:noFill/>
                </a:ln>
                <a:solidFill>
                  <a:srgbClr val="FFFFFF"/>
                </a:solidFill>
                <a:effectLst/>
                <a:uLnTx/>
                <a:uFillTx/>
                <a:latin typeface="Segoe UI"/>
                <a:ea typeface="+mn-ea"/>
                <a:cs typeface="+mn-cs"/>
              </a:rPr>
              <a:t>🌐</a:t>
            </a:r>
            <a:endParaRPr kumimoji="0" sz="15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35064846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14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42900"/>
            <a:ext cx="4114800" cy="274320"/>
          </a:xfrm>
          <a:prstGeom prst="rect">
            <a:avLst/>
          </a:prstGeom>
          <a:noFill/>
        </p:spPr>
        <p:txBody>
          <a:bodyPr wrap="square" lIns="0" tIns="0" rIns="0" bIns="0" anchor="t">
            <a:spAutoFit/>
          </a:bodyPr>
          <a:lstStyle/>
          <a:p>
            <a:pPr algn="l"/>
            <a:r>
              <a:rPr sz="1200" b="1">
                <a:solidFill>
                  <a:srgbClr val="0078D4"/>
                </a:solidFill>
                <a:latin typeface="Segoe UI"/>
              </a:rPr>
              <a:t>AZURE SRE AGENT</a:t>
            </a:r>
          </a:p>
        </p:txBody>
      </p:sp>
      <p:sp>
        <p:nvSpPr>
          <p:cNvPr id="6" name="TextBox 5"/>
          <p:cNvSpPr txBox="1"/>
          <p:nvPr/>
        </p:nvSpPr>
        <p:spPr>
          <a:xfrm>
            <a:off x="502920" y="594360"/>
            <a:ext cx="8686800" cy="594360"/>
          </a:xfrm>
          <a:prstGeom prst="rect">
            <a:avLst/>
          </a:prstGeom>
          <a:noFill/>
        </p:spPr>
        <p:txBody>
          <a:bodyPr wrap="square" lIns="0" tIns="0" rIns="0" bIns="0" anchor="t">
            <a:spAutoFit/>
          </a:bodyPr>
          <a:lstStyle/>
          <a:p>
            <a:pPr algn="l"/>
            <a:r>
              <a:rPr sz="3200" b="1">
                <a:solidFill>
                  <a:srgbClr val="0A2540"/>
                </a:solidFill>
                <a:latin typeface="Segoe UI"/>
              </a:rPr>
              <a:t>Cost at a Glance</a:t>
            </a:r>
          </a:p>
        </p:txBody>
      </p:sp>
      <p:sp>
        <p:nvSpPr>
          <p:cNvPr id="7" name="TextBox 6"/>
          <p:cNvSpPr txBox="1"/>
          <p:nvPr/>
        </p:nvSpPr>
        <p:spPr>
          <a:xfrm>
            <a:off x="502920" y="1097280"/>
            <a:ext cx="8686800" cy="320040"/>
          </a:xfrm>
          <a:prstGeom prst="rect">
            <a:avLst/>
          </a:prstGeom>
          <a:noFill/>
        </p:spPr>
        <p:txBody>
          <a:bodyPr wrap="square" lIns="0" tIns="0" rIns="0" bIns="0" anchor="t">
            <a:spAutoFit/>
          </a:bodyPr>
          <a:lstStyle/>
          <a:p>
            <a:pPr algn="l"/>
            <a:r>
              <a:rPr sz="1400" b="0">
                <a:solidFill>
                  <a:srgbClr val="5B6B7A"/>
                </a:solidFill>
                <a:latin typeface="Segoe UI"/>
              </a:rPr>
              <a:t>Simple, predictable pricing built on Azure Agent Units (AAUs)</a:t>
            </a:r>
          </a:p>
        </p:txBody>
      </p:sp>
      <p:sp>
        <p:nvSpPr>
          <p:cNvPr id="8" name="Rounded Rectangle 7"/>
          <p:cNvSpPr/>
          <p:nvPr/>
        </p:nvSpPr>
        <p:spPr>
          <a:xfrm>
            <a:off x="9326880" y="411480"/>
            <a:ext cx="2468880" cy="384048"/>
          </a:xfrm>
          <a:prstGeom prst="roundRect">
            <a:avLst>
              <a:gd name="adj" fmla="val 50000"/>
            </a:avLst>
          </a:prstGeom>
          <a:solidFill>
            <a:srgbClr val="E6F2FB"/>
          </a:solidFill>
          <a:ln w="9525">
            <a:solidFill>
              <a:srgbClr val="CFE5F7"/>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0A2540"/>
                </a:solidFill>
                <a:latin typeface="Segoe UI"/>
              </a:rPr>
              <a:t>Pay-as-you-go  ·  Per agent</a:t>
            </a:r>
          </a:p>
        </p:txBody>
      </p:sp>
      <p:sp>
        <p:nvSpPr>
          <p:cNvPr id="9" name="Rectangle 8"/>
          <p:cNvSpPr/>
          <p:nvPr/>
        </p:nvSpPr>
        <p:spPr>
          <a:xfrm>
            <a:off x="502920" y="1508760"/>
            <a:ext cx="11201400" cy="22860"/>
          </a:xfrm>
          <a:prstGeom prst="rect">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2920" y="1691640"/>
            <a:ext cx="5501487" cy="1417320"/>
          </a:xfrm>
          <a:prstGeom prst="roundRect">
            <a:avLst>
              <a:gd name="adj" fmla="val 6000"/>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828800"/>
            <a:ext cx="5029200" cy="274320"/>
          </a:xfrm>
          <a:prstGeom prst="rect">
            <a:avLst/>
          </a:prstGeom>
          <a:noFill/>
        </p:spPr>
        <p:txBody>
          <a:bodyPr wrap="square" lIns="0" tIns="0" rIns="0" bIns="0" anchor="t">
            <a:spAutoFit/>
          </a:bodyPr>
          <a:lstStyle/>
          <a:p>
            <a:pPr algn="l"/>
            <a:r>
              <a:rPr sz="1100" b="1">
                <a:solidFill>
                  <a:srgbClr val="FFFFFF"/>
                </a:solidFill>
                <a:latin typeface="Segoe UI"/>
              </a:rPr>
              <a:t>FIXED ALWAYS-ON COST</a:t>
            </a:r>
          </a:p>
        </p:txBody>
      </p:sp>
      <p:sp>
        <p:nvSpPr>
          <p:cNvPr id="12" name="TextBox 11"/>
          <p:cNvSpPr txBox="1"/>
          <p:nvPr/>
        </p:nvSpPr>
        <p:spPr>
          <a:xfrm>
            <a:off x="777240" y="2103120"/>
            <a:ext cx="5029200" cy="594360"/>
          </a:xfrm>
          <a:prstGeom prst="rect">
            <a:avLst/>
          </a:prstGeom>
          <a:noFill/>
        </p:spPr>
        <p:txBody>
          <a:bodyPr wrap="none" lIns="0" tIns="0" rIns="0" bIns="0">
            <a:spAutoFit/>
          </a:bodyPr>
          <a:lstStyle/>
          <a:p>
            <a:r>
              <a:rPr sz="3600" b="1">
                <a:solidFill>
                  <a:srgbClr val="FFFFFF"/>
                </a:solidFill>
                <a:latin typeface="Segoe UI"/>
              </a:rPr>
              <a:t>~$10</a:t>
            </a:r>
            <a:r>
              <a:rPr sz="1500" b="0">
                <a:solidFill>
                  <a:srgbClr val="FFFFFF"/>
                </a:solidFill>
                <a:latin typeface="Segoe UI"/>
              </a:rPr>
              <a:t>  / day per agent</a:t>
            </a:r>
          </a:p>
        </p:txBody>
      </p:sp>
      <p:sp>
        <p:nvSpPr>
          <p:cNvPr id="13" name="TextBox 12"/>
          <p:cNvSpPr txBox="1"/>
          <p:nvPr/>
        </p:nvSpPr>
        <p:spPr>
          <a:xfrm>
            <a:off x="777240" y="2743200"/>
            <a:ext cx="5029200" cy="169277"/>
          </a:xfrm>
          <a:prstGeom prst="rect">
            <a:avLst/>
          </a:prstGeom>
          <a:noFill/>
        </p:spPr>
        <p:txBody>
          <a:bodyPr wrap="square" lIns="0" tIns="0" rIns="0" bIns="0" anchor="t">
            <a:spAutoFit/>
          </a:bodyPr>
          <a:lstStyle/>
          <a:p>
            <a:pPr algn="l"/>
            <a:r>
              <a:rPr sz="1100" b="0">
                <a:solidFill>
                  <a:srgbClr val="FFFFFF"/>
                </a:solidFill>
                <a:latin typeface="Segoe UI"/>
              </a:rPr>
              <a:t>Covers</a:t>
            </a:r>
            <a:r>
              <a:rPr lang="en-US" sz="1100" b="0">
                <a:solidFill>
                  <a:srgbClr val="FFFFFF"/>
                </a:solidFill>
                <a:latin typeface="Segoe UI"/>
              </a:rPr>
              <a:t> provisioning cost</a:t>
            </a:r>
            <a:r>
              <a:rPr sz="1100" b="0">
                <a:solidFill>
                  <a:srgbClr val="FFFFFF"/>
                </a:solidFill>
                <a:latin typeface="Segoe UI"/>
              </a:rPr>
              <a:t> — billed as long as the agent exists.</a:t>
            </a:r>
          </a:p>
        </p:txBody>
      </p:sp>
      <p:sp>
        <p:nvSpPr>
          <p:cNvPr id="14" name="Rounded Rectangle 13"/>
          <p:cNvSpPr/>
          <p:nvPr/>
        </p:nvSpPr>
        <p:spPr>
          <a:xfrm>
            <a:off x="6187287" y="1691640"/>
            <a:ext cx="5501487" cy="1417320"/>
          </a:xfrm>
          <a:prstGeom prst="roundRect">
            <a:avLst>
              <a:gd name="adj" fmla="val 6000"/>
            </a:avLst>
          </a:prstGeom>
          <a:solidFill>
            <a:srgbClr val="FFFFFF"/>
          </a:solidFill>
          <a:ln w="19050">
            <a:solidFill>
              <a:srgbClr val="CFE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61607" y="1828800"/>
            <a:ext cx="5029200" cy="274320"/>
          </a:xfrm>
          <a:prstGeom prst="rect">
            <a:avLst/>
          </a:prstGeom>
          <a:noFill/>
        </p:spPr>
        <p:txBody>
          <a:bodyPr wrap="square" lIns="0" tIns="0" rIns="0" bIns="0" anchor="t">
            <a:spAutoFit/>
          </a:bodyPr>
          <a:lstStyle/>
          <a:p>
            <a:pPr algn="l"/>
            <a:r>
              <a:rPr sz="1100" b="1">
                <a:solidFill>
                  <a:srgbClr val="5B6B7A"/>
                </a:solidFill>
                <a:latin typeface="Segoe UI"/>
              </a:rPr>
              <a:t>ACTIVE-FLOW ALLOCATION</a:t>
            </a:r>
          </a:p>
        </p:txBody>
      </p:sp>
      <p:sp>
        <p:nvSpPr>
          <p:cNvPr id="16" name="TextBox 15"/>
          <p:cNvSpPr txBox="1"/>
          <p:nvPr/>
        </p:nvSpPr>
        <p:spPr>
          <a:xfrm>
            <a:off x="6461607" y="2103120"/>
            <a:ext cx="5212080" cy="594360"/>
          </a:xfrm>
          <a:prstGeom prst="rect">
            <a:avLst/>
          </a:prstGeom>
          <a:noFill/>
        </p:spPr>
        <p:txBody>
          <a:bodyPr wrap="none" lIns="0" tIns="0" rIns="0" bIns="0">
            <a:spAutoFit/>
          </a:bodyPr>
          <a:lstStyle/>
          <a:p>
            <a:r>
              <a:rPr sz="3400" b="1">
                <a:solidFill>
                  <a:srgbClr val="0A2540"/>
                </a:solidFill>
                <a:latin typeface="Segoe UI"/>
              </a:rPr>
              <a:t>10,000 AAU</a:t>
            </a:r>
            <a:r>
              <a:rPr sz="1500" b="1">
                <a:solidFill>
                  <a:srgbClr val="0078D4"/>
                </a:solidFill>
                <a:latin typeface="Segoe UI"/>
              </a:rPr>
              <a:t>  ≈ $1,000 / month</a:t>
            </a:r>
          </a:p>
        </p:txBody>
      </p:sp>
      <p:sp>
        <p:nvSpPr>
          <p:cNvPr id="17" name="TextBox 16"/>
          <p:cNvSpPr txBox="1"/>
          <p:nvPr/>
        </p:nvSpPr>
        <p:spPr>
          <a:xfrm>
            <a:off x="6461607" y="2743200"/>
            <a:ext cx="5029200" cy="411480"/>
          </a:xfrm>
          <a:prstGeom prst="rect">
            <a:avLst/>
          </a:prstGeom>
          <a:noFill/>
        </p:spPr>
        <p:txBody>
          <a:bodyPr wrap="square" lIns="0" tIns="0" rIns="0" bIns="0" anchor="t">
            <a:spAutoFit/>
          </a:bodyPr>
          <a:lstStyle/>
          <a:p>
            <a:pPr algn="l"/>
            <a:r>
              <a:rPr sz="1100" b="0">
                <a:solidFill>
                  <a:srgbClr val="5B6B7A"/>
                </a:solidFill>
                <a:latin typeface="Segoe UI"/>
              </a:rPr>
              <a:t>Variable cost when the agent works (chat, investigations, remediations). 10K AAU × $0.10 = $1,000.</a:t>
            </a:r>
          </a:p>
        </p:txBody>
      </p:sp>
      <p:sp>
        <p:nvSpPr>
          <p:cNvPr id="18" name="Rounded Rectangle 17"/>
          <p:cNvSpPr/>
          <p:nvPr/>
        </p:nvSpPr>
        <p:spPr>
          <a:xfrm>
            <a:off x="502920" y="3337560"/>
            <a:ext cx="6051636" cy="3017520"/>
          </a:xfrm>
          <a:prstGeom prst="roundRect">
            <a:avLst>
              <a:gd name="adj" fmla="val 6000"/>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77240" y="3520440"/>
            <a:ext cx="73152" cy="25603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502152"/>
            <a:ext cx="4572000" cy="274320"/>
          </a:xfrm>
          <a:prstGeom prst="rect">
            <a:avLst/>
          </a:prstGeom>
          <a:noFill/>
        </p:spPr>
        <p:txBody>
          <a:bodyPr wrap="square" lIns="0" tIns="0" rIns="0" bIns="0" anchor="t">
            <a:spAutoFit/>
          </a:bodyPr>
          <a:lstStyle/>
          <a:p>
            <a:pPr algn="l"/>
            <a:r>
              <a:rPr sz="1200" b="1">
                <a:solidFill>
                  <a:srgbClr val="0A2540"/>
                </a:solidFill>
                <a:latin typeface="Segoe UI"/>
              </a:rPr>
              <a:t>KEY RULES</a:t>
            </a:r>
          </a:p>
        </p:txBody>
      </p:sp>
      <p:sp>
        <p:nvSpPr>
          <p:cNvPr id="21" name="Oval 20"/>
          <p:cNvSpPr/>
          <p:nvPr/>
        </p:nvSpPr>
        <p:spPr>
          <a:xfrm>
            <a:off x="777240" y="3904488"/>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Segoe UI"/>
              </a:rPr>
              <a:t>✓</a:t>
            </a:r>
          </a:p>
        </p:txBody>
      </p:sp>
      <p:sp>
        <p:nvSpPr>
          <p:cNvPr id="22" name="TextBox 21"/>
          <p:cNvSpPr txBox="1"/>
          <p:nvPr/>
        </p:nvSpPr>
        <p:spPr>
          <a:xfrm>
            <a:off x="1143000" y="3886200"/>
            <a:ext cx="5457276" cy="369332"/>
          </a:xfrm>
          <a:prstGeom prst="rect">
            <a:avLst/>
          </a:prstGeom>
          <a:noFill/>
        </p:spPr>
        <p:txBody>
          <a:bodyPr wrap="square" lIns="0" tIns="0" rIns="0" bIns="0">
            <a:spAutoFit/>
          </a:bodyPr>
          <a:lstStyle/>
          <a:p>
            <a:r>
              <a:rPr sz="1200" b="1">
                <a:solidFill>
                  <a:srgbClr val="0A2540"/>
                </a:solidFill>
                <a:latin typeface="Segoe UI"/>
              </a:rPr>
              <a:t>You set the cap. </a:t>
            </a:r>
            <a:r>
              <a:rPr sz="1200">
                <a:solidFill>
                  <a:srgbClr val="1A1A1A"/>
                </a:solidFill>
                <a:latin typeface="Segoe UI"/>
              </a:rPr>
              <a:t>Active-flow allocation is fully configurable — minimum 500, maximum 1,000,000 AAUs/month.</a:t>
            </a:r>
            <a:r>
              <a:rPr lang="en-US" sz="1200">
                <a:solidFill>
                  <a:srgbClr val="1A1A1A"/>
                </a:solidFill>
                <a:latin typeface="Segoe UI"/>
              </a:rPr>
              <a:t> Default 10,000 AAUs.</a:t>
            </a:r>
            <a:endParaRPr sz="1200">
              <a:solidFill>
                <a:srgbClr val="1A1A1A"/>
              </a:solidFill>
              <a:latin typeface="Segoe UI"/>
            </a:endParaRPr>
          </a:p>
        </p:txBody>
      </p:sp>
      <p:sp>
        <p:nvSpPr>
          <p:cNvPr id="23" name="Oval 22"/>
          <p:cNvSpPr/>
          <p:nvPr/>
        </p:nvSpPr>
        <p:spPr>
          <a:xfrm>
            <a:off x="777240" y="4471416"/>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Segoe UI"/>
              </a:rPr>
              <a:t>✓</a:t>
            </a:r>
          </a:p>
        </p:txBody>
      </p:sp>
      <p:sp>
        <p:nvSpPr>
          <p:cNvPr id="24" name="TextBox 23"/>
          <p:cNvSpPr txBox="1"/>
          <p:nvPr/>
        </p:nvSpPr>
        <p:spPr>
          <a:xfrm>
            <a:off x="1143000" y="4453128"/>
            <a:ext cx="5457276" cy="502920"/>
          </a:xfrm>
          <a:prstGeom prst="rect">
            <a:avLst/>
          </a:prstGeom>
          <a:noFill/>
        </p:spPr>
        <p:txBody>
          <a:bodyPr wrap="square" lIns="0" tIns="0" rIns="0" bIns="0">
            <a:spAutoFit/>
          </a:bodyPr>
          <a:lstStyle/>
          <a:p>
            <a:r>
              <a:rPr sz="1200" b="1">
                <a:solidFill>
                  <a:srgbClr val="0A2540"/>
                </a:solidFill>
                <a:latin typeface="Segoe UI"/>
              </a:rPr>
              <a:t>Adjust anytime. </a:t>
            </a:r>
            <a:r>
              <a:rPr sz="1200">
                <a:solidFill>
                  <a:srgbClr val="1A1A1A"/>
                </a:solidFill>
                <a:latin typeface="Segoe UI"/>
              </a:rPr>
              <a:t>Increases take effect immediately; decreases below current usage apply next month.</a:t>
            </a:r>
          </a:p>
        </p:txBody>
      </p:sp>
      <p:sp>
        <p:nvSpPr>
          <p:cNvPr id="25" name="Oval 24"/>
          <p:cNvSpPr/>
          <p:nvPr/>
        </p:nvSpPr>
        <p:spPr>
          <a:xfrm>
            <a:off x="777240" y="5038344"/>
            <a:ext cx="237744" cy="237744"/>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Segoe UI"/>
              </a:rPr>
              <a:t>✓</a:t>
            </a:r>
          </a:p>
        </p:txBody>
      </p:sp>
      <p:sp>
        <p:nvSpPr>
          <p:cNvPr id="26" name="TextBox 25"/>
          <p:cNvSpPr txBox="1"/>
          <p:nvPr/>
        </p:nvSpPr>
        <p:spPr>
          <a:xfrm>
            <a:off x="1143000" y="5020056"/>
            <a:ext cx="5318607" cy="369332"/>
          </a:xfrm>
          <a:prstGeom prst="rect">
            <a:avLst/>
          </a:prstGeom>
          <a:noFill/>
        </p:spPr>
        <p:txBody>
          <a:bodyPr wrap="square" lIns="0" tIns="0" rIns="0" bIns="0">
            <a:spAutoFit/>
          </a:bodyPr>
          <a:lstStyle/>
          <a:p>
            <a:r>
              <a:rPr sz="1200" b="1">
                <a:solidFill>
                  <a:srgbClr val="0A2540"/>
                </a:solidFill>
                <a:latin typeface="Segoe UI"/>
              </a:rPr>
              <a:t>No active AAU if not triggered. </a:t>
            </a:r>
            <a:r>
              <a:rPr sz="1200">
                <a:solidFill>
                  <a:srgbClr val="1A1A1A"/>
                </a:solidFill>
                <a:latin typeface="Segoe UI"/>
              </a:rPr>
              <a:t>Active-flow AAUs accrue only while the agent is doing work.</a:t>
            </a:r>
          </a:p>
        </p:txBody>
      </p:sp>
      <p:sp>
        <p:nvSpPr>
          <p:cNvPr id="27" name="Oval 26"/>
          <p:cNvSpPr/>
          <p:nvPr/>
        </p:nvSpPr>
        <p:spPr>
          <a:xfrm>
            <a:off x="777240" y="5605272"/>
            <a:ext cx="237744" cy="237744"/>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Segoe UI"/>
              </a:rPr>
              <a:t>!</a:t>
            </a:r>
          </a:p>
        </p:txBody>
      </p:sp>
      <p:sp>
        <p:nvSpPr>
          <p:cNvPr id="28" name="TextBox 27"/>
          <p:cNvSpPr txBox="1"/>
          <p:nvPr/>
        </p:nvSpPr>
        <p:spPr>
          <a:xfrm>
            <a:off x="1143000" y="5586984"/>
            <a:ext cx="5457276" cy="502920"/>
          </a:xfrm>
          <a:prstGeom prst="rect">
            <a:avLst/>
          </a:prstGeom>
          <a:noFill/>
        </p:spPr>
        <p:txBody>
          <a:bodyPr wrap="square" lIns="0" tIns="0" rIns="0" bIns="0">
            <a:spAutoFit/>
          </a:bodyPr>
          <a:lstStyle/>
          <a:p>
            <a:r>
              <a:rPr sz="1200" b="1">
                <a:solidFill>
                  <a:srgbClr val="0A2540"/>
                </a:solidFill>
                <a:latin typeface="Segoe UI"/>
              </a:rPr>
              <a:t>Always-on still applies. </a:t>
            </a:r>
            <a:r>
              <a:rPr sz="1200">
                <a:solidFill>
                  <a:srgbClr val="1A1A1A"/>
                </a:solidFill>
                <a:latin typeface="Segoe UI"/>
              </a:rPr>
              <a:t>The ~$10/day baseline runs until the agent is deleted (even if stopped).</a:t>
            </a:r>
          </a:p>
        </p:txBody>
      </p:sp>
      <p:sp>
        <p:nvSpPr>
          <p:cNvPr id="29" name="Rounded Rectangle 28"/>
          <p:cNvSpPr/>
          <p:nvPr/>
        </p:nvSpPr>
        <p:spPr>
          <a:xfrm>
            <a:off x="6737436" y="3337560"/>
            <a:ext cx="4951338" cy="3017520"/>
          </a:xfrm>
          <a:prstGeom prst="roundRect">
            <a:avLst>
              <a:gd name="adj" fmla="val 6000"/>
            </a:avLst>
          </a:prstGeom>
          <a:solidFill>
            <a:srgbClr val="FFFFFF"/>
          </a:solidFill>
          <a:ln w="19050">
            <a:solidFill>
              <a:srgbClr val="CFE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011756" y="3520440"/>
            <a:ext cx="73152" cy="25603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48916" y="3502152"/>
            <a:ext cx="4114800" cy="274320"/>
          </a:xfrm>
          <a:prstGeom prst="rect">
            <a:avLst/>
          </a:prstGeom>
          <a:noFill/>
        </p:spPr>
        <p:txBody>
          <a:bodyPr wrap="square" lIns="0" tIns="0" rIns="0" bIns="0" anchor="t">
            <a:spAutoFit/>
          </a:bodyPr>
          <a:lstStyle/>
          <a:p>
            <a:pPr algn="l"/>
            <a:r>
              <a:rPr sz="1200" b="1">
                <a:solidFill>
                  <a:srgbClr val="0A2540"/>
                </a:solidFill>
                <a:latin typeface="Segoe UI"/>
              </a:rPr>
              <a:t>THE SIMPLE MATH</a:t>
            </a:r>
          </a:p>
        </p:txBody>
      </p:sp>
      <p:sp>
        <p:nvSpPr>
          <p:cNvPr id="32" name="Rounded Rectangle 31"/>
          <p:cNvSpPr/>
          <p:nvPr/>
        </p:nvSpPr>
        <p:spPr>
          <a:xfrm>
            <a:off x="7011756" y="3886200"/>
            <a:ext cx="4402698" cy="749808"/>
          </a:xfrm>
          <a:prstGeom prst="roundRect">
            <a:avLst>
              <a:gd name="adj" fmla="val 6000"/>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011756" y="3886200"/>
            <a:ext cx="91440" cy="74980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94636" y="3977640"/>
            <a:ext cx="4174098" cy="566928"/>
          </a:xfrm>
          <a:prstGeom prst="rect">
            <a:avLst/>
          </a:prstGeom>
          <a:noFill/>
        </p:spPr>
        <p:txBody>
          <a:bodyPr wrap="square" lIns="0" tIns="0" rIns="0" bIns="0" anchor="ctr">
            <a:spAutoFit/>
          </a:bodyPr>
          <a:lstStyle/>
          <a:p>
            <a:r>
              <a:rPr sz="1200" b="1">
                <a:solidFill>
                  <a:srgbClr val="0A2540"/>
                </a:solidFill>
                <a:latin typeface="Segoe UI"/>
              </a:rPr>
              <a:t>Floor:</a:t>
            </a:r>
            <a:r>
              <a:rPr sz="1200">
                <a:solidFill>
                  <a:srgbClr val="1A1A1A"/>
                </a:solidFill>
                <a:latin typeface="Segoe UI"/>
              </a:rPr>
              <a:t> ~$10/day × 30 days ≈ </a:t>
            </a:r>
            <a:r>
              <a:rPr sz="1200" b="1">
                <a:solidFill>
                  <a:srgbClr val="0078D4"/>
                </a:solidFill>
                <a:latin typeface="Segoe UI"/>
              </a:rPr>
              <a:t>$300/month</a:t>
            </a:r>
            <a:r>
              <a:rPr sz="1200">
                <a:solidFill>
                  <a:srgbClr val="1A1A1A"/>
                </a:solidFill>
                <a:latin typeface="Segoe UI"/>
              </a:rPr>
              <a:t> baseline per agent.</a:t>
            </a:r>
          </a:p>
        </p:txBody>
      </p:sp>
      <p:sp>
        <p:nvSpPr>
          <p:cNvPr id="35" name="Rounded Rectangle 34"/>
          <p:cNvSpPr/>
          <p:nvPr/>
        </p:nvSpPr>
        <p:spPr>
          <a:xfrm>
            <a:off x="7011756" y="4727448"/>
            <a:ext cx="4402698" cy="749808"/>
          </a:xfrm>
          <a:prstGeom prst="roundRect">
            <a:avLst>
              <a:gd name="adj" fmla="val 6000"/>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11756" y="4727448"/>
            <a:ext cx="91440" cy="74980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94636" y="4818888"/>
            <a:ext cx="4174098" cy="566928"/>
          </a:xfrm>
          <a:prstGeom prst="rect">
            <a:avLst/>
          </a:prstGeom>
          <a:noFill/>
        </p:spPr>
        <p:txBody>
          <a:bodyPr wrap="square" lIns="0" tIns="0" rIns="0" bIns="0" anchor="ctr">
            <a:spAutoFit/>
          </a:bodyPr>
          <a:lstStyle/>
          <a:p>
            <a:r>
              <a:rPr sz="1200" b="1">
                <a:solidFill>
                  <a:srgbClr val="0A2540"/>
                </a:solidFill>
                <a:latin typeface="Segoe UI"/>
              </a:rPr>
              <a:t>Cap:</a:t>
            </a:r>
            <a:r>
              <a:rPr sz="1200">
                <a:solidFill>
                  <a:srgbClr val="1A1A1A"/>
                </a:solidFill>
                <a:latin typeface="Segoe UI"/>
              </a:rPr>
              <a:t> Default-style budget of </a:t>
            </a:r>
            <a:r>
              <a:rPr sz="1200" b="1">
                <a:solidFill>
                  <a:srgbClr val="0078D4"/>
                </a:solidFill>
                <a:latin typeface="Segoe UI"/>
              </a:rPr>
              <a:t>10,000 AAU/month ≈ $1,000</a:t>
            </a:r>
            <a:r>
              <a:rPr sz="1200">
                <a:solidFill>
                  <a:srgbClr val="1A1A1A"/>
                </a:solidFill>
                <a:latin typeface="Segoe UI"/>
              </a:rPr>
              <a:t> for active work.</a:t>
            </a:r>
          </a:p>
        </p:txBody>
      </p:sp>
      <p:sp>
        <p:nvSpPr>
          <p:cNvPr id="38" name="Rounded Rectangle 37"/>
          <p:cNvSpPr/>
          <p:nvPr/>
        </p:nvSpPr>
        <p:spPr>
          <a:xfrm>
            <a:off x="7011756" y="5568696"/>
            <a:ext cx="4402698" cy="749808"/>
          </a:xfrm>
          <a:prstGeom prst="roundRect">
            <a:avLst>
              <a:gd name="adj" fmla="val 6000"/>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7011756" y="5568696"/>
            <a:ext cx="91440" cy="74980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194636" y="5660136"/>
            <a:ext cx="4174098" cy="566928"/>
          </a:xfrm>
          <a:prstGeom prst="rect">
            <a:avLst/>
          </a:prstGeom>
          <a:noFill/>
        </p:spPr>
        <p:txBody>
          <a:bodyPr wrap="square" lIns="0" tIns="0" rIns="0" bIns="0" anchor="ctr">
            <a:spAutoFit/>
          </a:bodyPr>
          <a:lstStyle/>
          <a:p>
            <a:r>
              <a:rPr sz="1200" b="1">
                <a:solidFill>
                  <a:srgbClr val="0A2540"/>
                </a:solidFill>
                <a:latin typeface="Segoe UI"/>
              </a:rPr>
              <a:t>Stop when capped:</a:t>
            </a:r>
            <a:r>
              <a:rPr sz="1200">
                <a:solidFill>
                  <a:srgbClr val="1A1A1A"/>
                </a:solidFill>
                <a:latin typeface="Segoe UI"/>
              </a:rPr>
              <a:t> Agent keeps monitoring but pauses chat &amp; actions until next month.</a:t>
            </a:r>
          </a:p>
        </p:txBody>
      </p:sp>
      <p:sp>
        <p:nvSpPr>
          <p:cNvPr id="41" name="Rectangle 40"/>
          <p:cNvSpPr/>
          <p:nvPr/>
        </p:nvSpPr>
        <p:spPr>
          <a:xfrm>
            <a:off x="502920" y="6492240"/>
            <a:ext cx="11201400" cy="18288"/>
          </a:xfrm>
          <a:prstGeom prst="rect">
            <a:avLst/>
          </a:prstGeom>
          <a:solidFill>
            <a:srgbClr val="E6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02920" y="6565392"/>
            <a:ext cx="7315200" cy="228600"/>
          </a:xfrm>
          <a:prstGeom prst="rect">
            <a:avLst/>
          </a:prstGeom>
          <a:noFill/>
        </p:spPr>
        <p:txBody>
          <a:bodyPr wrap="square" lIns="0" tIns="0" rIns="0" bIns="0" anchor="t">
            <a:spAutoFit/>
          </a:bodyPr>
          <a:lstStyle/>
          <a:p>
            <a:pPr algn="l"/>
            <a:r>
              <a:rPr sz="900" b="0">
                <a:solidFill>
                  <a:srgbClr val="5B6B7A"/>
                </a:solidFill>
                <a:latin typeface="Segoe UI"/>
              </a:rPr>
              <a:t>Source: Azure SRE Agent pricing &amp; billing documentation (aka.ms/sreagent/pricing)</a:t>
            </a:r>
          </a:p>
        </p:txBody>
      </p:sp>
      <p:sp>
        <p:nvSpPr>
          <p:cNvPr id="43" name="TextBox 42"/>
          <p:cNvSpPr txBox="1"/>
          <p:nvPr/>
        </p:nvSpPr>
        <p:spPr>
          <a:xfrm>
            <a:off x="7772400" y="6565392"/>
            <a:ext cx="3931920" cy="228600"/>
          </a:xfrm>
          <a:prstGeom prst="rect">
            <a:avLst/>
          </a:prstGeom>
          <a:noFill/>
        </p:spPr>
        <p:txBody>
          <a:bodyPr wrap="square" lIns="0" tIns="0" rIns="0" bIns="0" anchor="t">
            <a:spAutoFit/>
          </a:bodyPr>
          <a:lstStyle/>
          <a:p>
            <a:pPr algn="r"/>
            <a:r>
              <a:rPr sz="900" b="0">
                <a:solidFill>
                  <a:srgbClr val="5B6B7A"/>
                </a:solidFill>
                <a:latin typeface="Segoe UI"/>
              </a:rPr>
              <a:t>Illustrative AAU price of $0.10 used; actual rates vary by model and region.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52D55"/>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828800" cy="365760"/>
          </a:xfrm>
          <a:prstGeom prst="rect">
            <a:avLst/>
          </a:prstGeom>
          <a:noFill/>
        </p:spPr>
        <p:txBody>
          <a:bodyPr wrap="square">
            <a:spAutoFit/>
          </a:bodyPr>
          <a:lstStyle/>
          <a:p>
            <a:pPr algn="l">
              <a:defRPr sz="1400" b="1">
                <a:solidFill>
                  <a:srgbClr val="00B7C3"/>
                </a:solidFill>
                <a:latin typeface="Segoe UI"/>
              </a:defRPr>
            </a:pPr>
            <a:r>
              <a:t>SECTION 03</a:t>
            </a:r>
          </a:p>
        </p:txBody>
      </p:sp>
      <p:sp>
        <p:nvSpPr>
          <p:cNvPr id="3" name="TextBox 2"/>
          <p:cNvSpPr txBox="1"/>
          <p:nvPr/>
        </p:nvSpPr>
        <p:spPr>
          <a:xfrm>
            <a:off x="731520" y="2286000"/>
            <a:ext cx="9144000" cy="914400"/>
          </a:xfrm>
          <a:prstGeom prst="rect">
            <a:avLst/>
          </a:prstGeom>
          <a:noFill/>
        </p:spPr>
        <p:txBody>
          <a:bodyPr wrap="square">
            <a:spAutoFit/>
          </a:bodyPr>
          <a:lstStyle/>
          <a:p>
            <a:pPr algn="l">
              <a:defRPr sz="5200" b="1">
                <a:solidFill>
                  <a:srgbClr val="FFFFFF"/>
                </a:solidFill>
                <a:latin typeface="Segoe UI Semibold"/>
              </a:defRPr>
            </a:pPr>
            <a:r>
              <a:t>Customer Zero Proof</a:t>
            </a:r>
          </a:p>
        </p:txBody>
      </p:sp>
      <p:sp>
        <p:nvSpPr>
          <p:cNvPr id="4" name="TextBox 3"/>
          <p:cNvSpPr txBox="1"/>
          <p:nvPr/>
        </p:nvSpPr>
        <p:spPr>
          <a:xfrm>
            <a:off x="731520" y="3474720"/>
            <a:ext cx="8229600" cy="640080"/>
          </a:xfrm>
          <a:prstGeom prst="rect">
            <a:avLst/>
          </a:prstGeom>
          <a:noFill/>
        </p:spPr>
        <p:txBody>
          <a:bodyPr wrap="square">
            <a:spAutoFit/>
          </a:bodyPr>
          <a:lstStyle/>
          <a:p>
            <a:pPr algn="l">
              <a:defRPr sz="2200" b="0">
                <a:solidFill>
                  <a:srgbClr val="B0D0F0"/>
                </a:solidFill>
                <a:latin typeface="Segoe UI"/>
              </a:defRPr>
            </a:pPr>
            <a:r>
              <a:t>Real production data from Microsoft's own engineering teams.</a:t>
            </a:r>
            <a:br/>
            <a:r>
              <a:t>Not demos. Not POCs. Real incidents, real mitigation, real savings.</a:t>
            </a:r>
          </a:p>
        </p:txBody>
      </p:sp>
      <p:sp>
        <p:nvSpPr>
          <p:cNvPr id="5" name="Rectangle 4"/>
          <p:cNvSpPr/>
          <p:nvPr/>
        </p:nvSpPr>
        <p:spPr>
          <a:xfrm>
            <a:off x="731520" y="2103120"/>
            <a:ext cx="274320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D83CA-3849-BD24-9D09-B70E4D11CAE3}"/>
            </a:ext>
          </a:extLst>
        </p:cNvPr>
        <p:cNvGrpSpPr/>
        <p:nvPr/>
      </p:nvGrpSpPr>
      <p:grpSpPr>
        <a:xfrm>
          <a:off x="0" y="0"/>
          <a:ext cx="0" cy="0"/>
          <a:chOff x="0" y="0"/>
          <a:chExt cx="0" cy="0"/>
        </a:xfrm>
      </p:grpSpPr>
      <p:sp>
        <p:nvSpPr>
          <p:cNvPr id="56" name="Rectangle 55">
            <a:extLst>
              <a:ext uri="{FF2B5EF4-FFF2-40B4-BE49-F238E27FC236}">
                <a16:creationId xmlns:a16="http://schemas.microsoft.com/office/drawing/2014/main" id="{5C05177F-47C0-350A-55EE-2362FEB9EDA6}"/>
              </a:ext>
              <a:ext uri="{C183D7F6-B498-43B3-948B-1728B52AA6E4}">
                <adec:decorative xmlns:adec="http://schemas.microsoft.com/office/drawing/2017/decorative" val="1"/>
              </a:ext>
            </a:extLst>
          </p:cNvPr>
          <p:cNvSpPr>
            <a:spLocks/>
          </p:cNvSpPr>
          <p:nvPr/>
        </p:nvSpPr>
        <p:spPr bwMode="auto">
          <a:xfrm>
            <a:off x="0" y="2748182"/>
            <a:ext cx="12192000" cy="2286000"/>
          </a:xfrm>
          <a:prstGeom prst="rect">
            <a:avLst/>
          </a:prstGeom>
          <a:gradFill flip="none" rotWithShape="1">
            <a:gsLst>
              <a:gs pos="0">
                <a:schemeClr val="tx2"/>
              </a:gs>
              <a:gs pos="100000">
                <a:schemeClr val="accent3"/>
              </a:gs>
            </a:gsLst>
            <a:lin ang="189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base" latinLnBrk="0" hangingPunct="1">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Sans Text Semibold"/>
              <a:ea typeface="+mn-ea"/>
              <a:cs typeface="+mn-cs"/>
            </a:endParaRPr>
          </a:p>
        </p:txBody>
      </p:sp>
      <p:sp>
        <p:nvSpPr>
          <p:cNvPr id="3" name="Title 2">
            <a:extLst>
              <a:ext uri="{FF2B5EF4-FFF2-40B4-BE49-F238E27FC236}">
                <a16:creationId xmlns:a16="http://schemas.microsoft.com/office/drawing/2014/main" id="{C91A10B5-D8C2-3A39-D397-EFB07AD789D3}"/>
              </a:ext>
            </a:extLst>
          </p:cNvPr>
          <p:cNvSpPr>
            <a:spLocks noGrp="1"/>
          </p:cNvSpPr>
          <p:nvPr>
            <p:ph type="title"/>
          </p:nvPr>
        </p:nvSpPr>
        <p:spPr>
          <a:xfrm>
            <a:off x="588263" y="814615"/>
            <a:ext cx="11018520" cy="553998"/>
          </a:xfrm>
        </p:spPr>
        <p:txBody>
          <a:bodyPr/>
          <a:lstStyle/>
          <a:p>
            <a:r>
              <a:rPr lang="en-US" dirty="0"/>
              <a:t>Business impact of Azure SRE Agent</a:t>
            </a:r>
          </a:p>
        </p:txBody>
      </p:sp>
      <p:sp>
        <p:nvSpPr>
          <p:cNvPr id="5" name="Google Shape;133;p19">
            <a:extLst>
              <a:ext uri="{FF2B5EF4-FFF2-40B4-BE49-F238E27FC236}">
                <a16:creationId xmlns:a16="http://schemas.microsoft.com/office/drawing/2014/main" id="{EE09F8CE-397F-5B0A-A93C-03A70FDB99FA}"/>
              </a:ext>
              <a:ext uri="{C183D7F6-B498-43B3-948B-1728B52AA6E4}">
                <adec:decorative xmlns:adec="http://schemas.microsoft.com/office/drawing/2017/decorative" val="1"/>
              </a:ext>
            </a:extLst>
          </p:cNvPr>
          <p:cNvSpPr/>
          <p:nvPr/>
        </p:nvSpPr>
        <p:spPr>
          <a:xfrm>
            <a:off x="1424154" y="2400710"/>
            <a:ext cx="2699529" cy="2980944"/>
          </a:xfrm>
          <a:prstGeom prst="roundRect">
            <a:avLst>
              <a:gd name="adj" fmla="val 3580"/>
            </a:avLst>
          </a:prstGeom>
          <a:solidFill>
            <a:schemeClr val="bg1"/>
          </a:solidFill>
          <a:ln w="12700">
            <a:noFill/>
          </a:ln>
          <a:effectLst>
            <a:outerShdw blurRad="190500" dist="63500" dir="8100000" algn="tr" rotWithShape="0">
              <a:schemeClr val="tx1">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a:ln>
                <a:noFill/>
              </a:ln>
              <a:solidFill>
                <a:srgbClr val="0078D4"/>
              </a:solidFill>
              <a:effectLst/>
              <a:uLnTx/>
              <a:uFillTx/>
              <a:latin typeface="Segoe Sans Text Semibold"/>
              <a:ea typeface="+mn-ea"/>
              <a:cs typeface="+mn-cs"/>
              <a:sym typeface="Calibri"/>
            </a:endParaRPr>
          </a:p>
        </p:txBody>
      </p:sp>
      <p:sp>
        <p:nvSpPr>
          <p:cNvPr id="15" name="Google Shape;133;p19">
            <a:extLst>
              <a:ext uri="{FF2B5EF4-FFF2-40B4-BE49-F238E27FC236}">
                <a16:creationId xmlns:a16="http://schemas.microsoft.com/office/drawing/2014/main" id="{CE86810A-9B22-3235-92E7-E20F0A376081}"/>
              </a:ext>
              <a:ext uri="{C183D7F6-B498-43B3-948B-1728B52AA6E4}">
                <adec:decorative xmlns:adec="http://schemas.microsoft.com/office/drawing/2017/decorative" val="1"/>
              </a:ext>
            </a:extLst>
          </p:cNvPr>
          <p:cNvSpPr/>
          <p:nvPr/>
        </p:nvSpPr>
        <p:spPr>
          <a:xfrm>
            <a:off x="4746235" y="2400710"/>
            <a:ext cx="2699529" cy="2980944"/>
          </a:xfrm>
          <a:prstGeom prst="roundRect">
            <a:avLst>
              <a:gd name="adj" fmla="val 3580"/>
            </a:avLst>
          </a:prstGeom>
          <a:solidFill>
            <a:schemeClr val="bg1"/>
          </a:solidFill>
          <a:ln w="12700">
            <a:noFill/>
          </a:ln>
          <a:effectLst>
            <a:outerShdw blurRad="190500" dist="63500" dir="8100000" algn="tr" rotWithShape="0">
              <a:schemeClr val="tx1">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a:ln>
                <a:noFill/>
              </a:ln>
              <a:solidFill>
                <a:srgbClr val="0078D4"/>
              </a:solidFill>
              <a:effectLst/>
              <a:uLnTx/>
              <a:uFillTx/>
              <a:latin typeface="Segoe Sans Text Semibold"/>
              <a:ea typeface="+mn-ea"/>
              <a:cs typeface="+mn-cs"/>
              <a:sym typeface="Calibri"/>
            </a:endParaRPr>
          </a:p>
        </p:txBody>
      </p:sp>
      <p:sp>
        <p:nvSpPr>
          <p:cNvPr id="20" name="Google Shape;133;p19">
            <a:extLst>
              <a:ext uri="{FF2B5EF4-FFF2-40B4-BE49-F238E27FC236}">
                <a16:creationId xmlns:a16="http://schemas.microsoft.com/office/drawing/2014/main" id="{A00F488F-3B53-8281-272E-9378961888A8}"/>
              </a:ext>
              <a:ext uri="{C183D7F6-B498-43B3-948B-1728B52AA6E4}">
                <adec:decorative xmlns:adec="http://schemas.microsoft.com/office/drawing/2017/decorative" val="1"/>
              </a:ext>
            </a:extLst>
          </p:cNvPr>
          <p:cNvSpPr/>
          <p:nvPr/>
        </p:nvSpPr>
        <p:spPr>
          <a:xfrm>
            <a:off x="8068317" y="2400710"/>
            <a:ext cx="2699529" cy="2980944"/>
          </a:xfrm>
          <a:prstGeom prst="roundRect">
            <a:avLst>
              <a:gd name="adj" fmla="val 3580"/>
            </a:avLst>
          </a:prstGeom>
          <a:solidFill>
            <a:schemeClr val="bg1"/>
          </a:solidFill>
          <a:ln w="12700">
            <a:noFill/>
          </a:ln>
          <a:effectLst>
            <a:outerShdw blurRad="190500" dist="63500" dir="8100000" algn="tr" rotWithShape="0">
              <a:schemeClr val="tx1">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a:ln>
                <a:noFill/>
              </a:ln>
              <a:solidFill>
                <a:srgbClr val="0078D4"/>
              </a:solidFill>
              <a:effectLst/>
              <a:uLnTx/>
              <a:uFillTx/>
              <a:latin typeface="Segoe Sans Text Semibold"/>
              <a:ea typeface="+mn-ea"/>
              <a:cs typeface="+mn-cs"/>
              <a:sym typeface="Calibri"/>
            </a:endParaRPr>
          </a:p>
        </p:txBody>
      </p:sp>
      <p:sp>
        <p:nvSpPr>
          <p:cNvPr id="28" name="Google Shape;133;p19">
            <a:extLst>
              <a:ext uri="{FF2B5EF4-FFF2-40B4-BE49-F238E27FC236}">
                <a16:creationId xmlns:a16="http://schemas.microsoft.com/office/drawing/2014/main" id="{753322BF-9658-4A63-FF9E-36057893D26A}"/>
              </a:ext>
              <a:ext uri="{C183D7F6-B498-43B3-948B-1728B52AA6E4}">
                <adec:decorative xmlns:adec="http://schemas.microsoft.com/office/drawing/2017/decorative" val="1"/>
              </a:ext>
            </a:extLst>
          </p:cNvPr>
          <p:cNvSpPr/>
          <p:nvPr/>
        </p:nvSpPr>
        <p:spPr>
          <a:xfrm>
            <a:off x="2281411" y="2525828"/>
            <a:ext cx="1774219" cy="615553"/>
          </a:xfrm>
          <a:prstGeom prst="rect">
            <a:avLst/>
          </a:prstGeom>
          <a:gradFill>
            <a:gsLst>
              <a:gs pos="0">
                <a:srgbClr val="EACEEB">
                  <a:alpha val="10000"/>
                </a:srgbClr>
              </a:gs>
              <a:gs pos="55000">
                <a:srgbClr val="E2F1F9">
                  <a:alpha val="10000"/>
                </a:srgbClr>
              </a:gs>
            </a:gsLst>
            <a:path path="circle">
              <a:fillToRect l="100000" t="100000"/>
            </a:path>
          </a:gradFill>
        </p:spPr>
        <p:txBody>
          <a:bodyPr wrap="square" lIns="0" tIns="0" rIns="0" bIns="0" rtlCol="0" anchor="ctr" anchorCtr="0">
            <a:spAutoFit/>
          </a:bodyPr>
          <a:lstStyle/>
          <a:p>
            <a:pPr marL="0" marR="0" lvl="0" indent="0" algn="l" defTabSz="1243645" rtl="0" eaLnBrk="1" fontAlgn="base" latinLnBrk="0" hangingPunct="1">
              <a:lnSpc>
                <a:spcPct val="100000"/>
              </a:lnSpc>
              <a:spcBef>
                <a:spcPts val="267"/>
              </a:spcBef>
              <a:spcAft>
                <a:spcPct val="0"/>
              </a:spcAft>
              <a:buClrTx/>
              <a:buSzTx/>
              <a:buFontTx/>
              <a:buNone/>
              <a:tabLst>
                <a:tab pos="4934738" algn="l"/>
              </a:tabLst>
              <a:defRPr/>
            </a:pPr>
            <a:r>
              <a:rPr kumimoji="0" lang="en-US" sz="2000" b="0" i="0" u="none" strike="noStrike" kern="1200" cap="none" spc="0" normalizeH="0" baseline="0" noProof="0">
                <a:ln>
                  <a:noFill/>
                </a:ln>
                <a:solidFill>
                  <a:srgbClr val="0078D4"/>
                </a:solidFill>
                <a:effectLst/>
                <a:uLnTx/>
                <a:uFillTx/>
                <a:latin typeface="Segoe Sans Text Semibold"/>
                <a:ea typeface="+mn-ea"/>
                <a:cs typeface="Cascadia Code" panose="020B0609020000020004" pitchFamily="49" charset="0"/>
                <a:sym typeface="Calibri"/>
              </a:rPr>
              <a:t>Incident Management</a:t>
            </a:r>
          </a:p>
        </p:txBody>
      </p:sp>
      <p:sp>
        <p:nvSpPr>
          <p:cNvPr id="29" name="Google Shape;133;p19">
            <a:extLst>
              <a:ext uri="{FF2B5EF4-FFF2-40B4-BE49-F238E27FC236}">
                <a16:creationId xmlns:a16="http://schemas.microsoft.com/office/drawing/2014/main" id="{DA911728-B634-F1A7-A6EC-6117560D908A}"/>
              </a:ext>
              <a:ext uri="{C183D7F6-B498-43B3-948B-1728B52AA6E4}">
                <adec:decorative xmlns:adec="http://schemas.microsoft.com/office/drawing/2017/decorative" val="1"/>
              </a:ext>
            </a:extLst>
          </p:cNvPr>
          <p:cNvSpPr/>
          <p:nvPr/>
        </p:nvSpPr>
        <p:spPr>
          <a:xfrm>
            <a:off x="5631083" y="2525828"/>
            <a:ext cx="1701267" cy="615553"/>
          </a:xfrm>
          <a:prstGeom prst="rect">
            <a:avLst/>
          </a:prstGeom>
          <a:gradFill>
            <a:gsLst>
              <a:gs pos="0">
                <a:srgbClr val="EACEEB">
                  <a:alpha val="10000"/>
                </a:srgbClr>
              </a:gs>
              <a:gs pos="55000">
                <a:srgbClr val="E2F1F9">
                  <a:alpha val="10000"/>
                </a:srgbClr>
              </a:gs>
            </a:gsLst>
            <a:path path="circle">
              <a:fillToRect l="100000" t="100000"/>
            </a:path>
          </a:gradFill>
        </p:spPr>
        <p:txBody>
          <a:bodyPr wrap="square" lIns="0" tIns="0" rIns="0" bIns="0" rtlCol="0" anchor="ctr" anchorCtr="0">
            <a:spAutoFit/>
          </a:bodyPr>
          <a:lstStyle/>
          <a:p>
            <a:pPr marL="0" marR="0" lvl="0" indent="0" algn="l" defTabSz="1243645" rtl="0" eaLnBrk="1" fontAlgn="base" latinLnBrk="0" hangingPunct="1">
              <a:lnSpc>
                <a:spcPct val="100000"/>
              </a:lnSpc>
              <a:spcBef>
                <a:spcPts val="267"/>
              </a:spcBef>
              <a:spcAft>
                <a:spcPct val="0"/>
              </a:spcAft>
              <a:buClrTx/>
              <a:buSzTx/>
              <a:buFontTx/>
              <a:buNone/>
              <a:tabLst>
                <a:tab pos="4934738" algn="l"/>
              </a:tabLst>
              <a:defRPr/>
            </a:pPr>
            <a:r>
              <a:rPr kumimoji="0" lang="en-US" sz="2000" b="0" i="0" u="none" strike="noStrike" kern="1200" cap="none" spc="0" normalizeH="0" baseline="0" noProof="0">
                <a:ln>
                  <a:noFill/>
                </a:ln>
                <a:solidFill>
                  <a:srgbClr val="0078D4"/>
                </a:solidFill>
                <a:effectLst/>
                <a:uLnTx/>
                <a:uFillTx/>
                <a:latin typeface="Segoe Sans Text Semibold"/>
                <a:ea typeface="+mn-ea"/>
                <a:cs typeface="Cascadia Code" panose="020B0609020000020004" pitchFamily="49" charset="0"/>
                <a:sym typeface="Calibri"/>
              </a:rPr>
              <a:t>Release Management</a:t>
            </a:r>
          </a:p>
        </p:txBody>
      </p:sp>
      <p:sp>
        <p:nvSpPr>
          <p:cNvPr id="30" name="Google Shape;133;p19">
            <a:extLst>
              <a:ext uri="{FF2B5EF4-FFF2-40B4-BE49-F238E27FC236}">
                <a16:creationId xmlns:a16="http://schemas.microsoft.com/office/drawing/2014/main" id="{8411AAA8-11EF-80D0-4480-F1751AD0FC73}"/>
              </a:ext>
              <a:ext uri="{C183D7F6-B498-43B3-948B-1728B52AA6E4}">
                <adec:decorative xmlns:adec="http://schemas.microsoft.com/office/drawing/2017/decorative" val="1"/>
              </a:ext>
            </a:extLst>
          </p:cNvPr>
          <p:cNvSpPr/>
          <p:nvPr/>
        </p:nvSpPr>
        <p:spPr>
          <a:xfrm>
            <a:off x="8856994" y="2525828"/>
            <a:ext cx="1791989" cy="615553"/>
          </a:xfrm>
          <a:prstGeom prst="rect">
            <a:avLst/>
          </a:prstGeom>
          <a:gradFill>
            <a:gsLst>
              <a:gs pos="0">
                <a:srgbClr val="EACEEB">
                  <a:alpha val="10000"/>
                </a:srgbClr>
              </a:gs>
              <a:gs pos="55000">
                <a:srgbClr val="E2F1F9">
                  <a:alpha val="10000"/>
                </a:srgbClr>
              </a:gs>
            </a:gsLst>
            <a:path path="circle">
              <a:fillToRect l="100000" t="100000"/>
            </a:path>
          </a:gradFill>
        </p:spPr>
        <p:txBody>
          <a:bodyPr wrap="square" lIns="0" tIns="0" rIns="0" bIns="0" rtlCol="0" anchor="ctr" anchorCtr="0">
            <a:spAutoFit/>
          </a:bodyPr>
          <a:lstStyle/>
          <a:p>
            <a:pPr marL="0" marR="0" lvl="0" indent="0" algn="l" defTabSz="1243645" rtl="0" eaLnBrk="1" fontAlgn="base" latinLnBrk="0" hangingPunct="1">
              <a:lnSpc>
                <a:spcPct val="100000"/>
              </a:lnSpc>
              <a:spcBef>
                <a:spcPts val="267"/>
              </a:spcBef>
              <a:spcAft>
                <a:spcPct val="0"/>
              </a:spcAft>
              <a:buClrTx/>
              <a:buSzTx/>
              <a:buFontTx/>
              <a:buNone/>
              <a:tabLst>
                <a:tab pos="4934738" algn="l"/>
              </a:tabLst>
              <a:defRPr/>
            </a:pPr>
            <a:r>
              <a:rPr kumimoji="0" lang="en-US" sz="2000" b="0" i="0" u="none" strike="noStrike" kern="1200" cap="none" spc="0" normalizeH="0" baseline="0" noProof="0">
                <a:ln>
                  <a:noFill/>
                </a:ln>
                <a:solidFill>
                  <a:srgbClr val="0078D4"/>
                </a:solidFill>
                <a:effectLst/>
                <a:uLnTx/>
                <a:uFillTx/>
                <a:latin typeface="Segoe Sans Text Semibold"/>
                <a:ea typeface="+mn-ea"/>
                <a:cs typeface="Cascadia Code" panose="020B0609020000020004" pitchFamily="49" charset="0"/>
                <a:sym typeface="Calibri"/>
              </a:rPr>
              <a:t>Security Management</a:t>
            </a:r>
          </a:p>
        </p:txBody>
      </p:sp>
      <p:sp>
        <p:nvSpPr>
          <p:cNvPr id="36" name="Text Placeholder 4">
            <a:extLst>
              <a:ext uri="{FF2B5EF4-FFF2-40B4-BE49-F238E27FC236}">
                <a16:creationId xmlns:a16="http://schemas.microsoft.com/office/drawing/2014/main" id="{CDAC8580-D9A8-BAAE-247A-96A0194F700A}"/>
              </a:ext>
            </a:extLst>
          </p:cNvPr>
          <p:cNvSpPr txBox="1">
            <a:spLocks/>
          </p:cNvSpPr>
          <p:nvPr/>
        </p:nvSpPr>
        <p:spPr>
          <a:xfrm>
            <a:off x="588963" y="1445761"/>
            <a:ext cx="11017250" cy="307777"/>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lvl="0" indent="0">
              <a:buNone/>
              <a:defRPr/>
            </a:pPr>
            <a:r>
              <a:rPr lang="en-US" sz="2000">
                <a:solidFill>
                  <a:srgbClr val="000000"/>
                </a:solidFill>
                <a:latin typeface="Segoe Sans Text Semibold"/>
              </a:rPr>
              <a:t>Agentic operations with human-in-loop when needed</a:t>
            </a:r>
          </a:p>
        </p:txBody>
      </p:sp>
      <p:sp>
        <p:nvSpPr>
          <p:cNvPr id="18" name="Google Shape;171;p20">
            <a:extLst>
              <a:ext uri="{FF2B5EF4-FFF2-40B4-BE49-F238E27FC236}">
                <a16:creationId xmlns:a16="http://schemas.microsoft.com/office/drawing/2014/main" id="{31794E13-2126-0B7E-2D26-B0393C0694D4}"/>
              </a:ext>
            </a:extLst>
          </p:cNvPr>
          <p:cNvSpPr/>
          <p:nvPr/>
        </p:nvSpPr>
        <p:spPr>
          <a:xfrm>
            <a:off x="4866711" y="2573001"/>
            <a:ext cx="521208" cy="521208"/>
          </a:xfrm>
          <a:prstGeom prst="ellipse">
            <a:avLst/>
          </a:prstGeom>
          <a:gradFill flip="none" rotWithShape="1">
            <a:gsLst>
              <a:gs pos="0">
                <a:schemeClr val="tx2"/>
              </a:gs>
              <a:gs pos="100000">
                <a:schemeClr val="accent3"/>
              </a:gs>
            </a:gsLst>
            <a:lin ang="189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Sans Text"/>
              <a:ea typeface="+mn-ea"/>
              <a:cs typeface="+mn-cs"/>
              <a:sym typeface="Calibri"/>
            </a:endParaRPr>
          </a:p>
        </p:txBody>
      </p:sp>
      <p:grpSp>
        <p:nvGrpSpPr>
          <p:cNvPr id="42" name="Group 41">
            <a:extLst>
              <a:ext uri="{FF2B5EF4-FFF2-40B4-BE49-F238E27FC236}">
                <a16:creationId xmlns:a16="http://schemas.microsoft.com/office/drawing/2014/main" id="{573EC811-2821-D256-2C7C-FFD69306D03D}"/>
              </a:ext>
            </a:extLst>
          </p:cNvPr>
          <p:cNvGrpSpPr/>
          <p:nvPr/>
        </p:nvGrpSpPr>
        <p:grpSpPr>
          <a:xfrm>
            <a:off x="8227457" y="2573001"/>
            <a:ext cx="521208" cy="521208"/>
            <a:chOff x="6257596" y="2573001"/>
            <a:chExt cx="521208" cy="521208"/>
          </a:xfrm>
        </p:grpSpPr>
        <p:sp>
          <p:nvSpPr>
            <p:cNvPr id="23" name="Google Shape;171;p20">
              <a:extLst>
                <a:ext uri="{FF2B5EF4-FFF2-40B4-BE49-F238E27FC236}">
                  <a16:creationId xmlns:a16="http://schemas.microsoft.com/office/drawing/2014/main" id="{F57B7091-1DB0-BDE4-0F5E-D7F2382F9E09}"/>
                </a:ext>
              </a:extLst>
            </p:cNvPr>
            <p:cNvSpPr/>
            <p:nvPr/>
          </p:nvSpPr>
          <p:spPr>
            <a:xfrm>
              <a:off x="6257596" y="2573001"/>
              <a:ext cx="521208" cy="521208"/>
            </a:xfrm>
            <a:prstGeom prst="ellipse">
              <a:avLst/>
            </a:prstGeom>
            <a:gradFill flip="none" rotWithShape="1">
              <a:gsLst>
                <a:gs pos="0">
                  <a:schemeClr val="tx2"/>
                </a:gs>
                <a:gs pos="100000">
                  <a:schemeClr val="accent3"/>
                </a:gs>
              </a:gsLst>
              <a:lin ang="189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sym typeface="Calibri"/>
              </a:endParaRPr>
            </a:p>
          </p:txBody>
        </p:sp>
        <p:sp>
          <p:nvSpPr>
            <p:cNvPr id="47" name="Graphic 39" descr="Icon of a shield">
              <a:extLst>
                <a:ext uri="{FF2B5EF4-FFF2-40B4-BE49-F238E27FC236}">
                  <a16:creationId xmlns:a16="http://schemas.microsoft.com/office/drawing/2014/main" id="{E3DB6C09-DBD1-74EA-CCA2-5873BFE4C69C}"/>
                </a:ext>
              </a:extLst>
            </p:cNvPr>
            <p:cNvSpPr>
              <a:spLocks noChangeAspect="1"/>
            </p:cNvSpPr>
            <p:nvPr/>
          </p:nvSpPr>
          <p:spPr>
            <a:xfrm>
              <a:off x="6408210" y="2711394"/>
              <a:ext cx="219979" cy="244422"/>
            </a:xfrm>
            <a:custGeom>
              <a:avLst/>
              <a:gdLst>
                <a:gd name="connsiteX0" fmla="*/ 0 w 171450"/>
                <a:gd name="connsiteY0" fmla="*/ 35719 h 190501"/>
                <a:gd name="connsiteX1" fmla="*/ 7144 w 171450"/>
                <a:gd name="connsiteY1" fmla="*/ 28575 h 190501"/>
                <a:gd name="connsiteX2" fmla="*/ 81439 w 171450"/>
                <a:gd name="connsiteY2" fmla="*/ 1429 h 190501"/>
                <a:gd name="connsiteX3" fmla="*/ 90011 w 171450"/>
                <a:gd name="connsiteY3" fmla="*/ 1429 h 190501"/>
                <a:gd name="connsiteX4" fmla="*/ 164306 w 171450"/>
                <a:gd name="connsiteY4" fmla="*/ 28575 h 190501"/>
                <a:gd name="connsiteX5" fmla="*/ 171450 w 171450"/>
                <a:gd name="connsiteY5" fmla="*/ 35719 h 190501"/>
                <a:gd name="connsiteX6" fmla="*/ 171450 w 171450"/>
                <a:gd name="connsiteY6" fmla="*/ 85725 h 190501"/>
                <a:gd name="connsiteX7" fmla="*/ 88344 w 171450"/>
                <a:gd name="connsiteY7" fmla="*/ 190005 h 190501"/>
                <a:gd name="connsiteX8" fmla="*/ 83106 w 171450"/>
                <a:gd name="connsiteY8" fmla="*/ 190005 h 190501"/>
                <a:gd name="connsiteX9" fmla="*/ 0 w 171450"/>
                <a:gd name="connsiteY9" fmla="*/ 85725 h 190501"/>
                <a:gd name="connsiteX10" fmla="*/ 0 w 171450"/>
                <a:gd name="connsiteY10" fmla="*/ 35719 h 19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1450" h="190501">
                  <a:moveTo>
                    <a:pt x="0" y="35719"/>
                  </a:moveTo>
                  <a:cubicBezTo>
                    <a:pt x="0" y="31773"/>
                    <a:pt x="3198" y="28575"/>
                    <a:pt x="7144" y="28575"/>
                  </a:cubicBezTo>
                  <a:cubicBezTo>
                    <a:pt x="32509" y="28575"/>
                    <a:pt x="57226" y="19593"/>
                    <a:pt x="81439" y="1429"/>
                  </a:cubicBezTo>
                  <a:cubicBezTo>
                    <a:pt x="83979" y="-476"/>
                    <a:pt x="87471" y="-476"/>
                    <a:pt x="90011" y="1429"/>
                  </a:cubicBezTo>
                  <a:cubicBezTo>
                    <a:pt x="114224" y="19593"/>
                    <a:pt x="138941" y="28575"/>
                    <a:pt x="164306" y="28575"/>
                  </a:cubicBezTo>
                  <a:cubicBezTo>
                    <a:pt x="168252" y="28575"/>
                    <a:pt x="171450" y="31773"/>
                    <a:pt x="171450" y="35719"/>
                  </a:cubicBezTo>
                  <a:lnTo>
                    <a:pt x="171450" y="85725"/>
                  </a:lnTo>
                  <a:cubicBezTo>
                    <a:pt x="171450" y="133360"/>
                    <a:pt x="143275" y="168364"/>
                    <a:pt x="88344" y="190005"/>
                  </a:cubicBezTo>
                  <a:cubicBezTo>
                    <a:pt x="86661" y="190668"/>
                    <a:pt x="84789" y="190668"/>
                    <a:pt x="83106" y="190005"/>
                  </a:cubicBezTo>
                  <a:cubicBezTo>
                    <a:pt x="28175" y="168364"/>
                    <a:pt x="0" y="133350"/>
                    <a:pt x="0" y="85725"/>
                  </a:cubicBezTo>
                  <a:lnTo>
                    <a:pt x="0" y="35719"/>
                  </a:lnTo>
                  <a:close/>
                </a:path>
              </a:pathLst>
            </a:custGeom>
            <a:solidFill>
              <a:schemeClr val="bg1"/>
            </a:solidFill>
            <a:ln w="1508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Sans Text"/>
                <a:ea typeface="+mn-ea"/>
                <a:cs typeface="+mn-cs"/>
              </a:endParaRPr>
            </a:p>
          </p:txBody>
        </p:sp>
      </p:grpSp>
      <p:sp>
        <p:nvSpPr>
          <p:cNvPr id="8" name="Google Shape;171;p20">
            <a:extLst>
              <a:ext uri="{FF2B5EF4-FFF2-40B4-BE49-F238E27FC236}">
                <a16:creationId xmlns:a16="http://schemas.microsoft.com/office/drawing/2014/main" id="{7033C01E-5EC1-4DF8-4235-A5067C2269C4}"/>
              </a:ext>
            </a:extLst>
          </p:cNvPr>
          <p:cNvSpPr/>
          <p:nvPr/>
        </p:nvSpPr>
        <p:spPr>
          <a:xfrm>
            <a:off x="1543017" y="2573061"/>
            <a:ext cx="521090" cy="521089"/>
          </a:xfrm>
          <a:prstGeom prst="ellipse">
            <a:avLst/>
          </a:prstGeom>
          <a:gradFill flip="none" rotWithShape="1">
            <a:gsLst>
              <a:gs pos="0">
                <a:schemeClr val="tx2"/>
              </a:gs>
              <a:gs pos="100000">
                <a:schemeClr val="accent3"/>
              </a:gs>
            </a:gsLst>
            <a:lin ang="189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Sans Text"/>
              <a:ea typeface="+mn-ea"/>
              <a:cs typeface="+mn-cs"/>
              <a:sym typeface="Calibri"/>
            </a:endParaRPr>
          </a:p>
        </p:txBody>
      </p:sp>
      <p:sp>
        <p:nvSpPr>
          <p:cNvPr id="2" name="Rectangle: Rounded Corners 1">
            <a:extLst>
              <a:ext uri="{FF2B5EF4-FFF2-40B4-BE49-F238E27FC236}">
                <a16:creationId xmlns:a16="http://schemas.microsoft.com/office/drawing/2014/main" id="{A524A4D7-51EB-9E02-7761-2051146D63E2}"/>
              </a:ext>
            </a:extLst>
          </p:cNvPr>
          <p:cNvSpPr/>
          <p:nvPr/>
        </p:nvSpPr>
        <p:spPr bwMode="auto">
          <a:xfrm>
            <a:off x="1543017" y="3500619"/>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300K</a:t>
            </a:r>
            <a:r>
              <a:rPr kumimoji="0" lang="en-US" sz="1600" b="0" i="0" u="none" strike="noStrike" kern="1200" cap="none" spc="0" normalizeH="0" baseline="0" noProof="0">
                <a:ln>
                  <a:noFill/>
                </a:ln>
                <a:solidFill>
                  <a:srgbClr val="000000"/>
                </a:solidFill>
                <a:effectLst/>
                <a:uLnTx/>
                <a:uFillTx/>
                <a:latin typeface="Segoe Sans Text"/>
                <a:ea typeface="+mn-ea"/>
                <a:cs typeface="+mn-cs"/>
              </a:rPr>
              <a:t> incidents managed</a:t>
            </a:r>
          </a:p>
        </p:txBody>
      </p:sp>
      <p:sp>
        <p:nvSpPr>
          <p:cNvPr id="4" name="Rectangle: Rounded Corners 3">
            <a:extLst>
              <a:ext uri="{FF2B5EF4-FFF2-40B4-BE49-F238E27FC236}">
                <a16:creationId xmlns:a16="http://schemas.microsoft.com/office/drawing/2014/main" id="{CE4BFB24-C6CE-DA43-9DB4-7F63CDDD0031}"/>
              </a:ext>
            </a:extLst>
          </p:cNvPr>
          <p:cNvSpPr/>
          <p:nvPr/>
        </p:nvSpPr>
        <p:spPr bwMode="auto">
          <a:xfrm>
            <a:off x="1543017" y="4078383"/>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245K </a:t>
            </a:r>
            <a:r>
              <a:rPr kumimoji="0" lang="en-US" sz="1600" b="0" i="0" u="none" strike="noStrike" kern="1200" cap="none" spc="0" normalizeH="0" baseline="0" noProof="0">
                <a:ln>
                  <a:noFill/>
                </a:ln>
                <a:solidFill>
                  <a:srgbClr val="000000"/>
                </a:solidFill>
                <a:effectLst/>
                <a:uLnTx/>
                <a:uFillTx/>
                <a:latin typeface="Segoe Sans Text"/>
                <a:ea typeface="+mn-ea"/>
                <a:cs typeface="+mn-cs"/>
              </a:rPr>
              <a:t>incident enriched</a:t>
            </a:r>
          </a:p>
        </p:txBody>
      </p:sp>
      <p:sp>
        <p:nvSpPr>
          <p:cNvPr id="6" name="Rectangle: Rounded Corners 5">
            <a:extLst>
              <a:ext uri="{FF2B5EF4-FFF2-40B4-BE49-F238E27FC236}">
                <a16:creationId xmlns:a16="http://schemas.microsoft.com/office/drawing/2014/main" id="{619F230A-2B8D-BE66-EBB3-3748C7EC8149}"/>
              </a:ext>
            </a:extLst>
          </p:cNvPr>
          <p:cNvSpPr/>
          <p:nvPr/>
        </p:nvSpPr>
        <p:spPr bwMode="auto">
          <a:xfrm>
            <a:off x="1543017" y="4656147"/>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5 min </a:t>
            </a:r>
            <a:r>
              <a:rPr kumimoji="0" lang="en-US" sz="1600" b="0" i="0" u="none" strike="noStrike" kern="1200" cap="none" spc="0" normalizeH="0" baseline="0" noProof="0">
                <a:ln>
                  <a:noFill/>
                </a:ln>
                <a:solidFill>
                  <a:srgbClr val="000000"/>
                </a:solidFill>
                <a:effectLst/>
                <a:uLnTx/>
                <a:uFillTx/>
                <a:latin typeface="Segoe Sans Text"/>
                <a:ea typeface="+mn-ea"/>
                <a:cs typeface="+mn-cs"/>
              </a:rPr>
              <a:t>median TTM</a:t>
            </a:r>
          </a:p>
        </p:txBody>
      </p:sp>
      <p:sp>
        <p:nvSpPr>
          <p:cNvPr id="7" name="Rectangle: Rounded Corners 6">
            <a:extLst>
              <a:ext uri="{FF2B5EF4-FFF2-40B4-BE49-F238E27FC236}">
                <a16:creationId xmlns:a16="http://schemas.microsoft.com/office/drawing/2014/main" id="{0E2DE550-7C0C-9B0F-582F-458C7E5B71EE}"/>
              </a:ext>
            </a:extLst>
          </p:cNvPr>
          <p:cNvSpPr/>
          <p:nvPr/>
        </p:nvSpPr>
        <p:spPr bwMode="auto">
          <a:xfrm>
            <a:off x="4854702" y="3500619"/>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8K</a:t>
            </a:r>
            <a:r>
              <a:rPr kumimoji="0" lang="en-US" sz="1600" b="0" i="0" u="none" strike="noStrike" kern="1200" cap="none" spc="0" normalizeH="0" baseline="0" noProof="0">
                <a:ln>
                  <a:noFill/>
                </a:ln>
                <a:solidFill>
                  <a:srgbClr val="000000"/>
                </a:solidFill>
                <a:effectLst/>
                <a:uLnTx/>
                <a:uFillTx/>
                <a:latin typeface="Segoe Sans Text"/>
                <a:ea typeface="+mn-ea"/>
                <a:cs typeface="+mn-cs"/>
              </a:rPr>
              <a:t> release threads</a:t>
            </a:r>
          </a:p>
        </p:txBody>
      </p:sp>
      <p:sp>
        <p:nvSpPr>
          <p:cNvPr id="9" name="Rectangle: Rounded Corners 8">
            <a:extLst>
              <a:ext uri="{FF2B5EF4-FFF2-40B4-BE49-F238E27FC236}">
                <a16:creationId xmlns:a16="http://schemas.microsoft.com/office/drawing/2014/main" id="{AD922B64-4E3E-46F0-90CF-34688D0BB680}"/>
              </a:ext>
            </a:extLst>
          </p:cNvPr>
          <p:cNvSpPr/>
          <p:nvPr/>
        </p:nvSpPr>
        <p:spPr bwMode="auto">
          <a:xfrm>
            <a:off x="4854702" y="4078383"/>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80K</a:t>
            </a:r>
            <a:r>
              <a:rPr kumimoji="0" lang="en-US" sz="1600" b="0" i="0" u="none" strike="noStrike" kern="1200" cap="none" spc="0" normalizeH="0" baseline="0" noProof="0">
                <a:ln>
                  <a:noFill/>
                </a:ln>
                <a:solidFill>
                  <a:srgbClr val="000000"/>
                </a:solidFill>
                <a:effectLst/>
                <a:uLnTx/>
                <a:uFillTx/>
                <a:latin typeface="Segoe Sans Text"/>
                <a:ea typeface="+mn-ea"/>
                <a:cs typeface="+mn-cs"/>
              </a:rPr>
              <a:t> total actions</a:t>
            </a:r>
          </a:p>
        </p:txBody>
      </p:sp>
      <p:sp>
        <p:nvSpPr>
          <p:cNvPr id="11" name="Rectangle: Rounded Corners 10">
            <a:extLst>
              <a:ext uri="{FF2B5EF4-FFF2-40B4-BE49-F238E27FC236}">
                <a16:creationId xmlns:a16="http://schemas.microsoft.com/office/drawing/2014/main" id="{C7C3FD0F-1579-9ADA-2887-07FB64C78059}"/>
              </a:ext>
            </a:extLst>
          </p:cNvPr>
          <p:cNvSpPr/>
          <p:nvPr/>
        </p:nvSpPr>
        <p:spPr bwMode="auto">
          <a:xfrm>
            <a:off x="4854702" y="4656147"/>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50</a:t>
            </a:r>
            <a:r>
              <a:rPr kumimoji="0" lang="en-US" sz="1600" b="0" i="0" u="none" strike="noStrike" kern="1200" cap="none" spc="0" normalizeH="0" baseline="0" noProof="0">
                <a:ln>
                  <a:noFill/>
                </a:ln>
                <a:solidFill>
                  <a:srgbClr val="000000"/>
                </a:solidFill>
                <a:effectLst/>
                <a:uLnTx/>
                <a:uFillTx/>
                <a:latin typeface="Segoe Sans Text"/>
                <a:ea typeface="+mn-ea"/>
                <a:cs typeface="+mn-cs"/>
              </a:rPr>
              <a:t> pipelines</a:t>
            </a:r>
          </a:p>
        </p:txBody>
      </p:sp>
      <p:sp>
        <p:nvSpPr>
          <p:cNvPr id="12" name="Rectangle: Rounded Corners 11">
            <a:extLst>
              <a:ext uri="{FF2B5EF4-FFF2-40B4-BE49-F238E27FC236}">
                <a16:creationId xmlns:a16="http://schemas.microsoft.com/office/drawing/2014/main" id="{273BED90-A87F-229C-D66D-7F5EA62B238C}"/>
              </a:ext>
            </a:extLst>
          </p:cNvPr>
          <p:cNvSpPr/>
          <p:nvPr/>
        </p:nvSpPr>
        <p:spPr bwMode="auto">
          <a:xfrm>
            <a:off x="8176784" y="3500619"/>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11K</a:t>
            </a:r>
            <a:r>
              <a:rPr kumimoji="0" lang="en-US" sz="1600" b="0" i="0" u="none" strike="noStrike" kern="1200" cap="none" spc="0" normalizeH="0" baseline="0" noProof="0">
                <a:ln>
                  <a:noFill/>
                </a:ln>
                <a:solidFill>
                  <a:srgbClr val="000000"/>
                </a:solidFill>
                <a:effectLst/>
                <a:uLnTx/>
                <a:uFillTx/>
                <a:latin typeface="Segoe Sans Text"/>
                <a:ea typeface="+mn-ea"/>
                <a:cs typeface="+mn-cs"/>
              </a:rPr>
              <a:t> best practice scans</a:t>
            </a:r>
          </a:p>
        </p:txBody>
      </p:sp>
      <p:sp>
        <p:nvSpPr>
          <p:cNvPr id="14" name="Rectangle: Rounded Corners 13">
            <a:extLst>
              <a:ext uri="{FF2B5EF4-FFF2-40B4-BE49-F238E27FC236}">
                <a16:creationId xmlns:a16="http://schemas.microsoft.com/office/drawing/2014/main" id="{B212502E-2CD9-6953-8BA2-9C637F0B841B}"/>
              </a:ext>
            </a:extLst>
          </p:cNvPr>
          <p:cNvSpPr/>
          <p:nvPr/>
        </p:nvSpPr>
        <p:spPr bwMode="auto">
          <a:xfrm>
            <a:off x="8176784" y="4078383"/>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200</a:t>
            </a:r>
            <a:r>
              <a:rPr kumimoji="0" lang="en-US" sz="1600" b="0" i="0" u="none" strike="noStrike" kern="1200" cap="none" spc="0" normalizeH="0" baseline="0" noProof="0">
                <a:ln>
                  <a:noFill/>
                </a:ln>
                <a:solidFill>
                  <a:srgbClr val="000000"/>
                </a:solidFill>
                <a:effectLst/>
                <a:uLnTx/>
                <a:uFillTx/>
                <a:latin typeface="Segoe Sans Text"/>
                <a:ea typeface="+mn-ea"/>
                <a:cs typeface="+mn-cs"/>
              </a:rPr>
              <a:t> security scans</a:t>
            </a:r>
          </a:p>
        </p:txBody>
      </p:sp>
      <p:sp>
        <p:nvSpPr>
          <p:cNvPr id="16" name="Rectangle: Rounded Corners 15">
            <a:extLst>
              <a:ext uri="{FF2B5EF4-FFF2-40B4-BE49-F238E27FC236}">
                <a16:creationId xmlns:a16="http://schemas.microsoft.com/office/drawing/2014/main" id="{1ED3EFF2-E7CC-4641-6C16-EDD34D83009A}"/>
              </a:ext>
            </a:extLst>
          </p:cNvPr>
          <p:cNvSpPr/>
          <p:nvPr/>
        </p:nvSpPr>
        <p:spPr bwMode="auto">
          <a:xfrm>
            <a:off x="8176784" y="4656147"/>
            <a:ext cx="2482594" cy="448926"/>
          </a:xfrm>
          <a:prstGeom prst="roundRect">
            <a:avLst/>
          </a:prstGeom>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0" rIns="9144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Sans Text Semibold"/>
                <a:ea typeface="+mn-ea"/>
                <a:cs typeface="+mn-cs"/>
              </a:rPr>
              <a:t>250K </a:t>
            </a:r>
            <a:r>
              <a:rPr kumimoji="0" lang="en-US" sz="1600" b="0" i="0" u="none" strike="noStrike" kern="1200" cap="none" spc="0" normalizeH="0" baseline="0" noProof="0">
                <a:ln>
                  <a:noFill/>
                </a:ln>
                <a:solidFill>
                  <a:srgbClr val="000000"/>
                </a:solidFill>
                <a:effectLst/>
                <a:uLnTx/>
                <a:uFillTx/>
                <a:latin typeface="Segoe Sans Text"/>
                <a:ea typeface="+mn-ea"/>
                <a:cs typeface="+mn-cs"/>
              </a:rPr>
              <a:t>daily reports</a:t>
            </a:r>
          </a:p>
        </p:txBody>
      </p:sp>
      <p:pic>
        <p:nvPicPr>
          <p:cNvPr id="44" name="Graphic 43" descr="Mining tools with solid fill">
            <a:extLst>
              <a:ext uri="{FF2B5EF4-FFF2-40B4-BE49-F238E27FC236}">
                <a16:creationId xmlns:a16="http://schemas.microsoft.com/office/drawing/2014/main" id="{B6D8F27B-F4A9-EB1D-EE50-674812DAAC9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18306" y="2631297"/>
            <a:ext cx="381000" cy="381000"/>
          </a:xfrm>
          <a:prstGeom prst="rect">
            <a:avLst/>
          </a:prstGeom>
        </p:spPr>
      </p:pic>
      <p:pic>
        <p:nvPicPr>
          <p:cNvPr id="54" name="Graphic 53" descr="Single gear with solid fill">
            <a:extLst>
              <a:ext uri="{FF2B5EF4-FFF2-40B4-BE49-F238E27FC236}">
                <a16:creationId xmlns:a16="http://schemas.microsoft.com/office/drawing/2014/main" id="{82129B03-29AD-93F3-E49A-9D6E2ACF9A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26914" y="2631297"/>
            <a:ext cx="400802" cy="400802"/>
          </a:xfrm>
          <a:prstGeom prst="rect">
            <a:avLst/>
          </a:prstGeom>
        </p:spPr>
      </p:pic>
      <p:sp>
        <p:nvSpPr>
          <p:cNvPr id="10" name="Rectangle: Rounded Corners 9">
            <a:extLst>
              <a:ext uri="{FF2B5EF4-FFF2-40B4-BE49-F238E27FC236}">
                <a16:creationId xmlns:a16="http://schemas.microsoft.com/office/drawing/2014/main" id="{BE8BEC6E-C06C-5EA4-4CDA-C874A7F83C7E}"/>
              </a:ext>
            </a:extLst>
          </p:cNvPr>
          <p:cNvSpPr/>
          <p:nvPr/>
        </p:nvSpPr>
        <p:spPr>
          <a:xfrm>
            <a:off x="585217" y="5603097"/>
            <a:ext cx="11035284" cy="653822"/>
          </a:xfrm>
          <a:prstGeom prst="roundRect">
            <a:avLst/>
          </a:prstGeom>
          <a:gradFill flip="none" rotWithShape="1">
            <a:gsLst>
              <a:gs pos="0">
                <a:schemeClr val="tx2"/>
              </a:gs>
              <a:gs pos="100000">
                <a:schemeClr val="accent3"/>
              </a:gs>
            </a:gsLst>
            <a:lin ang="189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45720" rIns="91440" bIns="45720" numCol="1" spcCol="0" rtlCol="0" fromWordArt="0" anchor="ctr" anchorCtr="0" forceAA="0" compatLnSpc="1">
            <a:prstTxWarp prst="textNoShape">
              <a:avLst/>
            </a:prstTxWarp>
            <a:noAutofit/>
          </a:bodyPr>
          <a:lstStyle/>
          <a:p>
            <a:pPr marL="0" marR="0" lvl="0" indent="0" algn="l" defTabSz="914367"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Segoe Sans Text Semibold"/>
                <a:ea typeface="+mn-ea"/>
                <a:cs typeface="+mn-cs"/>
              </a:rPr>
              <a:t>Impact at Microsoft:</a:t>
            </a:r>
          </a:p>
        </p:txBody>
      </p:sp>
      <p:sp>
        <p:nvSpPr>
          <p:cNvPr id="13" name="Rectangle: Rounded Corners 12">
            <a:extLst>
              <a:ext uri="{FF2B5EF4-FFF2-40B4-BE49-F238E27FC236}">
                <a16:creationId xmlns:a16="http://schemas.microsoft.com/office/drawing/2014/main" id="{C8CF4CC1-4B3C-B0DC-5C30-A4053A99372F}"/>
              </a:ext>
              <a:ext uri="{C183D7F6-B498-43B3-948B-1728B52AA6E4}">
                <adec:decorative xmlns:adec="http://schemas.microsoft.com/office/drawing/2017/decorative" val="1"/>
              </a:ext>
            </a:extLst>
          </p:cNvPr>
          <p:cNvSpPr>
            <a:spLocks/>
          </p:cNvSpPr>
          <p:nvPr/>
        </p:nvSpPr>
        <p:spPr bwMode="auto">
          <a:xfrm>
            <a:off x="3277890" y="5694538"/>
            <a:ext cx="4758669" cy="470941"/>
          </a:xfrm>
          <a:prstGeom prst="roundRect">
            <a:avLst>
              <a:gd name="adj" fmla="val 13921"/>
            </a:avLst>
          </a:prstGeom>
          <a:solidFill>
            <a:schemeClr val="bg1"/>
          </a:solidFill>
          <a:ln w="12700" cap="rnd">
            <a:no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IE" sz="1800" b="0" i="0" u="none" strike="noStrike" kern="1200" cap="none" spc="0" normalizeH="0" baseline="0" noProof="0">
                <a:ln>
                  <a:noFill/>
                </a:ln>
                <a:solidFill>
                  <a:srgbClr val="000000"/>
                </a:solidFill>
                <a:effectLst/>
                <a:uLnTx/>
                <a:uFillTx/>
                <a:latin typeface="Segoe Sans Text Semibold"/>
                <a:ea typeface="+mn-ea"/>
                <a:cs typeface="+mn-cs"/>
              </a:rPr>
              <a:t>55,000+ incidents handled autonomously</a:t>
            </a:r>
          </a:p>
        </p:txBody>
      </p:sp>
      <p:sp>
        <p:nvSpPr>
          <p:cNvPr id="17" name="Rectangle: Rounded Corners 16">
            <a:extLst>
              <a:ext uri="{FF2B5EF4-FFF2-40B4-BE49-F238E27FC236}">
                <a16:creationId xmlns:a16="http://schemas.microsoft.com/office/drawing/2014/main" id="{565F0C9B-0783-0EC4-161F-666EFDCB6D5B}"/>
              </a:ext>
              <a:ext uri="{C183D7F6-B498-43B3-948B-1728B52AA6E4}">
                <adec:decorative xmlns:adec="http://schemas.microsoft.com/office/drawing/2017/decorative" val="1"/>
              </a:ext>
            </a:extLst>
          </p:cNvPr>
          <p:cNvSpPr>
            <a:spLocks/>
          </p:cNvSpPr>
          <p:nvPr/>
        </p:nvSpPr>
        <p:spPr bwMode="auto">
          <a:xfrm>
            <a:off x="8128000" y="5694538"/>
            <a:ext cx="3401061" cy="470941"/>
          </a:xfrm>
          <a:prstGeom prst="roundRect">
            <a:avLst>
              <a:gd name="adj" fmla="val 14595"/>
            </a:avLst>
          </a:prstGeom>
          <a:solidFill>
            <a:schemeClr val="bg1"/>
          </a:solidFill>
          <a:ln w="12700" cap="rnd">
            <a:no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IE" sz="1800" b="0" i="0" u="none" strike="noStrike" kern="1200" cap="none" spc="0" normalizeH="0" baseline="0" noProof="0">
                <a:ln>
                  <a:noFill/>
                </a:ln>
                <a:solidFill>
                  <a:srgbClr val="000000"/>
                </a:solidFill>
                <a:effectLst/>
                <a:uLnTx/>
                <a:uFillTx/>
                <a:latin typeface="Segoe Sans Text Semibold"/>
                <a:ea typeface="+mn-ea"/>
                <a:cs typeface="+mn-cs"/>
              </a:rPr>
              <a:t>80,000+ developer hours saved</a:t>
            </a:r>
          </a:p>
        </p:txBody>
      </p:sp>
      <p:sp>
        <p:nvSpPr>
          <p:cNvPr id="19" name="TextBox 18">
            <a:extLst>
              <a:ext uri="{FF2B5EF4-FFF2-40B4-BE49-F238E27FC236}">
                <a16:creationId xmlns:a16="http://schemas.microsoft.com/office/drawing/2014/main" id="{0E2A2264-A9D7-53FB-9C39-1A5CD27270A8}"/>
              </a:ext>
            </a:extLst>
          </p:cNvPr>
          <p:cNvSpPr txBox="1"/>
          <p:nvPr/>
        </p:nvSpPr>
        <p:spPr>
          <a:xfrm>
            <a:off x="10066940" y="1224867"/>
            <a:ext cx="1720869" cy="830997"/>
          </a:xfrm>
          <a:prstGeom prst="rect">
            <a:avLst/>
          </a:prstGeom>
          <a:noFill/>
        </p:spPr>
        <p:txBody>
          <a:bodyPr wrap="square" anchor="ctr">
            <a:spAutoFit/>
          </a:bodyPr>
          <a:lstStyle/>
          <a:p>
            <a:pPr marL="0" marR="0" lvl="0" indent="0" algn="ctr" defTabSz="932449" rtl="0" eaLnBrk="1" fontAlgn="auto" latinLnBrk="0" hangingPunct="1">
              <a:lnSpc>
                <a:spcPct val="100000"/>
              </a:lnSpc>
              <a:spcBef>
                <a:spcPts val="200"/>
              </a:spcBef>
              <a:spcAft>
                <a:spcPts val="0"/>
              </a:spcAft>
              <a:buClrTx/>
              <a:buSzTx/>
              <a:buFontTx/>
              <a:buNone/>
              <a:tabLst/>
              <a:defRPr/>
            </a:pPr>
            <a:r>
              <a:rPr kumimoji="0" lang="en-US" sz="3200" b="0" i="0" u="none" strike="noStrike" kern="0" cap="none" spc="0" normalizeH="0" baseline="0" noProof="0">
                <a:ln>
                  <a:noFill/>
                </a:ln>
                <a:solidFill>
                  <a:srgbClr val="0078D4"/>
                </a:solidFill>
                <a:effectLst/>
                <a:uLnTx/>
                <a:uFillTx/>
                <a:latin typeface="Segoe Sans Text Semibold"/>
                <a:ea typeface="+mn-ea"/>
                <a:cs typeface="+mn-cs"/>
              </a:rPr>
              <a:t>1800+ </a:t>
            </a:r>
            <a:r>
              <a:rPr kumimoji="0" lang="en-US" sz="1600" b="0" i="0" u="none" strike="noStrike" kern="1200" cap="none" spc="0" normalizeH="0" baseline="0" noProof="0">
                <a:ln>
                  <a:noFill/>
                </a:ln>
                <a:solidFill>
                  <a:srgbClr val="000000"/>
                </a:solidFill>
                <a:effectLst/>
                <a:uLnTx/>
                <a:uFillTx/>
                <a:latin typeface="Segoe Sans Text"/>
                <a:ea typeface="+mn-ea"/>
                <a:cs typeface="+mn-cs"/>
              </a:rPr>
              <a:t>Agents deployed</a:t>
            </a:r>
          </a:p>
        </p:txBody>
      </p:sp>
      <p:sp>
        <p:nvSpPr>
          <p:cNvPr id="22" name="TextBox 21">
            <a:extLst>
              <a:ext uri="{FF2B5EF4-FFF2-40B4-BE49-F238E27FC236}">
                <a16:creationId xmlns:a16="http://schemas.microsoft.com/office/drawing/2014/main" id="{D5DFA8EE-FE9A-FEB6-B14B-7B3D14C09FC3}"/>
              </a:ext>
            </a:extLst>
          </p:cNvPr>
          <p:cNvSpPr txBox="1"/>
          <p:nvPr/>
        </p:nvSpPr>
        <p:spPr>
          <a:xfrm>
            <a:off x="4926914" y="6413751"/>
            <a:ext cx="6617389" cy="21544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Segoe Sans Text"/>
                <a:ea typeface="+mn-ea"/>
                <a:cs typeface="+mn-cs"/>
              </a:rPr>
              <a:t>*Release and security management 30d data, incident management since May 2025</a:t>
            </a:r>
          </a:p>
        </p:txBody>
      </p:sp>
      <p:sp>
        <p:nvSpPr>
          <p:cNvPr id="21" name="Rectangle 20">
            <a:extLst>
              <a:ext uri="{FF2B5EF4-FFF2-40B4-BE49-F238E27FC236}">
                <a16:creationId xmlns:a16="http://schemas.microsoft.com/office/drawing/2014/main" id="{408AE341-E691-2A69-AF4A-84AC88FF75F8}"/>
              </a:ext>
            </a:extLst>
          </p:cNvPr>
          <p:cNvSpPr/>
          <p:nvPr/>
        </p:nvSpPr>
        <p:spPr>
          <a:xfrm>
            <a:off x="0" y="0"/>
            <a:ext cx="12191695" cy="64008"/>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Segoe Sans Text"/>
              <a:ea typeface="+mn-ea"/>
              <a:cs typeface="+mn-cs"/>
            </a:endParaRPr>
          </a:p>
        </p:txBody>
      </p:sp>
    </p:spTree>
    <p:extLst>
      <p:ext uri="{BB962C8B-B14F-4D97-AF65-F5344CB8AC3E}">
        <p14:creationId xmlns:p14="http://schemas.microsoft.com/office/powerpoint/2010/main" val="15244747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250"/>
                                        <p:tgtEl>
                                          <p:spTgt spid="19"/>
                                        </p:tgtEl>
                                      </p:cBhvr>
                                    </p:animEffect>
                                  </p:childTnLst>
                                </p:cTn>
                              </p:par>
                              <p:par>
                                <p:cTn id="8" presetID="42" presetClass="path" presetSubtype="0" decel="100000" fill="hold" grpId="1" nodeType="withEffect">
                                  <p:stCondLst>
                                    <p:cond delay="0"/>
                                  </p:stCondLst>
                                  <p:childTnLst>
                                    <p:animMotion origin="layout" path="M 1.875E-6 0.03888 L 1.875E-6 4.07407E-6 " pathEditMode="relative" rAng="0" ptsTypes="AA">
                                      <p:cBhvr>
                                        <p:cTn id="9" dur="500" fill="hold"/>
                                        <p:tgtEl>
                                          <p:spTgt spid="19"/>
                                        </p:tgtEl>
                                        <p:attrNameLst>
                                          <p:attrName>ppt_x</p:attrName>
                                          <p:attrName>ppt_y</p:attrName>
                                        </p:attrNameLst>
                                      </p:cBhvr>
                                      <p:rCtr x="0"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1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
            <a:ext cx="5974080" cy="461665"/>
          </a:xfrm>
          <a:prstGeom prst="rect">
            <a:avLst/>
          </a:prstGeom>
          <a:noFill/>
        </p:spPr>
        <p:txBody>
          <a:bodyPr wrap="square">
            <a:spAutoFit/>
          </a:bodyPr>
          <a:lstStyle/>
          <a:p>
            <a:pPr algn="l">
              <a:defRPr sz="2400" b="1">
                <a:solidFill>
                  <a:srgbClr val="FFFFFF"/>
                </a:solidFill>
                <a:latin typeface="Segoe UI"/>
              </a:defRPr>
            </a:pPr>
            <a:r>
              <a:t>Azure Container Apps  —  Last 30 Days</a:t>
            </a:r>
          </a:p>
        </p:txBody>
      </p:sp>
      <p:sp>
        <p:nvSpPr>
          <p:cNvPr id="4" name="TextBox 3"/>
          <p:cNvSpPr txBox="1"/>
          <p:nvPr/>
        </p:nvSpPr>
        <p:spPr>
          <a:xfrm>
            <a:off x="7315200" y="137160"/>
            <a:ext cx="4114800" cy="307777"/>
          </a:xfrm>
          <a:prstGeom prst="rect">
            <a:avLst/>
          </a:prstGeom>
          <a:noFill/>
        </p:spPr>
        <p:txBody>
          <a:bodyPr wrap="square">
            <a:spAutoFit/>
          </a:bodyPr>
          <a:lstStyle/>
          <a:p>
            <a:pPr algn="r">
              <a:defRPr sz="1400" b="0">
                <a:solidFill>
                  <a:srgbClr val="B0D0F0"/>
                </a:solidFill>
                <a:latin typeface="Segoe UI"/>
              </a:defRPr>
            </a:pPr>
            <a:r>
              <a:t>17 total agents</a:t>
            </a:r>
          </a:p>
        </p:txBody>
      </p:sp>
      <p:sp>
        <p:nvSpPr>
          <p:cNvPr id="5" name="Rounded Rectangle 4"/>
          <p:cNvSpPr/>
          <p:nvPr/>
        </p:nvSpPr>
        <p:spPr>
          <a:xfrm>
            <a:off x="731520" y="1097280"/>
            <a:ext cx="2560320" cy="1005840"/>
          </a:xfrm>
          <a:prstGeom prst="roundRect">
            <a:avLst/>
          </a:prstGeom>
          <a:solidFill>
            <a:srgbClr val="FFFFFF"/>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143000"/>
            <a:ext cx="2377440" cy="548640"/>
          </a:xfrm>
          <a:prstGeom prst="rect">
            <a:avLst/>
          </a:prstGeom>
          <a:noFill/>
        </p:spPr>
        <p:txBody>
          <a:bodyPr wrap="square">
            <a:spAutoFit/>
          </a:bodyPr>
          <a:lstStyle/>
          <a:p>
            <a:pPr algn="ctr">
              <a:defRPr sz="3200" b="1">
                <a:solidFill>
                  <a:srgbClr val="107C10"/>
                </a:solidFill>
                <a:latin typeface="Segoe UI"/>
              </a:defRPr>
            </a:pPr>
            <a:r>
              <a:t>328</a:t>
            </a:r>
          </a:p>
        </p:txBody>
      </p:sp>
      <p:sp>
        <p:nvSpPr>
          <p:cNvPr id="7" name="TextBox 6"/>
          <p:cNvSpPr txBox="1"/>
          <p:nvPr/>
        </p:nvSpPr>
        <p:spPr>
          <a:xfrm>
            <a:off x="822960" y="1691640"/>
            <a:ext cx="2377440" cy="274320"/>
          </a:xfrm>
          <a:prstGeom prst="rect">
            <a:avLst/>
          </a:prstGeom>
          <a:noFill/>
        </p:spPr>
        <p:txBody>
          <a:bodyPr wrap="square">
            <a:spAutoFit/>
          </a:bodyPr>
          <a:lstStyle/>
          <a:p>
            <a:pPr algn="ctr">
              <a:defRPr sz="1300" b="0">
                <a:solidFill>
                  <a:srgbClr val="1A1A2E"/>
                </a:solidFill>
                <a:latin typeface="Segoe UI"/>
              </a:defRPr>
            </a:pPr>
            <a:r>
              <a:t>Mitigated</a:t>
            </a:r>
          </a:p>
        </p:txBody>
      </p:sp>
      <p:sp>
        <p:nvSpPr>
          <p:cNvPr id="8" name="Rounded Rectangle 7"/>
          <p:cNvSpPr/>
          <p:nvPr/>
        </p:nvSpPr>
        <p:spPr>
          <a:xfrm>
            <a:off x="3566160" y="1097280"/>
            <a:ext cx="2560320" cy="100584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1143000"/>
            <a:ext cx="2377440" cy="548640"/>
          </a:xfrm>
          <a:prstGeom prst="rect">
            <a:avLst/>
          </a:prstGeom>
          <a:noFill/>
        </p:spPr>
        <p:txBody>
          <a:bodyPr wrap="square">
            <a:spAutoFit/>
          </a:bodyPr>
          <a:lstStyle/>
          <a:p>
            <a:pPr algn="ctr">
              <a:defRPr sz="3200" b="1">
                <a:solidFill>
                  <a:srgbClr val="0078D4"/>
                </a:solidFill>
                <a:latin typeface="Segoe UI"/>
              </a:defRPr>
            </a:pPr>
            <a:r>
              <a:t>1,083</a:t>
            </a:r>
          </a:p>
        </p:txBody>
      </p:sp>
      <p:sp>
        <p:nvSpPr>
          <p:cNvPr id="10" name="TextBox 9"/>
          <p:cNvSpPr txBox="1"/>
          <p:nvPr/>
        </p:nvSpPr>
        <p:spPr>
          <a:xfrm>
            <a:off x="3657600" y="1691640"/>
            <a:ext cx="2377440" cy="274320"/>
          </a:xfrm>
          <a:prstGeom prst="rect">
            <a:avLst/>
          </a:prstGeom>
          <a:noFill/>
        </p:spPr>
        <p:txBody>
          <a:bodyPr wrap="square">
            <a:spAutoFit/>
          </a:bodyPr>
          <a:lstStyle/>
          <a:p>
            <a:pPr algn="ctr">
              <a:defRPr sz="1300" b="0">
                <a:solidFill>
                  <a:srgbClr val="1A1A2E"/>
                </a:solidFill>
                <a:latin typeface="Segoe UI"/>
              </a:defRPr>
            </a:pPr>
            <a:r>
              <a:t>Enriched</a:t>
            </a:r>
          </a:p>
        </p:txBody>
      </p:sp>
      <p:sp>
        <p:nvSpPr>
          <p:cNvPr id="11" name="Rounded Rectangle 10"/>
          <p:cNvSpPr/>
          <p:nvPr/>
        </p:nvSpPr>
        <p:spPr>
          <a:xfrm>
            <a:off x="6400800" y="1097280"/>
            <a:ext cx="25603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143000"/>
            <a:ext cx="2377440" cy="548640"/>
          </a:xfrm>
          <a:prstGeom prst="rect">
            <a:avLst/>
          </a:prstGeom>
          <a:noFill/>
        </p:spPr>
        <p:txBody>
          <a:bodyPr wrap="square">
            <a:spAutoFit/>
          </a:bodyPr>
          <a:lstStyle/>
          <a:p>
            <a:pPr algn="ctr">
              <a:defRPr sz="3200" b="1">
                <a:solidFill>
                  <a:srgbClr val="00B7C3"/>
                </a:solidFill>
                <a:latin typeface="Segoe UI"/>
              </a:defRPr>
            </a:pPr>
            <a:r>
              <a:t>91.4%</a:t>
            </a:r>
          </a:p>
        </p:txBody>
      </p:sp>
      <p:sp>
        <p:nvSpPr>
          <p:cNvPr id="13" name="TextBox 12"/>
          <p:cNvSpPr txBox="1"/>
          <p:nvPr/>
        </p:nvSpPr>
        <p:spPr>
          <a:xfrm>
            <a:off x="6492240" y="1691640"/>
            <a:ext cx="2377440" cy="274320"/>
          </a:xfrm>
          <a:prstGeom prst="rect">
            <a:avLst/>
          </a:prstGeom>
          <a:noFill/>
        </p:spPr>
        <p:txBody>
          <a:bodyPr wrap="square">
            <a:spAutoFit/>
          </a:bodyPr>
          <a:lstStyle/>
          <a:p>
            <a:pPr algn="ctr">
              <a:defRPr sz="1300" b="0">
                <a:solidFill>
                  <a:srgbClr val="1A1A2E"/>
                </a:solidFill>
                <a:latin typeface="Segoe UI"/>
              </a:defRPr>
            </a:pPr>
            <a:r>
              <a:t>Agent Coverage</a:t>
            </a:r>
          </a:p>
        </p:txBody>
      </p:sp>
      <p:sp>
        <p:nvSpPr>
          <p:cNvPr id="14" name="Rounded Rectangle 13"/>
          <p:cNvSpPr/>
          <p:nvPr/>
        </p:nvSpPr>
        <p:spPr>
          <a:xfrm>
            <a:off x="9235440" y="1097280"/>
            <a:ext cx="2560320" cy="1005840"/>
          </a:xfrm>
          <a:prstGeom prst="roundRect">
            <a:avLst/>
          </a:prstGeom>
          <a:solidFill>
            <a:srgbClr val="FFFFFF"/>
          </a:solidFill>
          <a:ln w="12700">
            <a:solidFill>
              <a:srgbClr val="C19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0" y="1143000"/>
            <a:ext cx="2377440" cy="548640"/>
          </a:xfrm>
          <a:prstGeom prst="rect">
            <a:avLst/>
          </a:prstGeom>
          <a:noFill/>
        </p:spPr>
        <p:txBody>
          <a:bodyPr wrap="square">
            <a:spAutoFit/>
          </a:bodyPr>
          <a:lstStyle/>
          <a:p>
            <a:pPr algn="ctr">
              <a:defRPr sz="3200" b="1">
                <a:solidFill>
                  <a:srgbClr val="C19600"/>
                </a:solidFill>
                <a:latin typeface="Segoe UI"/>
              </a:defRPr>
            </a:pPr>
            <a:r>
              <a:t>89.8%</a:t>
            </a:r>
          </a:p>
        </p:txBody>
      </p:sp>
      <p:sp>
        <p:nvSpPr>
          <p:cNvPr id="16" name="TextBox 15"/>
          <p:cNvSpPr txBox="1"/>
          <p:nvPr/>
        </p:nvSpPr>
        <p:spPr>
          <a:xfrm>
            <a:off x="9326880" y="1691640"/>
            <a:ext cx="2377440" cy="274320"/>
          </a:xfrm>
          <a:prstGeom prst="rect">
            <a:avLst/>
          </a:prstGeom>
          <a:noFill/>
        </p:spPr>
        <p:txBody>
          <a:bodyPr wrap="square">
            <a:spAutoFit/>
          </a:bodyPr>
          <a:lstStyle/>
          <a:p>
            <a:pPr algn="ctr">
              <a:defRPr sz="1300" b="0">
                <a:solidFill>
                  <a:srgbClr val="1A1A2E"/>
                </a:solidFill>
                <a:latin typeface="Segoe UI"/>
              </a:defRPr>
            </a:pPr>
            <a:r>
              <a:t>Positive RCA Feedback</a:t>
            </a:r>
          </a:p>
        </p:txBody>
      </p:sp>
      <p:sp>
        <p:nvSpPr>
          <p:cNvPr id="17" name="Rounded Rectangle 16"/>
          <p:cNvSpPr/>
          <p:nvPr/>
        </p:nvSpPr>
        <p:spPr>
          <a:xfrm>
            <a:off x="731520" y="2377440"/>
            <a:ext cx="5486400" cy="1828800"/>
          </a:xfrm>
          <a:prstGeom prst="roundRect">
            <a:avLst/>
          </a:prstGeom>
          <a:solidFill>
            <a:srgbClr val="F0F8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2468880"/>
            <a:ext cx="5029200" cy="320040"/>
          </a:xfrm>
          <a:prstGeom prst="rect">
            <a:avLst/>
          </a:prstGeom>
          <a:noFill/>
        </p:spPr>
        <p:txBody>
          <a:bodyPr wrap="square">
            <a:spAutoFit/>
          </a:bodyPr>
          <a:lstStyle/>
          <a:p>
            <a:pPr algn="l">
              <a:defRPr sz="1600" b="1">
                <a:solidFill>
                  <a:srgbClr val="0078D4"/>
                </a:solidFill>
                <a:latin typeface="Segoe UI"/>
              </a:defRPr>
            </a:pPr>
            <a:r>
              <a:t>TTM Impact — Livesite Incidents (LSI)</a:t>
            </a:r>
          </a:p>
        </p:txBody>
      </p:sp>
      <p:sp>
        <p:nvSpPr>
          <p:cNvPr id="19" name="TextBox 18"/>
          <p:cNvSpPr txBox="1"/>
          <p:nvPr/>
        </p:nvSpPr>
        <p:spPr>
          <a:xfrm>
            <a:off x="1097280" y="2880360"/>
            <a:ext cx="2286000" cy="320040"/>
          </a:xfrm>
          <a:prstGeom prst="rect">
            <a:avLst/>
          </a:prstGeom>
          <a:noFill/>
        </p:spPr>
        <p:txBody>
          <a:bodyPr wrap="square">
            <a:spAutoFit/>
          </a:bodyPr>
          <a:lstStyle/>
          <a:p>
            <a:pPr algn="l">
              <a:defRPr sz="1200" b="1">
                <a:solidFill>
                  <a:srgbClr val="1A1A2E"/>
                </a:solidFill>
                <a:latin typeface="Segoe UI"/>
              </a:defRPr>
            </a:pPr>
            <a:r>
              <a:t>SRE Agent Mitigated</a:t>
            </a:r>
          </a:p>
        </p:txBody>
      </p:sp>
      <p:sp>
        <p:nvSpPr>
          <p:cNvPr id="20" name="TextBox 19"/>
          <p:cNvSpPr txBox="1"/>
          <p:nvPr/>
        </p:nvSpPr>
        <p:spPr>
          <a:xfrm>
            <a:off x="3383280" y="2880360"/>
            <a:ext cx="1188720" cy="320040"/>
          </a:xfrm>
          <a:prstGeom prst="rect">
            <a:avLst/>
          </a:prstGeom>
          <a:noFill/>
        </p:spPr>
        <p:txBody>
          <a:bodyPr wrap="square">
            <a:spAutoFit/>
          </a:bodyPr>
          <a:lstStyle/>
          <a:p>
            <a:pPr algn="r">
              <a:defRPr sz="1400" b="1">
                <a:solidFill>
                  <a:srgbClr val="107C10"/>
                </a:solidFill>
                <a:latin typeface="Segoe UI"/>
              </a:defRPr>
            </a:pPr>
            <a:r>
              <a:t>10 min</a:t>
            </a:r>
          </a:p>
        </p:txBody>
      </p:sp>
      <p:sp>
        <p:nvSpPr>
          <p:cNvPr id="21" name="TextBox 20"/>
          <p:cNvSpPr txBox="1"/>
          <p:nvPr/>
        </p:nvSpPr>
        <p:spPr>
          <a:xfrm>
            <a:off x="4663440" y="2880360"/>
            <a:ext cx="1371600" cy="320040"/>
          </a:xfrm>
          <a:prstGeom prst="rect">
            <a:avLst/>
          </a:prstGeom>
          <a:noFill/>
        </p:spPr>
        <p:txBody>
          <a:bodyPr wrap="square">
            <a:spAutoFit/>
          </a:bodyPr>
          <a:lstStyle/>
          <a:p>
            <a:pPr algn="l">
              <a:defRPr sz="1100" b="0">
                <a:solidFill>
                  <a:srgbClr val="9E9E9E"/>
                </a:solidFill>
                <a:latin typeface="Segoe UI"/>
              </a:defRPr>
            </a:pPr>
            <a:r>
              <a:t>199 incidents</a:t>
            </a:r>
          </a:p>
        </p:txBody>
      </p:sp>
      <p:sp>
        <p:nvSpPr>
          <p:cNvPr id="22" name="TextBox 21"/>
          <p:cNvSpPr txBox="1"/>
          <p:nvPr/>
        </p:nvSpPr>
        <p:spPr>
          <a:xfrm>
            <a:off x="1097280" y="3291840"/>
            <a:ext cx="2286000" cy="320040"/>
          </a:xfrm>
          <a:prstGeom prst="rect">
            <a:avLst/>
          </a:prstGeom>
          <a:noFill/>
        </p:spPr>
        <p:txBody>
          <a:bodyPr wrap="square">
            <a:spAutoFit/>
          </a:bodyPr>
          <a:lstStyle/>
          <a:p>
            <a:pPr algn="l">
              <a:defRPr sz="1200" b="1">
                <a:solidFill>
                  <a:srgbClr val="1A1A2E"/>
                </a:solidFill>
                <a:latin typeface="Segoe UI"/>
              </a:defRPr>
            </a:pPr>
            <a:r>
              <a:t>Agent Enriched + Human</a:t>
            </a:r>
          </a:p>
        </p:txBody>
      </p:sp>
      <p:sp>
        <p:nvSpPr>
          <p:cNvPr id="23" name="TextBox 22"/>
          <p:cNvSpPr txBox="1"/>
          <p:nvPr/>
        </p:nvSpPr>
        <p:spPr>
          <a:xfrm>
            <a:off x="3383280" y="3291840"/>
            <a:ext cx="1188720" cy="320040"/>
          </a:xfrm>
          <a:prstGeom prst="rect">
            <a:avLst/>
          </a:prstGeom>
          <a:noFill/>
        </p:spPr>
        <p:txBody>
          <a:bodyPr wrap="square">
            <a:spAutoFit/>
          </a:bodyPr>
          <a:lstStyle/>
          <a:p>
            <a:pPr algn="r">
              <a:defRPr sz="1400" b="1">
                <a:solidFill>
                  <a:srgbClr val="0078D4"/>
                </a:solidFill>
                <a:latin typeface="Segoe UI"/>
              </a:defRPr>
            </a:pPr>
            <a:r>
              <a:t>6.9 hours</a:t>
            </a:r>
          </a:p>
        </p:txBody>
      </p:sp>
      <p:sp>
        <p:nvSpPr>
          <p:cNvPr id="24" name="TextBox 23"/>
          <p:cNvSpPr txBox="1"/>
          <p:nvPr/>
        </p:nvSpPr>
        <p:spPr>
          <a:xfrm>
            <a:off x="4663440" y="3291840"/>
            <a:ext cx="1371600" cy="320040"/>
          </a:xfrm>
          <a:prstGeom prst="rect">
            <a:avLst/>
          </a:prstGeom>
          <a:noFill/>
        </p:spPr>
        <p:txBody>
          <a:bodyPr wrap="square">
            <a:spAutoFit/>
          </a:bodyPr>
          <a:lstStyle/>
          <a:p>
            <a:pPr algn="l">
              <a:defRPr sz="1100" b="0">
                <a:solidFill>
                  <a:srgbClr val="9E9E9E"/>
                </a:solidFill>
                <a:latin typeface="Segoe UI"/>
              </a:defRPr>
            </a:pPr>
            <a:r>
              <a:t>270 incidents</a:t>
            </a:r>
          </a:p>
        </p:txBody>
      </p:sp>
      <p:sp>
        <p:nvSpPr>
          <p:cNvPr id="25" name="TextBox 24"/>
          <p:cNvSpPr txBox="1"/>
          <p:nvPr/>
        </p:nvSpPr>
        <p:spPr>
          <a:xfrm>
            <a:off x="1097280" y="3703320"/>
            <a:ext cx="2286000" cy="320040"/>
          </a:xfrm>
          <a:prstGeom prst="rect">
            <a:avLst/>
          </a:prstGeom>
          <a:noFill/>
        </p:spPr>
        <p:txBody>
          <a:bodyPr wrap="square">
            <a:spAutoFit/>
          </a:bodyPr>
          <a:lstStyle/>
          <a:p>
            <a:pPr algn="l">
              <a:defRPr sz="1200" b="1">
                <a:solidFill>
                  <a:srgbClr val="1A1A2E"/>
                </a:solidFill>
                <a:latin typeface="Segoe UI"/>
              </a:defRPr>
            </a:pPr>
            <a:r>
              <a:t>Human Only</a:t>
            </a:r>
          </a:p>
        </p:txBody>
      </p:sp>
      <p:sp>
        <p:nvSpPr>
          <p:cNvPr id="26" name="TextBox 25"/>
          <p:cNvSpPr txBox="1"/>
          <p:nvPr/>
        </p:nvSpPr>
        <p:spPr>
          <a:xfrm>
            <a:off x="3383280" y="3703320"/>
            <a:ext cx="1188720" cy="320040"/>
          </a:xfrm>
          <a:prstGeom prst="rect">
            <a:avLst/>
          </a:prstGeom>
          <a:noFill/>
        </p:spPr>
        <p:txBody>
          <a:bodyPr wrap="square">
            <a:spAutoFit/>
          </a:bodyPr>
          <a:lstStyle/>
          <a:p>
            <a:pPr algn="r">
              <a:defRPr sz="1400" b="1">
                <a:solidFill>
                  <a:srgbClr val="C51A1A"/>
                </a:solidFill>
                <a:latin typeface="Segoe UI"/>
              </a:defRPr>
            </a:pPr>
            <a:r>
              <a:t>10.7 hours</a:t>
            </a:r>
          </a:p>
        </p:txBody>
      </p:sp>
      <p:sp>
        <p:nvSpPr>
          <p:cNvPr id="27" name="TextBox 26"/>
          <p:cNvSpPr txBox="1"/>
          <p:nvPr/>
        </p:nvSpPr>
        <p:spPr>
          <a:xfrm>
            <a:off x="4663440" y="3703320"/>
            <a:ext cx="1371600" cy="320040"/>
          </a:xfrm>
          <a:prstGeom prst="rect">
            <a:avLst/>
          </a:prstGeom>
          <a:noFill/>
        </p:spPr>
        <p:txBody>
          <a:bodyPr wrap="square">
            <a:spAutoFit/>
          </a:bodyPr>
          <a:lstStyle/>
          <a:p>
            <a:pPr algn="l">
              <a:defRPr sz="1100" b="0">
                <a:solidFill>
                  <a:srgbClr val="9E9E9E"/>
                </a:solidFill>
                <a:latin typeface="Segoe UI"/>
              </a:defRPr>
            </a:pPr>
            <a:r>
              <a:t>3 incidents</a:t>
            </a:r>
          </a:p>
        </p:txBody>
      </p:sp>
      <p:sp>
        <p:nvSpPr>
          <p:cNvPr id="28" name="Rounded Rectangle 27"/>
          <p:cNvSpPr/>
          <p:nvPr/>
        </p:nvSpPr>
        <p:spPr>
          <a:xfrm>
            <a:off x="6583680" y="2377440"/>
            <a:ext cx="5029200" cy="1828800"/>
          </a:xfrm>
          <a:prstGeom prst="roundRect">
            <a:avLst/>
          </a:prstGeom>
          <a:solidFill>
            <a:srgbClr val="F0F8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66560" y="2468880"/>
            <a:ext cx="4572000" cy="320040"/>
          </a:xfrm>
          <a:prstGeom prst="rect">
            <a:avLst/>
          </a:prstGeom>
          <a:noFill/>
        </p:spPr>
        <p:txBody>
          <a:bodyPr wrap="square">
            <a:spAutoFit/>
          </a:bodyPr>
          <a:lstStyle/>
          <a:p>
            <a:pPr algn="l">
              <a:defRPr sz="1600" b="1">
                <a:solidFill>
                  <a:srgbClr val="00B7C3"/>
                </a:solidFill>
                <a:latin typeface="Segoe UI"/>
              </a:defRPr>
            </a:pPr>
            <a:r>
              <a:t>TTM Impact — Customer-Reported (CRI)</a:t>
            </a:r>
          </a:p>
        </p:txBody>
      </p:sp>
      <p:sp>
        <p:nvSpPr>
          <p:cNvPr id="30" name="TextBox 29"/>
          <p:cNvSpPr txBox="1"/>
          <p:nvPr/>
        </p:nvSpPr>
        <p:spPr>
          <a:xfrm>
            <a:off x="6858000" y="2880360"/>
            <a:ext cx="2286000" cy="320040"/>
          </a:xfrm>
          <a:prstGeom prst="rect">
            <a:avLst/>
          </a:prstGeom>
          <a:noFill/>
        </p:spPr>
        <p:txBody>
          <a:bodyPr wrap="square">
            <a:spAutoFit/>
          </a:bodyPr>
          <a:lstStyle/>
          <a:p>
            <a:pPr algn="l">
              <a:defRPr sz="1200" b="1">
                <a:solidFill>
                  <a:srgbClr val="1A1A2E"/>
                </a:solidFill>
                <a:latin typeface="Segoe UI"/>
              </a:defRPr>
            </a:pPr>
            <a:r>
              <a:t>SRE Agent Mitigated</a:t>
            </a:r>
          </a:p>
        </p:txBody>
      </p:sp>
      <p:sp>
        <p:nvSpPr>
          <p:cNvPr id="31" name="TextBox 30"/>
          <p:cNvSpPr txBox="1"/>
          <p:nvPr/>
        </p:nvSpPr>
        <p:spPr>
          <a:xfrm>
            <a:off x="9144000" y="2880360"/>
            <a:ext cx="1005840" cy="320040"/>
          </a:xfrm>
          <a:prstGeom prst="rect">
            <a:avLst/>
          </a:prstGeom>
          <a:noFill/>
        </p:spPr>
        <p:txBody>
          <a:bodyPr wrap="square">
            <a:spAutoFit/>
          </a:bodyPr>
          <a:lstStyle/>
          <a:p>
            <a:pPr algn="r">
              <a:defRPr sz="1400" b="1">
                <a:solidFill>
                  <a:srgbClr val="107C10"/>
                </a:solidFill>
                <a:latin typeface="Segoe UI"/>
              </a:defRPr>
            </a:pPr>
            <a:r>
              <a:t>58 min</a:t>
            </a:r>
          </a:p>
        </p:txBody>
      </p:sp>
      <p:sp>
        <p:nvSpPr>
          <p:cNvPr id="32" name="TextBox 31"/>
          <p:cNvSpPr txBox="1"/>
          <p:nvPr/>
        </p:nvSpPr>
        <p:spPr>
          <a:xfrm>
            <a:off x="10241280" y="2880360"/>
            <a:ext cx="1188720" cy="320040"/>
          </a:xfrm>
          <a:prstGeom prst="rect">
            <a:avLst/>
          </a:prstGeom>
          <a:noFill/>
        </p:spPr>
        <p:txBody>
          <a:bodyPr wrap="square">
            <a:spAutoFit/>
          </a:bodyPr>
          <a:lstStyle/>
          <a:p>
            <a:pPr algn="l">
              <a:defRPr sz="1100" b="0">
                <a:solidFill>
                  <a:srgbClr val="9E9E9E"/>
                </a:solidFill>
                <a:latin typeface="Segoe UI"/>
              </a:defRPr>
            </a:pPr>
            <a:r>
              <a:t>129 CRIs</a:t>
            </a:r>
          </a:p>
        </p:txBody>
      </p:sp>
      <p:sp>
        <p:nvSpPr>
          <p:cNvPr id="33" name="TextBox 32"/>
          <p:cNvSpPr txBox="1"/>
          <p:nvPr/>
        </p:nvSpPr>
        <p:spPr>
          <a:xfrm>
            <a:off x="6858000" y="3291840"/>
            <a:ext cx="2286000" cy="320040"/>
          </a:xfrm>
          <a:prstGeom prst="rect">
            <a:avLst/>
          </a:prstGeom>
          <a:noFill/>
        </p:spPr>
        <p:txBody>
          <a:bodyPr wrap="square">
            <a:spAutoFit/>
          </a:bodyPr>
          <a:lstStyle/>
          <a:p>
            <a:pPr algn="l">
              <a:defRPr sz="1200" b="1">
                <a:solidFill>
                  <a:srgbClr val="1A1A2E"/>
                </a:solidFill>
                <a:latin typeface="Segoe UI"/>
              </a:defRPr>
            </a:pPr>
            <a:r>
              <a:t>Human Only</a:t>
            </a:r>
          </a:p>
        </p:txBody>
      </p:sp>
      <p:sp>
        <p:nvSpPr>
          <p:cNvPr id="34" name="TextBox 33"/>
          <p:cNvSpPr txBox="1"/>
          <p:nvPr/>
        </p:nvSpPr>
        <p:spPr>
          <a:xfrm>
            <a:off x="8961121" y="3291840"/>
            <a:ext cx="1188720" cy="307777"/>
          </a:xfrm>
          <a:prstGeom prst="rect">
            <a:avLst/>
          </a:prstGeom>
          <a:noFill/>
        </p:spPr>
        <p:txBody>
          <a:bodyPr wrap="square">
            <a:spAutoFit/>
          </a:bodyPr>
          <a:lstStyle/>
          <a:p>
            <a:pPr algn="r">
              <a:defRPr sz="1400" b="1">
                <a:solidFill>
                  <a:srgbClr val="C51A1A"/>
                </a:solidFill>
                <a:latin typeface="Segoe UI"/>
              </a:defRPr>
            </a:pPr>
            <a:r>
              <a:t>26.8 hours</a:t>
            </a:r>
          </a:p>
        </p:txBody>
      </p:sp>
      <p:sp>
        <p:nvSpPr>
          <p:cNvPr id="35" name="TextBox 34"/>
          <p:cNvSpPr txBox="1"/>
          <p:nvPr/>
        </p:nvSpPr>
        <p:spPr>
          <a:xfrm>
            <a:off x="10241280" y="3291840"/>
            <a:ext cx="1188720" cy="320040"/>
          </a:xfrm>
          <a:prstGeom prst="rect">
            <a:avLst/>
          </a:prstGeom>
          <a:noFill/>
        </p:spPr>
        <p:txBody>
          <a:bodyPr wrap="square">
            <a:spAutoFit/>
          </a:bodyPr>
          <a:lstStyle/>
          <a:p>
            <a:pPr algn="l">
              <a:defRPr sz="1100" b="0">
                <a:solidFill>
                  <a:srgbClr val="9E9E9E"/>
                </a:solidFill>
                <a:latin typeface="Segoe UI"/>
              </a:defRPr>
            </a:pPr>
            <a:r>
              <a:t>55 CRIs</a:t>
            </a:r>
          </a:p>
        </p:txBody>
      </p:sp>
      <p:sp>
        <p:nvSpPr>
          <p:cNvPr id="36" name="Rounded Rectangle 35"/>
          <p:cNvSpPr/>
          <p:nvPr/>
        </p:nvSpPr>
        <p:spPr>
          <a:xfrm>
            <a:off x="731520" y="4572000"/>
            <a:ext cx="5486400" cy="1005840"/>
          </a:xfrm>
          <a:prstGeom prst="roundRect">
            <a:avLst/>
          </a:prstGeom>
          <a:solidFill>
            <a:srgbClr val="0B1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 y="4617720"/>
            <a:ext cx="5120640" cy="457200"/>
          </a:xfrm>
          <a:prstGeom prst="rect">
            <a:avLst/>
          </a:prstGeom>
          <a:noFill/>
        </p:spPr>
        <p:txBody>
          <a:bodyPr wrap="square">
            <a:spAutoFit/>
          </a:bodyPr>
          <a:lstStyle/>
          <a:p>
            <a:pPr algn="ctr">
              <a:defRPr sz="3200" b="1">
                <a:solidFill>
                  <a:srgbClr val="FFFFFF"/>
                </a:solidFill>
                <a:latin typeface="Segoe UI"/>
              </a:defRPr>
            </a:pPr>
            <a:r>
              <a:t>64x faster</a:t>
            </a:r>
          </a:p>
        </p:txBody>
      </p:sp>
      <p:sp>
        <p:nvSpPr>
          <p:cNvPr id="38" name="TextBox 37"/>
          <p:cNvSpPr txBox="1"/>
          <p:nvPr/>
        </p:nvSpPr>
        <p:spPr>
          <a:xfrm>
            <a:off x="914400" y="5120640"/>
            <a:ext cx="5120640" cy="365760"/>
          </a:xfrm>
          <a:prstGeom prst="rect">
            <a:avLst/>
          </a:prstGeom>
          <a:noFill/>
        </p:spPr>
        <p:txBody>
          <a:bodyPr wrap="square">
            <a:spAutoFit/>
          </a:bodyPr>
          <a:lstStyle/>
          <a:p>
            <a:pPr algn="ctr">
              <a:defRPr sz="1400" b="0">
                <a:solidFill>
                  <a:srgbClr val="B0D0F0"/>
                </a:solidFill>
                <a:latin typeface="Segoe UI"/>
              </a:defRPr>
            </a:pPr>
            <a:r>
              <a:t>Agent mitigates LSI in 10 min vs 10.7 hours human-only</a:t>
            </a:r>
          </a:p>
        </p:txBody>
      </p:sp>
      <p:sp>
        <p:nvSpPr>
          <p:cNvPr id="39" name="Rounded Rectangle 38"/>
          <p:cNvSpPr/>
          <p:nvPr/>
        </p:nvSpPr>
        <p:spPr>
          <a:xfrm>
            <a:off x="6583680" y="4572000"/>
            <a:ext cx="5029200" cy="1005840"/>
          </a:xfrm>
          <a:prstGeom prst="roundRect">
            <a:avLst/>
          </a:prstGeom>
          <a:solidFill>
            <a:srgbClr val="0B1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766560" y="4617720"/>
            <a:ext cx="4663440" cy="457200"/>
          </a:xfrm>
          <a:prstGeom prst="rect">
            <a:avLst/>
          </a:prstGeom>
          <a:noFill/>
        </p:spPr>
        <p:txBody>
          <a:bodyPr wrap="square">
            <a:spAutoFit/>
          </a:bodyPr>
          <a:lstStyle/>
          <a:p>
            <a:pPr algn="ctr">
              <a:defRPr sz="3200" b="1">
                <a:solidFill>
                  <a:srgbClr val="FFFFFF"/>
                </a:solidFill>
                <a:latin typeface="Segoe UI"/>
              </a:defRPr>
            </a:pPr>
            <a:r>
              <a:t>27.7x faster</a:t>
            </a:r>
          </a:p>
        </p:txBody>
      </p:sp>
      <p:sp>
        <p:nvSpPr>
          <p:cNvPr id="41" name="TextBox 40"/>
          <p:cNvSpPr txBox="1"/>
          <p:nvPr/>
        </p:nvSpPr>
        <p:spPr>
          <a:xfrm>
            <a:off x="6766560" y="5120640"/>
            <a:ext cx="4663440" cy="365760"/>
          </a:xfrm>
          <a:prstGeom prst="rect">
            <a:avLst/>
          </a:prstGeom>
          <a:noFill/>
        </p:spPr>
        <p:txBody>
          <a:bodyPr wrap="square">
            <a:spAutoFit/>
          </a:bodyPr>
          <a:lstStyle/>
          <a:p>
            <a:pPr algn="ctr">
              <a:defRPr sz="1400" b="0">
                <a:solidFill>
                  <a:srgbClr val="B0D0F0"/>
                </a:solidFill>
                <a:latin typeface="Segoe UI"/>
              </a:defRPr>
            </a:pPr>
            <a:r>
              <a:t>CRI from 26.8h down to 58 min with agent</a:t>
            </a:r>
          </a:p>
        </p:txBody>
      </p:sp>
      <p:sp>
        <p:nvSpPr>
          <p:cNvPr id="42" name="Rounded Rectangle 41"/>
          <p:cNvSpPr/>
          <p:nvPr/>
        </p:nvSpPr>
        <p:spPr>
          <a:xfrm>
            <a:off x="731520" y="5760720"/>
            <a:ext cx="10698480" cy="731520"/>
          </a:xfrm>
          <a:prstGeom prst="roundRect">
            <a:avLst/>
          </a:prstGeom>
          <a:solidFill>
            <a:srgbClr val="E8FDEA"/>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97280" y="5852160"/>
            <a:ext cx="10058400" cy="548640"/>
          </a:xfrm>
          <a:prstGeom prst="rect">
            <a:avLst/>
          </a:prstGeom>
          <a:noFill/>
        </p:spPr>
        <p:txBody>
          <a:bodyPr wrap="square">
            <a:spAutoFit/>
          </a:bodyPr>
          <a:lstStyle/>
          <a:p>
            <a:pPr algn="l">
              <a:defRPr sz="1400" b="0">
                <a:solidFill>
                  <a:srgbClr val="1A1A2E"/>
                </a:solidFill>
                <a:latin typeface="Segoe UI"/>
              </a:defRPr>
            </a:pPr>
            <a:r>
              <a:t>Near-complete coverage: only 3 LSI incidents had no agent involvement. Trusted RCA — 89.8% of engineers found agent's root cause analysis useful.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A6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19" y="137160"/>
            <a:ext cx="6212619" cy="461665"/>
          </a:xfrm>
          <a:prstGeom prst="rect">
            <a:avLst/>
          </a:prstGeom>
          <a:noFill/>
        </p:spPr>
        <p:txBody>
          <a:bodyPr wrap="square">
            <a:spAutoFit/>
          </a:bodyPr>
          <a:lstStyle/>
          <a:p>
            <a:pPr algn="l">
              <a:defRPr sz="2400" b="1">
                <a:solidFill>
                  <a:srgbClr val="FFFFFF"/>
                </a:solidFill>
                <a:latin typeface="Segoe UI"/>
              </a:defRPr>
            </a:pPr>
            <a:r>
              <a:t>App Service Engineering  —  Last 30 Days</a:t>
            </a:r>
          </a:p>
        </p:txBody>
      </p:sp>
      <p:sp>
        <p:nvSpPr>
          <p:cNvPr id="4" name="TextBox 3"/>
          <p:cNvSpPr txBox="1"/>
          <p:nvPr/>
        </p:nvSpPr>
        <p:spPr>
          <a:xfrm>
            <a:off x="7315200" y="137160"/>
            <a:ext cx="4114800" cy="307777"/>
          </a:xfrm>
          <a:prstGeom prst="rect">
            <a:avLst/>
          </a:prstGeom>
          <a:noFill/>
        </p:spPr>
        <p:txBody>
          <a:bodyPr wrap="square">
            <a:spAutoFit/>
          </a:bodyPr>
          <a:lstStyle/>
          <a:p>
            <a:pPr algn="r">
              <a:defRPr sz="1400" b="0">
                <a:solidFill>
                  <a:srgbClr val="B0D0F0"/>
                </a:solidFill>
                <a:latin typeface="Segoe UI"/>
              </a:defRPr>
            </a:pPr>
            <a:r>
              <a:t>21 custom agents</a:t>
            </a:r>
          </a:p>
        </p:txBody>
      </p:sp>
      <p:sp>
        <p:nvSpPr>
          <p:cNvPr id="5" name="Rounded Rectangle 4"/>
          <p:cNvSpPr/>
          <p:nvPr/>
        </p:nvSpPr>
        <p:spPr>
          <a:xfrm>
            <a:off x="731520" y="1097280"/>
            <a:ext cx="2560320" cy="1005840"/>
          </a:xfrm>
          <a:prstGeom prst="roundRect">
            <a:avLst/>
          </a:prstGeom>
          <a:solidFill>
            <a:srgbClr val="FFFFFF"/>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143000"/>
            <a:ext cx="2377440" cy="548640"/>
          </a:xfrm>
          <a:prstGeom prst="rect">
            <a:avLst/>
          </a:prstGeom>
          <a:noFill/>
        </p:spPr>
        <p:txBody>
          <a:bodyPr wrap="square">
            <a:spAutoFit/>
          </a:bodyPr>
          <a:lstStyle/>
          <a:p>
            <a:pPr algn="ctr">
              <a:defRPr sz="3200" b="1">
                <a:solidFill>
                  <a:srgbClr val="107C10"/>
                </a:solidFill>
                <a:latin typeface="Segoe UI"/>
              </a:defRPr>
            </a:pPr>
            <a:r>
              <a:t>1,571</a:t>
            </a:r>
          </a:p>
        </p:txBody>
      </p:sp>
      <p:sp>
        <p:nvSpPr>
          <p:cNvPr id="7" name="TextBox 6"/>
          <p:cNvSpPr txBox="1"/>
          <p:nvPr/>
        </p:nvSpPr>
        <p:spPr>
          <a:xfrm>
            <a:off x="822960" y="1691640"/>
            <a:ext cx="2377440" cy="274320"/>
          </a:xfrm>
          <a:prstGeom prst="rect">
            <a:avLst/>
          </a:prstGeom>
          <a:noFill/>
        </p:spPr>
        <p:txBody>
          <a:bodyPr wrap="square">
            <a:spAutoFit/>
          </a:bodyPr>
          <a:lstStyle/>
          <a:p>
            <a:pPr algn="ctr">
              <a:defRPr sz="1300" b="0">
                <a:solidFill>
                  <a:srgbClr val="1A1A2E"/>
                </a:solidFill>
                <a:latin typeface="Segoe UI"/>
              </a:defRPr>
            </a:pPr>
            <a:r>
              <a:t>Mitigated</a:t>
            </a:r>
          </a:p>
        </p:txBody>
      </p:sp>
      <p:sp>
        <p:nvSpPr>
          <p:cNvPr id="8" name="Rounded Rectangle 7"/>
          <p:cNvSpPr/>
          <p:nvPr/>
        </p:nvSpPr>
        <p:spPr>
          <a:xfrm>
            <a:off x="3566160" y="1097280"/>
            <a:ext cx="2560320" cy="100584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0" y="1143000"/>
            <a:ext cx="2377440" cy="548640"/>
          </a:xfrm>
          <a:prstGeom prst="rect">
            <a:avLst/>
          </a:prstGeom>
          <a:noFill/>
        </p:spPr>
        <p:txBody>
          <a:bodyPr wrap="square">
            <a:spAutoFit/>
          </a:bodyPr>
          <a:lstStyle/>
          <a:p>
            <a:pPr algn="ctr">
              <a:defRPr sz="3200" b="1">
                <a:solidFill>
                  <a:srgbClr val="0078D4"/>
                </a:solidFill>
                <a:latin typeface="Segoe UI"/>
              </a:defRPr>
            </a:pPr>
            <a:r>
              <a:t>2,334</a:t>
            </a:r>
          </a:p>
        </p:txBody>
      </p:sp>
      <p:sp>
        <p:nvSpPr>
          <p:cNvPr id="10" name="TextBox 9"/>
          <p:cNvSpPr txBox="1"/>
          <p:nvPr/>
        </p:nvSpPr>
        <p:spPr>
          <a:xfrm>
            <a:off x="3657600" y="1691640"/>
            <a:ext cx="2377440" cy="274320"/>
          </a:xfrm>
          <a:prstGeom prst="rect">
            <a:avLst/>
          </a:prstGeom>
          <a:noFill/>
        </p:spPr>
        <p:txBody>
          <a:bodyPr wrap="square">
            <a:spAutoFit/>
          </a:bodyPr>
          <a:lstStyle/>
          <a:p>
            <a:pPr algn="ctr">
              <a:defRPr sz="1300" b="0">
                <a:solidFill>
                  <a:srgbClr val="1A1A2E"/>
                </a:solidFill>
                <a:latin typeface="Segoe UI"/>
              </a:defRPr>
            </a:pPr>
            <a:r>
              <a:t>Enriched</a:t>
            </a:r>
          </a:p>
        </p:txBody>
      </p:sp>
      <p:sp>
        <p:nvSpPr>
          <p:cNvPr id="11" name="Rounded Rectangle 10"/>
          <p:cNvSpPr/>
          <p:nvPr/>
        </p:nvSpPr>
        <p:spPr>
          <a:xfrm>
            <a:off x="6400800" y="1097280"/>
            <a:ext cx="25603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143000"/>
            <a:ext cx="2377440" cy="548640"/>
          </a:xfrm>
          <a:prstGeom prst="rect">
            <a:avLst/>
          </a:prstGeom>
          <a:noFill/>
        </p:spPr>
        <p:txBody>
          <a:bodyPr wrap="square">
            <a:spAutoFit/>
          </a:bodyPr>
          <a:lstStyle/>
          <a:p>
            <a:pPr algn="ctr">
              <a:defRPr sz="3200" b="1">
                <a:solidFill>
                  <a:srgbClr val="00B7C3"/>
                </a:solidFill>
                <a:latin typeface="Segoe UI"/>
              </a:defRPr>
            </a:pPr>
            <a:r>
              <a:t>3 min</a:t>
            </a:r>
          </a:p>
        </p:txBody>
      </p:sp>
      <p:sp>
        <p:nvSpPr>
          <p:cNvPr id="13" name="TextBox 12"/>
          <p:cNvSpPr txBox="1"/>
          <p:nvPr/>
        </p:nvSpPr>
        <p:spPr>
          <a:xfrm>
            <a:off x="6492240" y="1691640"/>
            <a:ext cx="2377440" cy="274320"/>
          </a:xfrm>
          <a:prstGeom prst="rect">
            <a:avLst/>
          </a:prstGeom>
          <a:noFill/>
        </p:spPr>
        <p:txBody>
          <a:bodyPr wrap="square">
            <a:spAutoFit/>
          </a:bodyPr>
          <a:lstStyle/>
          <a:p>
            <a:pPr algn="ctr">
              <a:defRPr sz="1300" b="0">
                <a:solidFill>
                  <a:srgbClr val="1A1A2E"/>
                </a:solidFill>
                <a:latin typeface="Segoe UI"/>
              </a:defRPr>
            </a:pPr>
            <a:r>
              <a:t>LSI Median TTM</a:t>
            </a:r>
          </a:p>
        </p:txBody>
      </p:sp>
      <p:sp>
        <p:nvSpPr>
          <p:cNvPr id="14" name="Rounded Rectangle 13"/>
          <p:cNvSpPr/>
          <p:nvPr/>
        </p:nvSpPr>
        <p:spPr>
          <a:xfrm>
            <a:off x="9235440" y="1097280"/>
            <a:ext cx="2560320" cy="1005840"/>
          </a:xfrm>
          <a:prstGeom prst="roundRect">
            <a:avLst/>
          </a:prstGeom>
          <a:solidFill>
            <a:srgbClr val="FFFFFF"/>
          </a:solidFill>
          <a:ln w="12700">
            <a:solidFill>
              <a:srgbClr val="C19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326880" y="1143000"/>
            <a:ext cx="2377440" cy="548640"/>
          </a:xfrm>
          <a:prstGeom prst="rect">
            <a:avLst/>
          </a:prstGeom>
          <a:noFill/>
        </p:spPr>
        <p:txBody>
          <a:bodyPr wrap="square">
            <a:spAutoFit/>
          </a:bodyPr>
          <a:lstStyle/>
          <a:p>
            <a:pPr algn="ctr">
              <a:defRPr sz="3200" b="1">
                <a:solidFill>
                  <a:srgbClr val="C19600"/>
                </a:solidFill>
                <a:latin typeface="Segoe UI"/>
              </a:defRPr>
            </a:pPr>
            <a:r>
              <a:t>809x</a:t>
            </a:r>
          </a:p>
        </p:txBody>
      </p:sp>
      <p:sp>
        <p:nvSpPr>
          <p:cNvPr id="16" name="TextBox 15"/>
          <p:cNvSpPr txBox="1"/>
          <p:nvPr/>
        </p:nvSpPr>
        <p:spPr>
          <a:xfrm>
            <a:off x="9326880" y="1691640"/>
            <a:ext cx="2377440" cy="274320"/>
          </a:xfrm>
          <a:prstGeom prst="rect">
            <a:avLst/>
          </a:prstGeom>
          <a:noFill/>
        </p:spPr>
        <p:txBody>
          <a:bodyPr wrap="square">
            <a:spAutoFit/>
          </a:bodyPr>
          <a:lstStyle/>
          <a:p>
            <a:pPr algn="ctr">
              <a:defRPr sz="1300" b="0">
                <a:solidFill>
                  <a:srgbClr val="1A1A2E"/>
                </a:solidFill>
                <a:latin typeface="Segoe UI"/>
              </a:defRPr>
            </a:pPr>
            <a:r>
              <a:t>Faster Than Human</a:t>
            </a:r>
          </a:p>
        </p:txBody>
      </p:sp>
      <p:sp>
        <p:nvSpPr>
          <p:cNvPr id="17" name="Rounded Rectangle 16"/>
          <p:cNvSpPr/>
          <p:nvPr/>
        </p:nvSpPr>
        <p:spPr>
          <a:xfrm>
            <a:off x="731520" y="2377440"/>
            <a:ext cx="5486400" cy="1828800"/>
          </a:xfrm>
          <a:prstGeom prst="roundRect">
            <a:avLst/>
          </a:prstGeom>
          <a:solidFill>
            <a:srgbClr val="F0F8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2468880"/>
            <a:ext cx="5029200" cy="320040"/>
          </a:xfrm>
          <a:prstGeom prst="rect">
            <a:avLst/>
          </a:prstGeom>
          <a:noFill/>
        </p:spPr>
        <p:txBody>
          <a:bodyPr wrap="square">
            <a:spAutoFit/>
          </a:bodyPr>
          <a:lstStyle/>
          <a:p>
            <a:pPr algn="l">
              <a:defRPr sz="1600" b="1">
                <a:solidFill>
                  <a:srgbClr val="0078D4"/>
                </a:solidFill>
                <a:latin typeface="Segoe UI"/>
              </a:defRPr>
            </a:pPr>
            <a:r>
              <a:t>TTM Impact — Livesite Incidents (LSI)</a:t>
            </a:r>
          </a:p>
        </p:txBody>
      </p:sp>
      <p:sp>
        <p:nvSpPr>
          <p:cNvPr id="19" name="TextBox 18"/>
          <p:cNvSpPr txBox="1"/>
          <p:nvPr/>
        </p:nvSpPr>
        <p:spPr>
          <a:xfrm>
            <a:off x="1097280" y="2880360"/>
            <a:ext cx="2286000" cy="320040"/>
          </a:xfrm>
          <a:prstGeom prst="rect">
            <a:avLst/>
          </a:prstGeom>
          <a:noFill/>
        </p:spPr>
        <p:txBody>
          <a:bodyPr wrap="square">
            <a:spAutoFit/>
          </a:bodyPr>
          <a:lstStyle/>
          <a:p>
            <a:pPr algn="l">
              <a:defRPr sz="1200" b="1">
                <a:solidFill>
                  <a:srgbClr val="1A1A2E"/>
                </a:solidFill>
                <a:latin typeface="Segoe UI"/>
              </a:defRPr>
            </a:pPr>
            <a:r>
              <a:t>SRE Agent Mitigated</a:t>
            </a:r>
          </a:p>
        </p:txBody>
      </p:sp>
      <p:sp>
        <p:nvSpPr>
          <p:cNvPr id="20" name="TextBox 19"/>
          <p:cNvSpPr txBox="1"/>
          <p:nvPr/>
        </p:nvSpPr>
        <p:spPr>
          <a:xfrm>
            <a:off x="3383280" y="2880360"/>
            <a:ext cx="1188720" cy="320040"/>
          </a:xfrm>
          <a:prstGeom prst="rect">
            <a:avLst/>
          </a:prstGeom>
          <a:noFill/>
        </p:spPr>
        <p:txBody>
          <a:bodyPr wrap="square">
            <a:spAutoFit/>
          </a:bodyPr>
          <a:lstStyle/>
          <a:p>
            <a:pPr algn="r">
              <a:defRPr sz="1400" b="1">
                <a:solidFill>
                  <a:srgbClr val="107C10"/>
                </a:solidFill>
                <a:latin typeface="Segoe UI"/>
              </a:defRPr>
            </a:pPr>
            <a:r>
              <a:t>3 min</a:t>
            </a:r>
          </a:p>
        </p:txBody>
      </p:sp>
      <p:sp>
        <p:nvSpPr>
          <p:cNvPr id="21" name="TextBox 20"/>
          <p:cNvSpPr txBox="1"/>
          <p:nvPr/>
        </p:nvSpPr>
        <p:spPr>
          <a:xfrm>
            <a:off x="4663440" y="2880360"/>
            <a:ext cx="1371600" cy="320040"/>
          </a:xfrm>
          <a:prstGeom prst="rect">
            <a:avLst/>
          </a:prstGeom>
          <a:noFill/>
        </p:spPr>
        <p:txBody>
          <a:bodyPr wrap="square">
            <a:spAutoFit/>
          </a:bodyPr>
          <a:lstStyle/>
          <a:p>
            <a:pPr algn="l">
              <a:defRPr sz="1100" b="0">
                <a:solidFill>
                  <a:srgbClr val="9E9E9E"/>
                </a:solidFill>
                <a:latin typeface="Segoe UI"/>
              </a:defRPr>
            </a:pPr>
            <a:r>
              <a:t>741 incidents</a:t>
            </a:r>
          </a:p>
        </p:txBody>
      </p:sp>
      <p:sp>
        <p:nvSpPr>
          <p:cNvPr id="22" name="TextBox 21"/>
          <p:cNvSpPr txBox="1"/>
          <p:nvPr/>
        </p:nvSpPr>
        <p:spPr>
          <a:xfrm>
            <a:off x="1097280" y="3291840"/>
            <a:ext cx="2286000" cy="320040"/>
          </a:xfrm>
          <a:prstGeom prst="rect">
            <a:avLst/>
          </a:prstGeom>
          <a:noFill/>
        </p:spPr>
        <p:txBody>
          <a:bodyPr wrap="square">
            <a:spAutoFit/>
          </a:bodyPr>
          <a:lstStyle/>
          <a:p>
            <a:pPr algn="l">
              <a:defRPr sz="1200" b="1">
                <a:solidFill>
                  <a:srgbClr val="1A1A2E"/>
                </a:solidFill>
                <a:latin typeface="Segoe UI"/>
              </a:defRPr>
            </a:pPr>
            <a:r>
              <a:t>Agent Enriched + Human</a:t>
            </a:r>
          </a:p>
        </p:txBody>
      </p:sp>
      <p:sp>
        <p:nvSpPr>
          <p:cNvPr id="23" name="TextBox 22"/>
          <p:cNvSpPr txBox="1"/>
          <p:nvPr/>
        </p:nvSpPr>
        <p:spPr>
          <a:xfrm>
            <a:off x="3383280" y="3291840"/>
            <a:ext cx="1188720" cy="320040"/>
          </a:xfrm>
          <a:prstGeom prst="rect">
            <a:avLst/>
          </a:prstGeom>
          <a:noFill/>
        </p:spPr>
        <p:txBody>
          <a:bodyPr wrap="square">
            <a:spAutoFit/>
          </a:bodyPr>
          <a:lstStyle/>
          <a:p>
            <a:pPr algn="r">
              <a:defRPr sz="1400" b="1">
                <a:solidFill>
                  <a:srgbClr val="0078D4"/>
                </a:solidFill>
                <a:latin typeface="Segoe UI"/>
              </a:defRPr>
            </a:pPr>
            <a:r>
              <a:t>16.1 hours</a:t>
            </a:r>
          </a:p>
        </p:txBody>
      </p:sp>
      <p:sp>
        <p:nvSpPr>
          <p:cNvPr id="24" name="TextBox 23"/>
          <p:cNvSpPr txBox="1"/>
          <p:nvPr/>
        </p:nvSpPr>
        <p:spPr>
          <a:xfrm>
            <a:off x="4663440" y="3291840"/>
            <a:ext cx="1371600" cy="320040"/>
          </a:xfrm>
          <a:prstGeom prst="rect">
            <a:avLst/>
          </a:prstGeom>
          <a:noFill/>
        </p:spPr>
        <p:txBody>
          <a:bodyPr wrap="square">
            <a:spAutoFit/>
          </a:bodyPr>
          <a:lstStyle/>
          <a:p>
            <a:pPr algn="l">
              <a:defRPr sz="1100" b="0">
                <a:solidFill>
                  <a:srgbClr val="9E9E9E"/>
                </a:solidFill>
                <a:latin typeface="Segoe UI"/>
              </a:defRPr>
            </a:pPr>
            <a:r>
              <a:t>350 incidents</a:t>
            </a:r>
          </a:p>
        </p:txBody>
      </p:sp>
      <p:sp>
        <p:nvSpPr>
          <p:cNvPr id="25" name="TextBox 24"/>
          <p:cNvSpPr txBox="1"/>
          <p:nvPr/>
        </p:nvSpPr>
        <p:spPr>
          <a:xfrm>
            <a:off x="1097280" y="3703320"/>
            <a:ext cx="2286000" cy="320040"/>
          </a:xfrm>
          <a:prstGeom prst="rect">
            <a:avLst/>
          </a:prstGeom>
          <a:noFill/>
        </p:spPr>
        <p:txBody>
          <a:bodyPr wrap="square">
            <a:spAutoFit/>
          </a:bodyPr>
          <a:lstStyle/>
          <a:p>
            <a:pPr algn="l">
              <a:defRPr sz="1200" b="1">
                <a:solidFill>
                  <a:srgbClr val="1A1A2E"/>
                </a:solidFill>
                <a:latin typeface="Segoe UI"/>
              </a:defRPr>
            </a:pPr>
            <a:r>
              <a:t>Human Only</a:t>
            </a:r>
          </a:p>
        </p:txBody>
      </p:sp>
      <p:sp>
        <p:nvSpPr>
          <p:cNvPr id="26" name="TextBox 25"/>
          <p:cNvSpPr txBox="1"/>
          <p:nvPr/>
        </p:nvSpPr>
        <p:spPr>
          <a:xfrm>
            <a:off x="3383280" y="3703320"/>
            <a:ext cx="1188720" cy="320040"/>
          </a:xfrm>
          <a:prstGeom prst="rect">
            <a:avLst/>
          </a:prstGeom>
          <a:noFill/>
        </p:spPr>
        <p:txBody>
          <a:bodyPr wrap="square">
            <a:spAutoFit/>
          </a:bodyPr>
          <a:lstStyle/>
          <a:p>
            <a:pPr algn="r">
              <a:defRPr sz="1400" b="1">
                <a:solidFill>
                  <a:srgbClr val="C51A1A"/>
                </a:solidFill>
                <a:latin typeface="Segoe UI"/>
              </a:defRPr>
            </a:pPr>
            <a:r>
              <a:t>40.5 hours</a:t>
            </a:r>
          </a:p>
        </p:txBody>
      </p:sp>
      <p:sp>
        <p:nvSpPr>
          <p:cNvPr id="27" name="TextBox 26"/>
          <p:cNvSpPr txBox="1"/>
          <p:nvPr/>
        </p:nvSpPr>
        <p:spPr>
          <a:xfrm>
            <a:off x="4663440" y="3703320"/>
            <a:ext cx="1371600" cy="320040"/>
          </a:xfrm>
          <a:prstGeom prst="rect">
            <a:avLst/>
          </a:prstGeom>
          <a:noFill/>
        </p:spPr>
        <p:txBody>
          <a:bodyPr wrap="square">
            <a:spAutoFit/>
          </a:bodyPr>
          <a:lstStyle/>
          <a:p>
            <a:pPr algn="l">
              <a:defRPr sz="1100" b="0">
                <a:solidFill>
                  <a:srgbClr val="9E9E9E"/>
                </a:solidFill>
                <a:latin typeface="Segoe UI"/>
              </a:defRPr>
            </a:pPr>
            <a:r>
              <a:t>1,603 incidents</a:t>
            </a:r>
          </a:p>
        </p:txBody>
      </p:sp>
      <p:sp>
        <p:nvSpPr>
          <p:cNvPr id="28" name="Rounded Rectangle 27"/>
          <p:cNvSpPr/>
          <p:nvPr/>
        </p:nvSpPr>
        <p:spPr>
          <a:xfrm>
            <a:off x="6583680" y="2377440"/>
            <a:ext cx="5029200" cy="1828800"/>
          </a:xfrm>
          <a:prstGeom prst="roundRect">
            <a:avLst/>
          </a:prstGeom>
          <a:solidFill>
            <a:srgbClr val="F0F8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66560" y="2468880"/>
            <a:ext cx="4572000" cy="320040"/>
          </a:xfrm>
          <a:prstGeom prst="rect">
            <a:avLst/>
          </a:prstGeom>
          <a:noFill/>
        </p:spPr>
        <p:txBody>
          <a:bodyPr wrap="square">
            <a:spAutoFit/>
          </a:bodyPr>
          <a:lstStyle/>
          <a:p>
            <a:pPr algn="l">
              <a:defRPr sz="1600" b="1">
                <a:solidFill>
                  <a:srgbClr val="00B7C3"/>
                </a:solidFill>
                <a:latin typeface="Segoe UI"/>
              </a:defRPr>
            </a:pPr>
            <a:r>
              <a:t>TTM Impact — Customer-Reported (CRI)</a:t>
            </a:r>
          </a:p>
        </p:txBody>
      </p:sp>
      <p:sp>
        <p:nvSpPr>
          <p:cNvPr id="30" name="TextBox 29"/>
          <p:cNvSpPr txBox="1"/>
          <p:nvPr/>
        </p:nvSpPr>
        <p:spPr>
          <a:xfrm>
            <a:off x="6858000" y="2880360"/>
            <a:ext cx="2286000" cy="320040"/>
          </a:xfrm>
          <a:prstGeom prst="rect">
            <a:avLst/>
          </a:prstGeom>
          <a:noFill/>
        </p:spPr>
        <p:txBody>
          <a:bodyPr wrap="square">
            <a:spAutoFit/>
          </a:bodyPr>
          <a:lstStyle/>
          <a:p>
            <a:pPr algn="l">
              <a:defRPr sz="1200" b="1">
                <a:solidFill>
                  <a:srgbClr val="1A1A2E"/>
                </a:solidFill>
                <a:latin typeface="Segoe UI"/>
              </a:defRPr>
            </a:pPr>
            <a:r>
              <a:t>SRE Agent Mitigated</a:t>
            </a:r>
          </a:p>
        </p:txBody>
      </p:sp>
      <p:sp>
        <p:nvSpPr>
          <p:cNvPr id="31" name="TextBox 30"/>
          <p:cNvSpPr txBox="1"/>
          <p:nvPr/>
        </p:nvSpPr>
        <p:spPr>
          <a:xfrm>
            <a:off x="9144000" y="2880360"/>
            <a:ext cx="1005840" cy="320040"/>
          </a:xfrm>
          <a:prstGeom prst="rect">
            <a:avLst/>
          </a:prstGeom>
          <a:noFill/>
        </p:spPr>
        <p:txBody>
          <a:bodyPr wrap="square">
            <a:spAutoFit/>
          </a:bodyPr>
          <a:lstStyle/>
          <a:p>
            <a:pPr algn="r">
              <a:defRPr sz="1400" b="1">
                <a:solidFill>
                  <a:srgbClr val="107C10"/>
                </a:solidFill>
                <a:latin typeface="Segoe UI"/>
              </a:defRPr>
            </a:pPr>
            <a:r>
              <a:t>4.2 hours</a:t>
            </a:r>
          </a:p>
        </p:txBody>
      </p:sp>
      <p:sp>
        <p:nvSpPr>
          <p:cNvPr id="32" name="TextBox 31"/>
          <p:cNvSpPr txBox="1"/>
          <p:nvPr/>
        </p:nvSpPr>
        <p:spPr>
          <a:xfrm>
            <a:off x="10241280" y="2880360"/>
            <a:ext cx="1188720" cy="320040"/>
          </a:xfrm>
          <a:prstGeom prst="rect">
            <a:avLst/>
          </a:prstGeom>
          <a:noFill/>
        </p:spPr>
        <p:txBody>
          <a:bodyPr wrap="square">
            <a:spAutoFit/>
          </a:bodyPr>
          <a:lstStyle/>
          <a:p>
            <a:pPr algn="l">
              <a:defRPr sz="1100" b="0">
                <a:solidFill>
                  <a:srgbClr val="9E9E9E"/>
                </a:solidFill>
                <a:latin typeface="Segoe UI"/>
              </a:defRPr>
            </a:pPr>
            <a:r>
              <a:t>819 CRIs</a:t>
            </a:r>
          </a:p>
        </p:txBody>
      </p:sp>
      <p:sp>
        <p:nvSpPr>
          <p:cNvPr id="33" name="TextBox 32"/>
          <p:cNvSpPr txBox="1"/>
          <p:nvPr/>
        </p:nvSpPr>
        <p:spPr>
          <a:xfrm>
            <a:off x="6858000" y="3291840"/>
            <a:ext cx="2286000" cy="320040"/>
          </a:xfrm>
          <a:prstGeom prst="rect">
            <a:avLst/>
          </a:prstGeom>
          <a:noFill/>
        </p:spPr>
        <p:txBody>
          <a:bodyPr wrap="square">
            <a:spAutoFit/>
          </a:bodyPr>
          <a:lstStyle/>
          <a:p>
            <a:pPr algn="l">
              <a:defRPr sz="1200" b="1">
                <a:solidFill>
                  <a:srgbClr val="1A1A2E"/>
                </a:solidFill>
                <a:latin typeface="Segoe UI"/>
              </a:defRPr>
            </a:pPr>
            <a:r>
              <a:t>Human Only</a:t>
            </a:r>
          </a:p>
        </p:txBody>
      </p:sp>
      <p:sp>
        <p:nvSpPr>
          <p:cNvPr id="34" name="TextBox 33"/>
          <p:cNvSpPr txBox="1"/>
          <p:nvPr/>
        </p:nvSpPr>
        <p:spPr>
          <a:xfrm>
            <a:off x="8961120" y="3291840"/>
            <a:ext cx="1188720" cy="320040"/>
          </a:xfrm>
          <a:prstGeom prst="rect">
            <a:avLst/>
          </a:prstGeom>
          <a:noFill/>
        </p:spPr>
        <p:txBody>
          <a:bodyPr wrap="square">
            <a:spAutoFit/>
          </a:bodyPr>
          <a:lstStyle/>
          <a:p>
            <a:pPr algn="r">
              <a:defRPr sz="1400" b="1">
                <a:solidFill>
                  <a:srgbClr val="C51A1A"/>
                </a:solidFill>
                <a:latin typeface="Segoe UI"/>
              </a:defRPr>
            </a:pPr>
            <a:r>
              <a:t>24.6 hours</a:t>
            </a:r>
          </a:p>
        </p:txBody>
      </p:sp>
      <p:sp>
        <p:nvSpPr>
          <p:cNvPr id="35" name="TextBox 34"/>
          <p:cNvSpPr txBox="1"/>
          <p:nvPr/>
        </p:nvSpPr>
        <p:spPr>
          <a:xfrm>
            <a:off x="10241280" y="3291840"/>
            <a:ext cx="1188720" cy="320040"/>
          </a:xfrm>
          <a:prstGeom prst="rect">
            <a:avLst/>
          </a:prstGeom>
          <a:noFill/>
        </p:spPr>
        <p:txBody>
          <a:bodyPr wrap="square">
            <a:spAutoFit/>
          </a:bodyPr>
          <a:lstStyle/>
          <a:p>
            <a:pPr algn="l">
              <a:defRPr sz="1100" b="0">
                <a:solidFill>
                  <a:srgbClr val="9E9E9E"/>
                </a:solidFill>
                <a:latin typeface="Segoe UI"/>
              </a:defRPr>
            </a:pPr>
            <a:r>
              <a:t>345 CRIs</a:t>
            </a:r>
          </a:p>
        </p:txBody>
      </p:sp>
      <p:sp>
        <p:nvSpPr>
          <p:cNvPr id="36" name="Rounded Rectangle 35"/>
          <p:cNvSpPr/>
          <p:nvPr/>
        </p:nvSpPr>
        <p:spPr>
          <a:xfrm>
            <a:off x="731520" y="4572000"/>
            <a:ext cx="5486400" cy="1005840"/>
          </a:xfrm>
          <a:prstGeom prst="roundRect">
            <a:avLst/>
          </a:prstGeom>
          <a:solidFill>
            <a:srgbClr val="0B1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14400" y="4617720"/>
            <a:ext cx="5120640" cy="461665"/>
          </a:xfrm>
          <a:prstGeom prst="rect">
            <a:avLst/>
          </a:prstGeom>
          <a:noFill/>
        </p:spPr>
        <p:txBody>
          <a:bodyPr wrap="square">
            <a:spAutoFit/>
          </a:bodyPr>
          <a:lstStyle/>
          <a:p>
            <a:pPr algn="ctr">
              <a:defRPr sz="3200" b="1">
                <a:solidFill>
                  <a:srgbClr val="FFFFFF"/>
                </a:solidFill>
                <a:latin typeface="Segoe UI"/>
              </a:defRPr>
            </a:pPr>
            <a:r>
              <a:rPr sz="2400"/>
              <a:t>809x faster</a:t>
            </a:r>
          </a:p>
        </p:txBody>
      </p:sp>
      <p:sp>
        <p:nvSpPr>
          <p:cNvPr id="38" name="TextBox 37"/>
          <p:cNvSpPr txBox="1"/>
          <p:nvPr/>
        </p:nvSpPr>
        <p:spPr>
          <a:xfrm>
            <a:off x="914400" y="5120640"/>
            <a:ext cx="5120640" cy="365760"/>
          </a:xfrm>
          <a:prstGeom prst="rect">
            <a:avLst/>
          </a:prstGeom>
          <a:noFill/>
        </p:spPr>
        <p:txBody>
          <a:bodyPr wrap="square">
            <a:spAutoFit/>
          </a:bodyPr>
          <a:lstStyle/>
          <a:p>
            <a:pPr algn="ctr">
              <a:defRPr sz="1400" b="0">
                <a:solidFill>
                  <a:srgbClr val="B0D0F0"/>
                </a:solidFill>
                <a:latin typeface="Segoe UI"/>
              </a:defRPr>
            </a:pPr>
            <a:r>
              <a:t>Agent mitigates LSI in 3 min vs 40.5 hours human-only</a:t>
            </a:r>
          </a:p>
        </p:txBody>
      </p:sp>
      <p:sp>
        <p:nvSpPr>
          <p:cNvPr id="39" name="Rounded Rectangle 38"/>
          <p:cNvSpPr/>
          <p:nvPr/>
        </p:nvSpPr>
        <p:spPr>
          <a:xfrm>
            <a:off x="6583680" y="4572000"/>
            <a:ext cx="5029200" cy="1005840"/>
          </a:xfrm>
          <a:prstGeom prst="roundRect">
            <a:avLst/>
          </a:prstGeom>
          <a:solidFill>
            <a:srgbClr val="0B1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766560" y="4617720"/>
            <a:ext cx="4663440" cy="457200"/>
          </a:xfrm>
          <a:prstGeom prst="rect">
            <a:avLst/>
          </a:prstGeom>
          <a:noFill/>
        </p:spPr>
        <p:txBody>
          <a:bodyPr wrap="square">
            <a:spAutoFit/>
          </a:bodyPr>
          <a:lstStyle/>
          <a:p>
            <a:pPr algn="ctr">
              <a:defRPr sz="2800" b="1">
                <a:solidFill>
                  <a:srgbClr val="FFFFFF"/>
                </a:solidFill>
                <a:latin typeface="Segoe UI"/>
              </a:defRPr>
            </a:pPr>
            <a:r>
              <a:rPr sz="2400"/>
              <a:t>2.5x faster human resolution</a:t>
            </a:r>
          </a:p>
        </p:txBody>
      </p:sp>
      <p:sp>
        <p:nvSpPr>
          <p:cNvPr id="41" name="TextBox 40"/>
          <p:cNvSpPr txBox="1"/>
          <p:nvPr/>
        </p:nvSpPr>
        <p:spPr>
          <a:xfrm>
            <a:off x="6766560" y="5120640"/>
            <a:ext cx="4663440" cy="365760"/>
          </a:xfrm>
          <a:prstGeom prst="rect">
            <a:avLst/>
          </a:prstGeom>
          <a:noFill/>
        </p:spPr>
        <p:txBody>
          <a:bodyPr wrap="square">
            <a:spAutoFit/>
          </a:bodyPr>
          <a:lstStyle/>
          <a:p>
            <a:pPr algn="ctr">
              <a:defRPr sz="1200" b="0">
                <a:solidFill>
                  <a:srgbClr val="B0D0F0"/>
                </a:solidFill>
                <a:latin typeface="Segoe UI"/>
              </a:defRPr>
            </a:pPr>
            <a:r>
              <a:t>LSI with enrichment: 16.1h vs 40.5h — diagnostics cut investigation in half</a:t>
            </a:r>
          </a:p>
        </p:txBody>
      </p:sp>
      <p:sp>
        <p:nvSpPr>
          <p:cNvPr id="42" name="Rounded Rectangle 41"/>
          <p:cNvSpPr/>
          <p:nvPr/>
        </p:nvSpPr>
        <p:spPr>
          <a:xfrm>
            <a:off x="731520" y="5760720"/>
            <a:ext cx="10698480" cy="731520"/>
          </a:xfrm>
          <a:prstGeom prst="roundRect">
            <a:avLst/>
          </a:prstGeom>
          <a:solidFill>
            <a:srgbClr val="E8FDEA"/>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97280" y="5852160"/>
            <a:ext cx="10058400" cy="548640"/>
          </a:xfrm>
          <a:prstGeom prst="rect">
            <a:avLst/>
          </a:prstGeom>
          <a:noFill/>
        </p:spPr>
        <p:txBody>
          <a:bodyPr wrap="square">
            <a:spAutoFit/>
          </a:bodyPr>
          <a:lstStyle/>
          <a:p>
            <a:pPr algn="l">
              <a:defRPr sz="1400" b="0">
                <a:solidFill>
                  <a:srgbClr val="1A1A2E"/>
                </a:solidFill>
                <a:latin typeface="Segoe UI"/>
              </a:defRPr>
            </a:pPr>
            <a:r>
              <a:t>Deep customization driving results — teams run up to 87 custom tools purpose-built for their failure modes. 819 CRIs resolved autonomously.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19" y="137160"/>
            <a:ext cx="7763123" cy="430887"/>
          </a:xfrm>
          <a:prstGeom prst="rect">
            <a:avLst/>
          </a:prstGeom>
          <a:noFill/>
        </p:spPr>
        <p:txBody>
          <a:bodyPr wrap="square">
            <a:spAutoFit/>
          </a:bodyPr>
          <a:lstStyle/>
          <a:p>
            <a:pPr algn="l">
              <a:defRPr sz="2200" b="1">
                <a:solidFill>
                  <a:srgbClr val="FFFFFF"/>
                </a:solidFill>
                <a:latin typeface="Segoe UI"/>
              </a:defRPr>
            </a:pPr>
            <a:r>
              <a:t>SRE Agent Managing Itself  —  SRE4SRE  —  Last 90 Days</a:t>
            </a:r>
          </a:p>
        </p:txBody>
      </p:sp>
      <p:sp>
        <p:nvSpPr>
          <p:cNvPr id="5" name="Rounded Rectangle 4"/>
          <p:cNvSpPr/>
          <p:nvPr/>
        </p:nvSpPr>
        <p:spPr>
          <a:xfrm>
            <a:off x="457200" y="1097280"/>
            <a:ext cx="21031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143000"/>
            <a:ext cx="1920240" cy="457200"/>
          </a:xfrm>
          <a:prstGeom prst="rect">
            <a:avLst/>
          </a:prstGeom>
          <a:noFill/>
        </p:spPr>
        <p:txBody>
          <a:bodyPr wrap="square">
            <a:spAutoFit/>
          </a:bodyPr>
          <a:lstStyle/>
          <a:p>
            <a:pPr algn="ctr">
              <a:defRPr sz="2800" b="1">
                <a:solidFill>
                  <a:srgbClr val="00B7C3"/>
                </a:solidFill>
                <a:latin typeface="Segoe UI"/>
              </a:defRPr>
            </a:pPr>
            <a:r>
              <a:t>1,542</a:t>
            </a:r>
          </a:p>
        </p:txBody>
      </p:sp>
      <p:sp>
        <p:nvSpPr>
          <p:cNvPr id="7" name="TextBox 6"/>
          <p:cNvSpPr txBox="1"/>
          <p:nvPr/>
        </p:nvSpPr>
        <p:spPr>
          <a:xfrm>
            <a:off x="548640" y="1645920"/>
            <a:ext cx="1920240" cy="320040"/>
          </a:xfrm>
          <a:prstGeom prst="rect">
            <a:avLst/>
          </a:prstGeom>
          <a:noFill/>
        </p:spPr>
        <p:txBody>
          <a:bodyPr wrap="square">
            <a:spAutoFit/>
          </a:bodyPr>
          <a:lstStyle/>
          <a:p>
            <a:pPr algn="ctr">
              <a:defRPr sz="1200" b="0">
                <a:solidFill>
                  <a:srgbClr val="1A1A2E"/>
                </a:solidFill>
                <a:latin typeface="Segoe UI"/>
              </a:defRPr>
            </a:pPr>
            <a:r>
              <a:t>Manual Chats</a:t>
            </a:r>
          </a:p>
        </p:txBody>
      </p:sp>
      <p:sp>
        <p:nvSpPr>
          <p:cNvPr id="8" name="Rounded Rectangle 7"/>
          <p:cNvSpPr/>
          <p:nvPr/>
        </p:nvSpPr>
        <p:spPr>
          <a:xfrm>
            <a:off x="2788920" y="1097280"/>
            <a:ext cx="21031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880360" y="1143000"/>
            <a:ext cx="1920240" cy="457200"/>
          </a:xfrm>
          <a:prstGeom prst="rect">
            <a:avLst/>
          </a:prstGeom>
          <a:noFill/>
        </p:spPr>
        <p:txBody>
          <a:bodyPr wrap="square">
            <a:spAutoFit/>
          </a:bodyPr>
          <a:lstStyle/>
          <a:p>
            <a:pPr algn="ctr">
              <a:defRPr sz="2800" b="1">
                <a:solidFill>
                  <a:srgbClr val="00B7C3"/>
                </a:solidFill>
                <a:latin typeface="Segoe UI"/>
              </a:defRPr>
            </a:pPr>
            <a:r>
              <a:t>96</a:t>
            </a:r>
          </a:p>
        </p:txBody>
      </p:sp>
      <p:sp>
        <p:nvSpPr>
          <p:cNvPr id="10" name="TextBox 9"/>
          <p:cNvSpPr txBox="1"/>
          <p:nvPr/>
        </p:nvSpPr>
        <p:spPr>
          <a:xfrm>
            <a:off x="2880360" y="1645920"/>
            <a:ext cx="1920240" cy="320040"/>
          </a:xfrm>
          <a:prstGeom prst="rect">
            <a:avLst/>
          </a:prstGeom>
          <a:noFill/>
        </p:spPr>
        <p:txBody>
          <a:bodyPr wrap="square">
            <a:spAutoFit/>
          </a:bodyPr>
          <a:lstStyle/>
          <a:p>
            <a:pPr algn="ctr">
              <a:defRPr sz="1200" b="0">
                <a:solidFill>
                  <a:srgbClr val="1A1A2E"/>
                </a:solidFill>
                <a:latin typeface="Segoe UI"/>
              </a:defRPr>
            </a:pPr>
            <a:r>
              <a:t>Incidents Processed</a:t>
            </a:r>
          </a:p>
        </p:txBody>
      </p:sp>
      <p:sp>
        <p:nvSpPr>
          <p:cNvPr id="11" name="Rounded Rectangle 10"/>
          <p:cNvSpPr/>
          <p:nvPr/>
        </p:nvSpPr>
        <p:spPr>
          <a:xfrm>
            <a:off x="5120640" y="1097280"/>
            <a:ext cx="21031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212080" y="1143000"/>
            <a:ext cx="1920240" cy="457200"/>
          </a:xfrm>
          <a:prstGeom prst="rect">
            <a:avLst/>
          </a:prstGeom>
          <a:noFill/>
        </p:spPr>
        <p:txBody>
          <a:bodyPr wrap="square">
            <a:spAutoFit/>
          </a:bodyPr>
          <a:lstStyle/>
          <a:p>
            <a:pPr algn="ctr">
              <a:defRPr sz="2800" b="1">
                <a:solidFill>
                  <a:srgbClr val="00B7C3"/>
                </a:solidFill>
                <a:latin typeface="Segoe UI"/>
              </a:defRPr>
            </a:pPr>
            <a:r>
              <a:t>906</a:t>
            </a:r>
          </a:p>
        </p:txBody>
      </p:sp>
      <p:sp>
        <p:nvSpPr>
          <p:cNvPr id="13" name="TextBox 12"/>
          <p:cNvSpPr txBox="1"/>
          <p:nvPr/>
        </p:nvSpPr>
        <p:spPr>
          <a:xfrm>
            <a:off x="5212080" y="1645920"/>
            <a:ext cx="1920240" cy="320040"/>
          </a:xfrm>
          <a:prstGeom prst="rect">
            <a:avLst/>
          </a:prstGeom>
          <a:noFill/>
        </p:spPr>
        <p:txBody>
          <a:bodyPr wrap="square">
            <a:spAutoFit/>
          </a:bodyPr>
          <a:lstStyle/>
          <a:p>
            <a:pPr algn="ctr">
              <a:defRPr sz="1200" b="0">
                <a:solidFill>
                  <a:srgbClr val="1A1A2E"/>
                </a:solidFill>
                <a:latin typeface="Segoe UI"/>
              </a:defRPr>
            </a:pPr>
            <a:r>
              <a:t>Code Edits / PRs</a:t>
            </a:r>
          </a:p>
        </p:txBody>
      </p:sp>
      <p:sp>
        <p:nvSpPr>
          <p:cNvPr id="14" name="Rounded Rectangle 13"/>
          <p:cNvSpPr/>
          <p:nvPr/>
        </p:nvSpPr>
        <p:spPr>
          <a:xfrm>
            <a:off x="7452359" y="1097280"/>
            <a:ext cx="21031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543799" y="1143000"/>
            <a:ext cx="1920240" cy="457200"/>
          </a:xfrm>
          <a:prstGeom prst="rect">
            <a:avLst/>
          </a:prstGeom>
          <a:noFill/>
        </p:spPr>
        <p:txBody>
          <a:bodyPr wrap="square">
            <a:spAutoFit/>
          </a:bodyPr>
          <a:lstStyle/>
          <a:p>
            <a:pPr algn="ctr">
              <a:defRPr sz="2800" b="1">
                <a:solidFill>
                  <a:srgbClr val="00B7C3"/>
                </a:solidFill>
                <a:latin typeface="Segoe UI"/>
              </a:defRPr>
            </a:pPr>
            <a:r>
              <a:t>157</a:t>
            </a:r>
          </a:p>
        </p:txBody>
      </p:sp>
      <p:sp>
        <p:nvSpPr>
          <p:cNvPr id="16" name="TextBox 15"/>
          <p:cNvSpPr txBox="1"/>
          <p:nvPr/>
        </p:nvSpPr>
        <p:spPr>
          <a:xfrm>
            <a:off x="7543799" y="1645920"/>
            <a:ext cx="1920240" cy="320040"/>
          </a:xfrm>
          <a:prstGeom prst="rect">
            <a:avLst/>
          </a:prstGeom>
          <a:noFill/>
        </p:spPr>
        <p:txBody>
          <a:bodyPr wrap="square">
            <a:spAutoFit/>
          </a:bodyPr>
          <a:lstStyle/>
          <a:p>
            <a:pPr algn="ctr">
              <a:defRPr sz="1200" b="0">
                <a:solidFill>
                  <a:srgbClr val="1A1A2E"/>
                </a:solidFill>
                <a:latin typeface="Segoe UI"/>
              </a:defRPr>
            </a:pPr>
            <a:r>
              <a:t>GitHub Issues</a:t>
            </a:r>
          </a:p>
        </p:txBody>
      </p:sp>
      <p:sp>
        <p:nvSpPr>
          <p:cNvPr id="17" name="Rounded Rectangle 16"/>
          <p:cNvSpPr/>
          <p:nvPr/>
        </p:nvSpPr>
        <p:spPr>
          <a:xfrm>
            <a:off x="9784080" y="1097280"/>
            <a:ext cx="2103120" cy="100584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875520" y="1143000"/>
            <a:ext cx="1920240" cy="457200"/>
          </a:xfrm>
          <a:prstGeom prst="rect">
            <a:avLst/>
          </a:prstGeom>
          <a:noFill/>
        </p:spPr>
        <p:txBody>
          <a:bodyPr wrap="square">
            <a:spAutoFit/>
          </a:bodyPr>
          <a:lstStyle/>
          <a:p>
            <a:pPr algn="ctr">
              <a:defRPr sz="2800" b="1">
                <a:solidFill>
                  <a:srgbClr val="00B7C3"/>
                </a:solidFill>
                <a:latin typeface="Segoe UI"/>
              </a:defRPr>
            </a:pPr>
            <a:r>
              <a:t>4,736</a:t>
            </a:r>
          </a:p>
        </p:txBody>
      </p:sp>
      <p:sp>
        <p:nvSpPr>
          <p:cNvPr id="19" name="TextBox 18"/>
          <p:cNvSpPr txBox="1"/>
          <p:nvPr/>
        </p:nvSpPr>
        <p:spPr>
          <a:xfrm>
            <a:off x="9875520" y="1645920"/>
            <a:ext cx="1920240" cy="320040"/>
          </a:xfrm>
          <a:prstGeom prst="rect">
            <a:avLst/>
          </a:prstGeom>
          <a:noFill/>
        </p:spPr>
        <p:txBody>
          <a:bodyPr wrap="square">
            <a:spAutoFit/>
          </a:bodyPr>
          <a:lstStyle/>
          <a:p>
            <a:pPr algn="ctr">
              <a:defRPr sz="1200" b="0">
                <a:solidFill>
                  <a:srgbClr val="1A1A2E"/>
                </a:solidFill>
                <a:latin typeface="Segoe UI"/>
              </a:defRPr>
            </a:pPr>
            <a:r>
              <a:t>Scheduled Task Runs</a:t>
            </a:r>
          </a:p>
        </p:txBody>
      </p:sp>
      <p:sp>
        <p:nvSpPr>
          <p:cNvPr id="20" name="Rounded Rectangle 19"/>
          <p:cNvSpPr/>
          <p:nvPr/>
        </p:nvSpPr>
        <p:spPr>
          <a:xfrm>
            <a:off x="731520" y="2377440"/>
            <a:ext cx="5303520" cy="164592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2468880"/>
            <a:ext cx="4754880" cy="320040"/>
          </a:xfrm>
          <a:prstGeom prst="rect">
            <a:avLst/>
          </a:prstGeom>
          <a:noFill/>
        </p:spPr>
        <p:txBody>
          <a:bodyPr wrap="square">
            <a:spAutoFit/>
          </a:bodyPr>
          <a:lstStyle/>
          <a:p>
            <a:pPr algn="l">
              <a:defRPr sz="1700" b="1">
                <a:solidFill>
                  <a:srgbClr val="0078D4"/>
                </a:solidFill>
                <a:latin typeface="Segoe UI"/>
              </a:defRPr>
            </a:pPr>
            <a:r>
              <a:t>Incidents</a:t>
            </a:r>
          </a:p>
        </p:txBody>
      </p:sp>
      <p:sp>
        <p:nvSpPr>
          <p:cNvPr id="22" name="TextBox 21"/>
          <p:cNvSpPr txBox="1"/>
          <p:nvPr/>
        </p:nvSpPr>
        <p:spPr>
          <a:xfrm>
            <a:off x="1005840" y="2834640"/>
            <a:ext cx="4754880" cy="320040"/>
          </a:xfrm>
          <a:prstGeom prst="rect">
            <a:avLst/>
          </a:prstGeom>
          <a:noFill/>
        </p:spPr>
        <p:txBody>
          <a:bodyPr wrap="square">
            <a:spAutoFit/>
          </a:bodyPr>
          <a:lstStyle/>
          <a:p>
            <a:pPr algn="l">
              <a:defRPr sz="1200" b="0">
                <a:solidFill>
                  <a:srgbClr val="1A1A2E"/>
                </a:solidFill>
                <a:latin typeface="Segoe UI"/>
              </a:defRPr>
            </a:pPr>
            <a:r>
              <a:t>  58 resolved autonomously</a:t>
            </a:r>
          </a:p>
        </p:txBody>
      </p:sp>
      <p:sp>
        <p:nvSpPr>
          <p:cNvPr id="23" name="TextBox 22"/>
          <p:cNvSpPr txBox="1"/>
          <p:nvPr/>
        </p:nvSpPr>
        <p:spPr>
          <a:xfrm>
            <a:off x="1005840" y="3200400"/>
            <a:ext cx="4754880" cy="320040"/>
          </a:xfrm>
          <a:prstGeom prst="rect">
            <a:avLst/>
          </a:prstGeom>
          <a:noFill/>
        </p:spPr>
        <p:txBody>
          <a:bodyPr wrap="square">
            <a:spAutoFit/>
          </a:bodyPr>
          <a:lstStyle/>
          <a:p>
            <a:pPr algn="l">
              <a:defRPr sz="1200" b="0">
                <a:solidFill>
                  <a:srgbClr val="1A1A2E"/>
                </a:solidFill>
                <a:latin typeface="Segoe UI"/>
              </a:defRPr>
            </a:pPr>
            <a:r>
              <a:t>  Alert → RCA → mitigation, zero human touch</a:t>
            </a:r>
          </a:p>
        </p:txBody>
      </p:sp>
      <p:sp>
        <p:nvSpPr>
          <p:cNvPr id="24" name="TextBox 23"/>
          <p:cNvSpPr txBox="1"/>
          <p:nvPr/>
        </p:nvSpPr>
        <p:spPr>
          <a:xfrm>
            <a:off x="1005840" y="3566160"/>
            <a:ext cx="4754880" cy="320040"/>
          </a:xfrm>
          <a:prstGeom prst="rect">
            <a:avLst/>
          </a:prstGeom>
          <a:noFill/>
        </p:spPr>
        <p:txBody>
          <a:bodyPr wrap="square">
            <a:spAutoFit/>
          </a:bodyPr>
          <a:lstStyle/>
          <a:p>
            <a:pPr algn="l">
              <a:defRPr sz="1200" b="0">
                <a:solidFill>
                  <a:srgbClr val="1A1A2E"/>
                </a:solidFill>
                <a:latin typeface="Segoe UI"/>
              </a:defRPr>
            </a:pPr>
            <a:r>
              <a:t>  288 RCA discussion posts with evidence</a:t>
            </a:r>
          </a:p>
        </p:txBody>
      </p:sp>
      <p:sp>
        <p:nvSpPr>
          <p:cNvPr id="25" name="Rounded Rectangle 24"/>
          <p:cNvSpPr/>
          <p:nvPr/>
        </p:nvSpPr>
        <p:spPr>
          <a:xfrm>
            <a:off x="6492240" y="2377440"/>
            <a:ext cx="5303520" cy="1645920"/>
          </a:xfrm>
          <a:prstGeom prst="roundRect">
            <a:avLst/>
          </a:prstGeom>
          <a:solidFill>
            <a:srgbClr val="FFFFFF"/>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66560" y="2468880"/>
            <a:ext cx="4754880" cy="320040"/>
          </a:xfrm>
          <a:prstGeom prst="rect">
            <a:avLst/>
          </a:prstGeom>
          <a:noFill/>
        </p:spPr>
        <p:txBody>
          <a:bodyPr wrap="square">
            <a:spAutoFit/>
          </a:bodyPr>
          <a:lstStyle/>
          <a:p>
            <a:pPr algn="l">
              <a:defRPr sz="1700" b="1">
                <a:solidFill>
                  <a:srgbClr val="107C10"/>
                </a:solidFill>
                <a:latin typeface="Segoe UI"/>
              </a:defRPr>
            </a:pPr>
            <a:r>
              <a:t>Code &amp; PRs</a:t>
            </a:r>
          </a:p>
        </p:txBody>
      </p:sp>
      <p:sp>
        <p:nvSpPr>
          <p:cNvPr id="27" name="TextBox 26"/>
          <p:cNvSpPr txBox="1"/>
          <p:nvPr/>
        </p:nvSpPr>
        <p:spPr>
          <a:xfrm>
            <a:off x="6766560" y="2834640"/>
            <a:ext cx="4754880" cy="320040"/>
          </a:xfrm>
          <a:prstGeom prst="rect">
            <a:avLst/>
          </a:prstGeom>
          <a:noFill/>
        </p:spPr>
        <p:txBody>
          <a:bodyPr wrap="square">
            <a:spAutoFit/>
          </a:bodyPr>
          <a:lstStyle/>
          <a:p>
            <a:pPr algn="l">
              <a:defRPr sz="1200" b="0">
                <a:solidFill>
                  <a:srgbClr val="1A1A2E"/>
                </a:solidFill>
                <a:latin typeface="Segoe UI"/>
              </a:defRPr>
            </a:pPr>
            <a:r>
              <a:t>  Detect bug in prod → write fix + tests → open PR</a:t>
            </a:r>
          </a:p>
        </p:txBody>
      </p:sp>
      <p:sp>
        <p:nvSpPr>
          <p:cNvPr id="28" name="TextBox 27"/>
          <p:cNvSpPr txBox="1"/>
          <p:nvPr/>
        </p:nvSpPr>
        <p:spPr>
          <a:xfrm>
            <a:off x="6766560" y="3200400"/>
            <a:ext cx="4754880" cy="320040"/>
          </a:xfrm>
          <a:prstGeom prst="rect">
            <a:avLst/>
          </a:prstGeom>
          <a:noFill/>
        </p:spPr>
        <p:txBody>
          <a:bodyPr wrap="square">
            <a:spAutoFit/>
          </a:bodyPr>
          <a:lstStyle/>
          <a:p>
            <a:pPr algn="l">
              <a:defRPr sz="1200" b="0">
                <a:solidFill>
                  <a:srgbClr val="1A1A2E"/>
                </a:solidFill>
                <a:latin typeface="Segoe UI"/>
              </a:defRPr>
            </a:pPr>
            <a:r>
              <a:t>  906 edits, 173 files, 2,167 validations</a:t>
            </a:r>
          </a:p>
        </p:txBody>
      </p:sp>
      <p:sp>
        <p:nvSpPr>
          <p:cNvPr id="29" name="TextBox 28"/>
          <p:cNvSpPr txBox="1"/>
          <p:nvPr/>
        </p:nvSpPr>
        <p:spPr>
          <a:xfrm>
            <a:off x="6766560" y="3566160"/>
            <a:ext cx="4754880" cy="320040"/>
          </a:xfrm>
          <a:prstGeom prst="rect">
            <a:avLst/>
          </a:prstGeom>
          <a:noFill/>
        </p:spPr>
        <p:txBody>
          <a:bodyPr wrap="square">
            <a:spAutoFit/>
          </a:bodyPr>
          <a:lstStyle/>
          <a:p>
            <a:pPr algn="l">
              <a:defRPr sz="1200" b="0">
                <a:solidFill>
                  <a:srgbClr val="1A1A2E"/>
                </a:solidFill>
                <a:latin typeface="Segoe UI"/>
              </a:defRPr>
            </a:pPr>
            <a:r>
              <a:t>  12K GrepSearches, 17K ReadFiles across 4 repos</a:t>
            </a:r>
          </a:p>
        </p:txBody>
      </p:sp>
      <p:sp>
        <p:nvSpPr>
          <p:cNvPr id="30" name="Rounded Rectangle 29"/>
          <p:cNvSpPr/>
          <p:nvPr/>
        </p:nvSpPr>
        <p:spPr>
          <a:xfrm>
            <a:off x="731520" y="4206240"/>
            <a:ext cx="5303520" cy="164592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05840" y="4297680"/>
            <a:ext cx="4754880" cy="320040"/>
          </a:xfrm>
          <a:prstGeom prst="rect">
            <a:avLst/>
          </a:prstGeom>
          <a:noFill/>
        </p:spPr>
        <p:txBody>
          <a:bodyPr wrap="square">
            <a:spAutoFit/>
          </a:bodyPr>
          <a:lstStyle/>
          <a:p>
            <a:pPr algn="l">
              <a:defRPr sz="1700" b="1">
                <a:solidFill>
                  <a:srgbClr val="00B7C3"/>
                </a:solidFill>
                <a:latin typeface="Segoe UI"/>
              </a:defRPr>
            </a:pPr>
            <a:r>
              <a:t>Scheduled Tasks</a:t>
            </a:r>
          </a:p>
        </p:txBody>
      </p:sp>
      <p:sp>
        <p:nvSpPr>
          <p:cNvPr id="32" name="TextBox 31"/>
          <p:cNvSpPr txBox="1"/>
          <p:nvPr/>
        </p:nvSpPr>
        <p:spPr>
          <a:xfrm>
            <a:off x="1005840" y="4663440"/>
            <a:ext cx="4754880" cy="320040"/>
          </a:xfrm>
          <a:prstGeom prst="rect">
            <a:avLst/>
          </a:prstGeom>
          <a:noFill/>
        </p:spPr>
        <p:txBody>
          <a:bodyPr wrap="square">
            <a:spAutoFit/>
          </a:bodyPr>
          <a:lstStyle/>
          <a:p>
            <a:pPr algn="l">
              <a:defRPr sz="1200" b="0">
                <a:solidFill>
                  <a:srgbClr val="1A1A2E"/>
                </a:solidFill>
                <a:latin typeface="Segoe UI"/>
              </a:defRPr>
            </a:pPr>
            <a:r>
              <a:t>  17 tasks → 4,736 fires → 79 daily reports</a:t>
            </a:r>
          </a:p>
        </p:txBody>
      </p:sp>
      <p:sp>
        <p:nvSpPr>
          <p:cNvPr id="33" name="TextBox 32"/>
          <p:cNvSpPr txBox="1"/>
          <p:nvPr/>
        </p:nvSpPr>
        <p:spPr>
          <a:xfrm>
            <a:off x="1005840" y="5029200"/>
            <a:ext cx="4754880" cy="320040"/>
          </a:xfrm>
          <a:prstGeom prst="rect">
            <a:avLst/>
          </a:prstGeom>
          <a:noFill/>
        </p:spPr>
        <p:txBody>
          <a:bodyPr wrap="square">
            <a:spAutoFit/>
          </a:bodyPr>
          <a:lstStyle/>
          <a:p>
            <a:pPr algn="l">
              <a:defRPr sz="1200" b="0">
                <a:solidFill>
                  <a:srgbClr val="1A1A2E"/>
                </a:solidFill>
                <a:latin typeface="Segoe UI"/>
              </a:defRPr>
            </a:pPr>
            <a:r>
              <a:t>  1,318 daily-reporter sub-agent runs</a:t>
            </a:r>
          </a:p>
        </p:txBody>
      </p:sp>
      <p:sp>
        <p:nvSpPr>
          <p:cNvPr id="34" name="TextBox 33"/>
          <p:cNvSpPr txBox="1"/>
          <p:nvPr/>
        </p:nvSpPr>
        <p:spPr>
          <a:xfrm>
            <a:off x="1005840" y="5394960"/>
            <a:ext cx="4754880" cy="276999"/>
          </a:xfrm>
          <a:prstGeom prst="rect">
            <a:avLst/>
          </a:prstGeom>
          <a:noFill/>
        </p:spPr>
        <p:txBody>
          <a:bodyPr wrap="square">
            <a:spAutoFit/>
          </a:bodyPr>
          <a:lstStyle/>
          <a:p>
            <a:pPr algn="l">
              <a:defRPr sz="1200" b="0">
                <a:solidFill>
                  <a:srgbClr val="1A1A2E"/>
                </a:solidFill>
                <a:latin typeface="Segoe UI"/>
              </a:defRPr>
            </a:pPr>
            <a:r>
              <a:t>  No alert goes uninvestigated</a:t>
            </a:r>
          </a:p>
        </p:txBody>
      </p:sp>
      <p:sp>
        <p:nvSpPr>
          <p:cNvPr id="35" name="Rounded Rectangle 34"/>
          <p:cNvSpPr/>
          <p:nvPr/>
        </p:nvSpPr>
        <p:spPr>
          <a:xfrm>
            <a:off x="6492240" y="4206240"/>
            <a:ext cx="5303520" cy="1645920"/>
          </a:xfrm>
          <a:prstGeom prst="roundRect">
            <a:avLst/>
          </a:prstGeom>
          <a:solidFill>
            <a:srgbClr val="FFFFFF"/>
          </a:solidFill>
          <a:ln w="12700">
            <a:solidFill>
              <a:srgbClr val="C196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66560" y="4297680"/>
            <a:ext cx="4754880" cy="320040"/>
          </a:xfrm>
          <a:prstGeom prst="rect">
            <a:avLst/>
          </a:prstGeom>
          <a:noFill/>
        </p:spPr>
        <p:txBody>
          <a:bodyPr wrap="square">
            <a:spAutoFit/>
          </a:bodyPr>
          <a:lstStyle/>
          <a:p>
            <a:pPr algn="l">
              <a:defRPr sz="1700" b="1">
                <a:solidFill>
                  <a:srgbClr val="C19600"/>
                </a:solidFill>
                <a:latin typeface="Segoe UI"/>
              </a:defRPr>
            </a:pPr>
            <a:r>
              <a:t>GitHub Issues</a:t>
            </a:r>
          </a:p>
        </p:txBody>
      </p:sp>
      <p:sp>
        <p:nvSpPr>
          <p:cNvPr id="37" name="TextBox 36"/>
          <p:cNvSpPr txBox="1"/>
          <p:nvPr/>
        </p:nvSpPr>
        <p:spPr>
          <a:xfrm>
            <a:off x="6766560" y="4663440"/>
            <a:ext cx="4754880" cy="320040"/>
          </a:xfrm>
          <a:prstGeom prst="rect">
            <a:avLst/>
          </a:prstGeom>
          <a:noFill/>
        </p:spPr>
        <p:txBody>
          <a:bodyPr wrap="square">
            <a:spAutoFit/>
          </a:bodyPr>
          <a:lstStyle/>
          <a:p>
            <a:pPr algn="l">
              <a:defRPr sz="1200" b="0">
                <a:solidFill>
                  <a:srgbClr val="1A1A2E"/>
                </a:solidFill>
                <a:latin typeface="Segoe UI"/>
              </a:defRPr>
            </a:pPr>
            <a:r>
              <a:t>  Public issues triaged automatically</a:t>
            </a:r>
          </a:p>
        </p:txBody>
      </p:sp>
      <p:sp>
        <p:nvSpPr>
          <p:cNvPr id="38" name="TextBox 37"/>
          <p:cNvSpPr txBox="1"/>
          <p:nvPr/>
        </p:nvSpPr>
        <p:spPr>
          <a:xfrm>
            <a:off x="6766560" y="5029200"/>
            <a:ext cx="4754880" cy="320040"/>
          </a:xfrm>
          <a:prstGeom prst="rect">
            <a:avLst/>
          </a:prstGeom>
          <a:noFill/>
        </p:spPr>
        <p:txBody>
          <a:bodyPr wrap="square">
            <a:spAutoFit/>
          </a:bodyPr>
          <a:lstStyle/>
          <a:p>
            <a:pPr algn="l">
              <a:defRPr sz="1200" b="0">
                <a:solidFill>
                  <a:srgbClr val="1A1A2E"/>
                </a:solidFill>
                <a:latin typeface="Segoe UI"/>
              </a:defRPr>
            </a:pPr>
            <a:r>
              <a:t>  Browse, extract, query logs, trace code</a:t>
            </a:r>
          </a:p>
        </p:txBody>
      </p:sp>
      <p:sp>
        <p:nvSpPr>
          <p:cNvPr id="39" name="TextBox 38"/>
          <p:cNvSpPr txBox="1"/>
          <p:nvPr/>
        </p:nvSpPr>
        <p:spPr>
          <a:xfrm>
            <a:off x="6766560" y="5394960"/>
            <a:ext cx="4754880" cy="320040"/>
          </a:xfrm>
          <a:prstGeom prst="rect">
            <a:avLst/>
          </a:prstGeom>
          <a:noFill/>
        </p:spPr>
        <p:txBody>
          <a:bodyPr wrap="square">
            <a:spAutoFit/>
          </a:bodyPr>
          <a:lstStyle/>
          <a:p>
            <a:pPr algn="l">
              <a:defRPr sz="1200" b="0">
                <a:solidFill>
                  <a:srgbClr val="1A1A2E"/>
                </a:solidFill>
                <a:latin typeface="Segoe UI"/>
              </a:defRPr>
            </a:pPr>
            <a:r>
              <a:t>  1,136 debugger runs, 946 browser 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73152"/>
            <a:ext cx="9144000" cy="438912"/>
          </a:xfrm>
          <a:prstGeom prst="rect">
            <a:avLst/>
          </a:prstGeom>
          <a:noFill/>
        </p:spPr>
        <p:txBody>
          <a:bodyPr wrap="none">
            <a:spAutoFit/>
          </a:bodyPr>
          <a:lstStyle/>
          <a:p>
            <a:pPr>
              <a:defRPr sz="2300" b="1">
                <a:solidFill>
                  <a:srgbClr val="FFFFFF"/>
                </a:solidFill>
                <a:latin typeface="Segoe UI"/>
              </a:defRPr>
            </a:pPr>
            <a:r>
              <a:t>SRE Agent  |  3P Customer Landscape by Industry Vertical</a:t>
            </a:r>
          </a:p>
        </p:txBody>
      </p:sp>
      <p:sp>
        <p:nvSpPr>
          <p:cNvPr id="4" name="TextBox 3"/>
          <p:cNvSpPr txBox="1"/>
          <p:nvPr/>
        </p:nvSpPr>
        <p:spPr>
          <a:xfrm>
            <a:off x="457200" y="475488"/>
            <a:ext cx="2040943" cy="253916"/>
          </a:xfrm>
          <a:prstGeom prst="rect">
            <a:avLst/>
          </a:prstGeom>
          <a:noFill/>
        </p:spPr>
        <p:txBody>
          <a:bodyPr wrap="none">
            <a:spAutoFit/>
          </a:bodyPr>
          <a:lstStyle/>
          <a:p>
            <a:pPr>
              <a:defRPr sz="1050">
                <a:solidFill>
                  <a:srgbClr val="CCE5FF"/>
                </a:solidFill>
                <a:latin typeface="Segoe UI"/>
              </a:defRPr>
            </a:pPr>
            <a:r>
              <a:t>90-Day Window (Jan-Apr 2026)</a:t>
            </a:r>
          </a:p>
        </p:txBody>
      </p:sp>
      <p:sp>
        <p:nvSpPr>
          <p:cNvPr id="5" name="Rectangle 4"/>
          <p:cNvSpPr/>
          <p:nvPr/>
        </p:nvSpPr>
        <p:spPr>
          <a:xfrm>
            <a:off x="784876" y="1588082"/>
            <a:ext cx="1691640" cy="71323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15170" y="1606370"/>
            <a:ext cx="1031052" cy="430887"/>
          </a:xfrm>
          <a:prstGeom prst="rect">
            <a:avLst/>
          </a:prstGeom>
          <a:noFill/>
        </p:spPr>
        <p:txBody>
          <a:bodyPr wrap="square">
            <a:spAutoFit/>
          </a:bodyPr>
          <a:lstStyle/>
          <a:p>
            <a:pPr algn="ctr">
              <a:defRPr sz="2200" b="1">
                <a:solidFill>
                  <a:srgbClr val="FFFFFF"/>
                </a:solidFill>
                <a:latin typeface="Segoe UI"/>
              </a:defRPr>
            </a:pPr>
            <a:r>
              <a:t>1</a:t>
            </a:r>
            <a:r>
              <a:rPr lang="en-US"/>
              <a:t>000+</a:t>
            </a:r>
            <a:endParaRPr/>
          </a:p>
        </p:txBody>
      </p:sp>
      <p:sp>
        <p:nvSpPr>
          <p:cNvPr id="7" name="TextBox 6"/>
          <p:cNvSpPr txBox="1"/>
          <p:nvPr/>
        </p:nvSpPr>
        <p:spPr>
          <a:xfrm>
            <a:off x="784876" y="1972130"/>
            <a:ext cx="1691640" cy="223138"/>
          </a:xfrm>
          <a:prstGeom prst="rect">
            <a:avLst/>
          </a:prstGeom>
          <a:noFill/>
        </p:spPr>
        <p:txBody>
          <a:bodyPr wrap="square">
            <a:spAutoFit/>
          </a:bodyPr>
          <a:lstStyle/>
          <a:p>
            <a:pPr algn="ctr">
              <a:defRPr sz="850">
                <a:solidFill>
                  <a:srgbClr val="E0E0E0"/>
                </a:solidFill>
                <a:latin typeface="Segoe UI"/>
              </a:defRPr>
            </a:pPr>
            <a:r>
              <a:t>Total 3P Customers</a:t>
            </a:r>
          </a:p>
        </p:txBody>
      </p:sp>
      <p:sp>
        <p:nvSpPr>
          <p:cNvPr id="8" name="Rectangle 7"/>
          <p:cNvSpPr/>
          <p:nvPr/>
        </p:nvSpPr>
        <p:spPr>
          <a:xfrm>
            <a:off x="2641108" y="1588082"/>
            <a:ext cx="1691640" cy="713232"/>
          </a:xfrm>
          <a:prstGeom prst="rect">
            <a:avLst/>
          </a:prstGeom>
          <a:solidFill>
            <a:srgbClr val="005A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71402" y="1606370"/>
            <a:ext cx="1031052" cy="430887"/>
          </a:xfrm>
          <a:prstGeom prst="rect">
            <a:avLst/>
          </a:prstGeom>
          <a:noFill/>
        </p:spPr>
        <p:txBody>
          <a:bodyPr wrap="square">
            <a:spAutoFit/>
          </a:bodyPr>
          <a:lstStyle/>
          <a:p>
            <a:pPr algn="ctr">
              <a:defRPr sz="2200" b="1">
                <a:solidFill>
                  <a:srgbClr val="FFFFFF"/>
                </a:solidFill>
                <a:latin typeface="Segoe UI"/>
              </a:defRPr>
            </a:pPr>
            <a:r>
              <a:rPr lang="en-US"/>
              <a:t>1400+</a:t>
            </a:r>
            <a:endParaRPr/>
          </a:p>
        </p:txBody>
      </p:sp>
      <p:sp>
        <p:nvSpPr>
          <p:cNvPr id="10" name="TextBox 9"/>
          <p:cNvSpPr txBox="1"/>
          <p:nvPr/>
        </p:nvSpPr>
        <p:spPr>
          <a:xfrm>
            <a:off x="2641108" y="1972130"/>
            <a:ext cx="1691640" cy="223138"/>
          </a:xfrm>
          <a:prstGeom prst="rect">
            <a:avLst/>
          </a:prstGeom>
          <a:noFill/>
        </p:spPr>
        <p:txBody>
          <a:bodyPr wrap="square">
            <a:spAutoFit/>
          </a:bodyPr>
          <a:lstStyle/>
          <a:p>
            <a:pPr algn="ctr">
              <a:defRPr sz="850">
                <a:solidFill>
                  <a:srgbClr val="E0E0E0"/>
                </a:solidFill>
                <a:latin typeface="Segoe UI"/>
              </a:defRPr>
            </a:pPr>
            <a:r>
              <a:t>Total Agents Deployed</a:t>
            </a:r>
          </a:p>
        </p:txBody>
      </p:sp>
      <p:sp>
        <p:nvSpPr>
          <p:cNvPr id="14" name="Rectangle 13"/>
          <p:cNvSpPr/>
          <p:nvPr/>
        </p:nvSpPr>
        <p:spPr>
          <a:xfrm>
            <a:off x="4524772" y="1596023"/>
            <a:ext cx="1691640" cy="713232"/>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24772" y="1614311"/>
            <a:ext cx="1691640" cy="430887"/>
          </a:xfrm>
          <a:prstGeom prst="rect">
            <a:avLst/>
          </a:prstGeom>
          <a:solidFill>
            <a:srgbClr val="002060"/>
          </a:solidFill>
        </p:spPr>
        <p:txBody>
          <a:bodyPr wrap="square">
            <a:spAutoFit/>
          </a:bodyPr>
          <a:lstStyle/>
          <a:p>
            <a:pPr algn="ctr">
              <a:defRPr sz="2200" b="1">
                <a:solidFill>
                  <a:srgbClr val="FFFFFF"/>
                </a:solidFill>
                <a:latin typeface="Segoe UI"/>
              </a:defRPr>
            </a:pPr>
            <a:r>
              <a:t>1177</a:t>
            </a:r>
          </a:p>
        </p:txBody>
      </p:sp>
      <p:sp>
        <p:nvSpPr>
          <p:cNvPr id="16" name="TextBox 15"/>
          <p:cNvSpPr txBox="1"/>
          <p:nvPr/>
        </p:nvSpPr>
        <p:spPr>
          <a:xfrm>
            <a:off x="4524772" y="1980071"/>
            <a:ext cx="1691640" cy="223138"/>
          </a:xfrm>
          <a:prstGeom prst="rect">
            <a:avLst/>
          </a:prstGeom>
          <a:solidFill>
            <a:srgbClr val="002060"/>
          </a:solidFill>
        </p:spPr>
        <p:txBody>
          <a:bodyPr wrap="square">
            <a:spAutoFit/>
          </a:bodyPr>
          <a:lstStyle/>
          <a:p>
            <a:pPr algn="ctr">
              <a:defRPr sz="850">
                <a:solidFill>
                  <a:srgbClr val="E0E0E0"/>
                </a:solidFill>
                <a:latin typeface="Segoe UI"/>
              </a:defRPr>
            </a:pPr>
            <a:r>
              <a:t>Active Agents (90d)</a:t>
            </a:r>
          </a:p>
        </p:txBody>
      </p:sp>
      <p:graphicFrame>
        <p:nvGraphicFramePr>
          <p:cNvPr id="24" name="Table 23"/>
          <p:cNvGraphicFramePr>
            <a:graphicFrameLocks noGrp="1"/>
          </p:cNvGraphicFramePr>
          <p:nvPr>
            <p:extLst>
              <p:ext uri="{D42A27DB-BD31-4B8C-83A1-F6EECF244321}">
                <p14:modId xmlns:p14="http://schemas.microsoft.com/office/powerpoint/2010/main" val="1426167989"/>
              </p:ext>
            </p:extLst>
          </p:nvPr>
        </p:nvGraphicFramePr>
        <p:xfrm>
          <a:off x="6978316" y="2309255"/>
          <a:ext cx="3889953" cy="3469087"/>
        </p:xfrm>
        <a:graphic>
          <a:graphicData uri="http://schemas.openxmlformats.org/drawingml/2006/table">
            <a:tbl>
              <a:tblPr firstRow="1" bandRow="1">
                <a:tableStyleId>{5C22544A-7EE6-4342-B048-85BDC9FD1C3A}</a:tableStyleId>
              </a:tblPr>
              <a:tblGrid>
                <a:gridCol w="1800903">
                  <a:extLst>
                    <a:ext uri="{9D8B030D-6E8A-4147-A177-3AD203B41FA5}">
                      <a16:colId xmlns:a16="http://schemas.microsoft.com/office/drawing/2014/main" val="20000"/>
                    </a:ext>
                  </a:extLst>
                </a:gridCol>
                <a:gridCol w="504254">
                  <a:extLst>
                    <a:ext uri="{9D8B030D-6E8A-4147-A177-3AD203B41FA5}">
                      <a16:colId xmlns:a16="http://schemas.microsoft.com/office/drawing/2014/main" val="20001"/>
                    </a:ext>
                  </a:extLst>
                </a:gridCol>
                <a:gridCol w="792398">
                  <a:extLst>
                    <a:ext uri="{9D8B030D-6E8A-4147-A177-3AD203B41FA5}">
                      <a16:colId xmlns:a16="http://schemas.microsoft.com/office/drawing/2014/main" val="20002"/>
                    </a:ext>
                  </a:extLst>
                </a:gridCol>
                <a:gridCol w="792398">
                  <a:extLst>
                    <a:ext uri="{9D8B030D-6E8A-4147-A177-3AD203B41FA5}">
                      <a16:colId xmlns:a16="http://schemas.microsoft.com/office/drawing/2014/main" val="20003"/>
                    </a:ext>
                  </a:extLst>
                </a:gridCol>
              </a:tblGrid>
              <a:tr h="390607">
                <a:tc>
                  <a:txBody>
                    <a:bodyPr/>
                    <a:lstStyle/>
                    <a:p>
                      <a:pPr algn="ctr">
                        <a:defRPr sz="750" b="1">
                          <a:solidFill>
                            <a:srgbClr val="FFFFFF"/>
                          </a:solidFill>
                          <a:latin typeface="Segoe UI"/>
                        </a:defRPr>
                      </a:pPr>
                      <a:r>
                        <a:rPr sz="1000"/>
                        <a:t>Vertical</a:t>
                      </a:r>
                    </a:p>
                  </a:txBody>
                  <a:tcPr anchor="ctr">
                    <a:solidFill>
                      <a:srgbClr val="002B50"/>
                    </a:solidFill>
                  </a:tcPr>
                </a:tc>
                <a:tc>
                  <a:txBody>
                    <a:bodyPr/>
                    <a:lstStyle/>
                    <a:p>
                      <a:pPr algn="ctr">
                        <a:defRPr sz="750" b="1">
                          <a:solidFill>
                            <a:srgbClr val="FFFFFF"/>
                          </a:solidFill>
                          <a:latin typeface="Segoe UI"/>
                        </a:defRPr>
                      </a:pPr>
                      <a:r>
                        <a:rPr sz="1000"/>
                        <a:t>#</a:t>
                      </a:r>
                    </a:p>
                  </a:txBody>
                  <a:tcPr anchor="ctr">
                    <a:solidFill>
                      <a:srgbClr val="002B50"/>
                    </a:solidFill>
                  </a:tcPr>
                </a:tc>
                <a:tc>
                  <a:txBody>
                    <a:bodyPr/>
                    <a:lstStyle/>
                    <a:p>
                      <a:pPr algn="ctr">
                        <a:defRPr sz="750" b="1">
                          <a:solidFill>
                            <a:srgbClr val="FFFFFF"/>
                          </a:solidFill>
                          <a:latin typeface="Segoe UI"/>
                        </a:defRPr>
                      </a:pPr>
                      <a:r>
                        <a:rPr sz="1000" b="1" kern="1200">
                          <a:solidFill>
                            <a:srgbClr val="FFFFFF"/>
                          </a:solidFill>
                          <a:latin typeface="Segoe UI"/>
                          <a:ea typeface="+mn-ea"/>
                          <a:cs typeface="+mn-cs"/>
                        </a:rPr>
                        <a:t>Total</a:t>
                      </a:r>
                    </a:p>
                    <a:p>
                      <a:r>
                        <a:rPr sz="1000" b="1" kern="1200">
                          <a:solidFill>
                            <a:srgbClr val="FFFFFF"/>
                          </a:solidFill>
                          <a:latin typeface="Segoe UI"/>
                          <a:ea typeface="+mn-ea"/>
                          <a:cs typeface="+mn-cs"/>
                        </a:rPr>
                        <a:t>Agents</a:t>
                      </a:r>
                    </a:p>
                  </a:txBody>
                  <a:tcPr anchor="ctr">
                    <a:solidFill>
                      <a:srgbClr val="002B50"/>
                    </a:solidFill>
                  </a:tcPr>
                </a:tc>
                <a:tc>
                  <a:txBody>
                    <a:bodyPr/>
                    <a:lstStyle/>
                    <a:p>
                      <a:pPr algn="ctr">
                        <a:defRPr sz="750" b="1">
                          <a:solidFill>
                            <a:srgbClr val="FFFFFF"/>
                          </a:solidFill>
                          <a:latin typeface="Segoe UI"/>
                        </a:defRPr>
                      </a:pPr>
                      <a:r>
                        <a:rPr sz="1000" b="1" kern="1200">
                          <a:solidFill>
                            <a:srgbClr val="FFFFFF"/>
                          </a:solidFill>
                          <a:latin typeface="Segoe UI"/>
                          <a:ea typeface="+mn-ea"/>
                          <a:cs typeface="+mn-cs"/>
                        </a:rPr>
                        <a:t>Active</a:t>
                      </a:r>
                    </a:p>
                    <a:p>
                      <a:r>
                        <a:rPr sz="1000" b="1" kern="1200">
                          <a:solidFill>
                            <a:srgbClr val="FFFFFF"/>
                          </a:solidFill>
                          <a:latin typeface="Segoe UI"/>
                          <a:ea typeface="+mn-ea"/>
                          <a:cs typeface="+mn-cs"/>
                        </a:rPr>
                        <a:t>Agents</a:t>
                      </a:r>
                    </a:p>
                  </a:txBody>
                  <a:tcPr anchor="ctr">
                    <a:solidFill>
                      <a:srgbClr val="002B50"/>
                    </a:solidFill>
                  </a:tcPr>
                </a:tc>
                <a:extLst>
                  <a:ext uri="{0D108BD9-81ED-4DB2-BD59-A6C34878D82A}">
                    <a16:rowId xmlns:a16="http://schemas.microsoft.com/office/drawing/2014/main" val="10000"/>
                  </a:ext>
                </a:extLst>
              </a:tr>
              <a:tr h="242968">
                <a:tc>
                  <a:txBody>
                    <a:bodyPr/>
                    <a:lstStyle/>
                    <a:p>
                      <a:pPr algn="l">
                        <a:defRPr sz="700">
                          <a:solidFill>
                            <a:srgbClr val="333333"/>
                          </a:solidFill>
                          <a:latin typeface="Segoe UI"/>
                        </a:defRPr>
                      </a:pPr>
                      <a:r>
                        <a:rPr sz="1000"/>
                        <a:t>Financial Services</a:t>
                      </a:r>
                    </a:p>
                  </a:txBody>
                  <a:tcPr anchor="ctr">
                    <a:solidFill>
                      <a:srgbClr val="F2F2F2"/>
                    </a:solidFill>
                  </a:tcPr>
                </a:tc>
                <a:tc>
                  <a:txBody>
                    <a:bodyPr/>
                    <a:lstStyle/>
                    <a:p>
                      <a:pPr algn="ctr">
                        <a:defRPr sz="700">
                          <a:solidFill>
                            <a:srgbClr val="333333"/>
                          </a:solidFill>
                          <a:latin typeface="Segoe UI"/>
                        </a:defRPr>
                      </a:pPr>
                      <a:r>
                        <a:rPr sz="1000"/>
                        <a:t>36</a:t>
                      </a:r>
                    </a:p>
                  </a:txBody>
                  <a:tcPr anchor="ctr">
                    <a:solidFill>
                      <a:srgbClr val="F2F2F2"/>
                    </a:solidFill>
                  </a:tcPr>
                </a:tc>
                <a:tc>
                  <a:txBody>
                    <a:bodyPr/>
                    <a:lstStyle/>
                    <a:p>
                      <a:pPr algn="ctr">
                        <a:defRPr sz="700">
                          <a:solidFill>
                            <a:srgbClr val="333333"/>
                          </a:solidFill>
                          <a:latin typeface="Segoe UI"/>
                        </a:defRPr>
                      </a:pPr>
                      <a:r>
                        <a:rPr sz="1000"/>
                        <a:t>175</a:t>
                      </a:r>
                    </a:p>
                  </a:txBody>
                  <a:tcPr anchor="ctr">
                    <a:solidFill>
                      <a:srgbClr val="F2F2F2"/>
                    </a:solidFill>
                  </a:tcPr>
                </a:tc>
                <a:tc>
                  <a:txBody>
                    <a:bodyPr/>
                    <a:lstStyle/>
                    <a:p>
                      <a:pPr algn="ctr">
                        <a:defRPr sz="700">
                          <a:solidFill>
                            <a:srgbClr val="333333"/>
                          </a:solidFill>
                          <a:latin typeface="Segoe UI"/>
                        </a:defRPr>
                      </a:pPr>
                      <a:r>
                        <a:rPr sz="1000"/>
                        <a:t>36</a:t>
                      </a:r>
                    </a:p>
                  </a:txBody>
                  <a:tcPr anchor="ctr">
                    <a:solidFill>
                      <a:srgbClr val="F2F2F2"/>
                    </a:solidFill>
                  </a:tcPr>
                </a:tc>
                <a:extLst>
                  <a:ext uri="{0D108BD9-81ED-4DB2-BD59-A6C34878D82A}">
                    <a16:rowId xmlns:a16="http://schemas.microsoft.com/office/drawing/2014/main" val="10001"/>
                  </a:ext>
                </a:extLst>
              </a:tr>
              <a:tr h="242968">
                <a:tc>
                  <a:txBody>
                    <a:bodyPr/>
                    <a:lstStyle/>
                    <a:p>
                      <a:pPr algn="l">
                        <a:defRPr sz="700">
                          <a:solidFill>
                            <a:srgbClr val="333333"/>
                          </a:solidFill>
                          <a:latin typeface="Segoe UI"/>
                        </a:defRPr>
                      </a:pPr>
                      <a:r>
                        <a:rPr sz="1000"/>
                        <a:t>Healthcare &amp; Pharma</a:t>
                      </a:r>
                    </a:p>
                  </a:txBody>
                  <a:tcPr anchor="ctr">
                    <a:solidFill>
                      <a:srgbClr val="FFFFFF"/>
                    </a:solidFill>
                  </a:tcPr>
                </a:tc>
                <a:tc>
                  <a:txBody>
                    <a:bodyPr/>
                    <a:lstStyle/>
                    <a:p>
                      <a:pPr algn="ctr">
                        <a:defRPr sz="700">
                          <a:solidFill>
                            <a:srgbClr val="333333"/>
                          </a:solidFill>
                          <a:latin typeface="Segoe UI"/>
                        </a:defRPr>
                      </a:pPr>
                      <a:r>
                        <a:rPr sz="1000"/>
                        <a:t>13</a:t>
                      </a:r>
                    </a:p>
                  </a:txBody>
                  <a:tcPr anchor="ctr">
                    <a:solidFill>
                      <a:srgbClr val="FFFFFF"/>
                    </a:solidFill>
                  </a:tcPr>
                </a:tc>
                <a:tc>
                  <a:txBody>
                    <a:bodyPr/>
                    <a:lstStyle/>
                    <a:p>
                      <a:pPr algn="ctr">
                        <a:defRPr sz="700">
                          <a:solidFill>
                            <a:srgbClr val="333333"/>
                          </a:solidFill>
                          <a:latin typeface="Segoe UI"/>
                        </a:defRPr>
                      </a:pPr>
                      <a:r>
                        <a:rPr sz="1000"/>
                        <a:t>71</a:t>
                      </a:r>
                    </a:p>
                  </a:txBody>
                  <a:tcPr anchor="ctr">
                    <a:solidFill>
                      <a:srgbClr val="FFFFFF"/>
                    </a:solidFill>
                  </a:tcPr>
                </a:tc>
                <a:tc>
                  <a:txBody>
                    <a:bodyPr/>
                    <a:lstStyle/>
                    <a:p>
                      <a:pPr algn="ctr">
                        <a:defRPr sz="700">
                          <a:solidFill>
                            <a:srgbClr val="333333"/>
                          </a:solidFill>
                          <a:latin typeface="Segoe UI"/>
                        </a:defRPr>
                      </a:pPr>
                      <a:r>
                        <a:rPr sz="1000"/>
                        <a:t>12</a:t>
                      </a:r>
                    </a:p>
                  </a:txBody>
                  <a:tcPr anchor="ctr">
                    <a:solidFill>
                      <a:srgbClr val="FFFFFF"/>
                    </a:solidFill>
                  </a:tcPr>
                </a:tc>
                <a:extLst>
                  <a:ext uri="{0D108BD9-81ED-4DB2-BD59-A6C34878D82A}">
                    <a16:rowId xmlns:a16="http://schemas.microsoft.com/office/drawing/2014/main" val="10002"/>
                  </a:ext>
                </a:extLst>
              </a:tr>
              <a:tr h="242968">
                <a:tc>
                  <a:txBody>
                    <a:bodyPr/>
                    <a:lstStyle/>
                    <a:p>
                      <a:pPr algn="l">
                        <a:defRPr sz="700">
                          <a:solidFill>
                            <a:srgbClr val="333333"/>
                          </a:solidFill>
                          <a:latin typeface="Segoe UI"/>
                        </a:defRPr>
                      </a:pPr>
                      <a:r>
                        <a:rPr sz="1000"/>
                        <a:t>Automotive &amp; Industrial</a:t>
                      </a:r>
                    </a:p>
                  </a:txBody>
                  <a:tcPr anchor="ctr">
                    <a:solidFill>
                      <a:srgbClr val="F2F2F2"/>
                    </a:solidFill>
                  </a:tcPr>
                </a:tc>
                <a:tc>
                  <a:txBody>
                    <a:bodyPr/>
                    <a:lstStyle/>
                    <a:p>
                      <a:pPr algn="ctr">
                        <a:defRPr sz="700">
                          <a:solidFill>
                            <a:srgbClr val="333333"/>
                          </a:solidFill>
                          <a:latin typeface="Segoe UI"/>
                        </a:defRPr>
                      </a:pPr>
                      <a:r>
                        <a:rPr sz="1000"/>
                        <a:t>30</a:t>
                      </a:r>
                    </a:p>
                  </a:txBody>
                  <a:tcPr anchor="ctr">
                    <a:solidFill>
                      <a:srgbClr val="F2F2F2"/>
                    </a:solidFill>
                  </a:tcPr>
                </a:tc>
                <a:tc>
                  <a:txBody>
                    <a:bodyPr/>
                    <a:lstStyle/>
                    <a:p>
                      <a:pPr algn="ctr">
                        <a:defRPr sz="700">
                          <a:solidFill>
                            <a:srgbClr val="333333"/>
                          </a:solidFill>
                          <a:latin typeface="Segoe UI"/>
                        </a:defRPr>
                      </a:pPr>
                      <a:r>
                        <a:rPr sz="1000"/>
                        <a:t>160</a:t>
                      </a:r>
                    </a:p>
                  </a:txBody>
                  <a:tcPr anchor="ctr">
                    <a:solidFill>
                      <a:srgbClr val="F2F2F2"/>
                    </a:solidFill>
                  </a:tcPr>
                </a:tc>
                <a:tc>
                  <a:txBody>
                    <a:bodyPr/>
                    <a:lstStyle/>
                    <a:p>
                      <a:pPr algn="ctr">
                        <a:defRPr sz="700">
                          <a:solidFill>
                            <a:srgbClr val="333333"/>
                          </a:solidFill>
                          <a:latin typeface="Segoe UI"/>
                        </a:defRPr>
                      </a:pPr>
                      <a:r>
                        <a:rPr sz="1000"/>
                        <a:t>28</a:t>
                      </a:r>
                    </a:p>
                  </a:txBody>
                  <a:tcPr anchor="ctr">
                    <a:solidFill>
                      <a:srgbClr val="F2F2F2"/>
                    </a:solidFill>
                  </a:tcPr>
                </a:tc>
                <a:extLst>
                  <a:ext uri="{0D108BD9-81ED-4DB2-BD59-A6C34878D82A}">
                    <a16:rowId xmlns:a16="http://schemas.microsoft.com/office/drawing/2014/main" val="10003"/>
                  </a:ext>
                </a:extLst>
              </a:tr>
              <a:tr h="242968">
                <a:tc>
                  <a:txBody>
                    <a:bodyPr/>
                    <a:lstStyle/>
                    <a:p>
                      <a:pPr algn="l">
                        <a:defRPr sz="700">
                          <a:solidFill>
                            <a:srgbClr val="333333"/>
                          </a:solidFill>
                          <a:latin typeface="Segoe UI"/>
                        </a:defRPr>
                      </a:pPr>
                      <a:r>
                        <a:rPr sz="1000"/>
                        <a:t>Technology &amp; Software</a:t>
                      </a:r>
                    </a:p>
                  </a:txBody>
                  <a:tcPr anchor="ctr">
                    <a:solidFill>
                      <a:srgbClr val="FFFFFF"/>
                    </a:solidFill>
                  </a:tcPr>
                </a:tc>
                <a:tc>
                  <a:txBody>
                    <a:bodyPr/>
                    <a:lstStyle/>
                    <a:p>
                      <a:pPr algn="ctr">
                        <a:defRPr sz="700">
                          <a:solidFill>
                            <a:srgbClr val="333333"/>
                          </a:solidFill>
                          <a:latin typeface="Segoe UI"/>
                        </a:defRPr>
                      </a:pPr>
                      <a:r>
                        <a:rPr sz="1000"/>
                        <a:t>51</a:t>
                      </a:r>
                    </a:p>
                  </a:txBody>
                  <a:tcPr anchor="ctr">
                    <a:solidFill>
                      <a:srgbClr val="FFFFFF"/>
                    </a:solidFill>
                  </a:tcPr>
                </a:tc>
                <a:tc>
                  <a:txBody>
                    <a:bodyPr/>
                    <a:lstStyle/>
                    <a:p>
                      <a:pPr algn="ctr">
                        <a:defRPr sz="700">
                          <a:solidFill>
                            <a:srgbClr val="333333"/>
                          </a:solidFill>
                          <a:latin typeface="Segoe UI"/>
                        </a:defRPr>
                      </a:pPr>
                      <a:r>
                        <a:rPr sz="1000"/>
                        <a:t>417</a:t>
                      </a:r>
                    </a:p>
                  </a:txBody>
                  <a:tcPr anchor="ctr">
                    <a:solidFill>
                      <a:srgbClr val="FFFFFF"/>
                    </a:solidFill>
                  </a:tcPr>
                </a:tc>
                <a:tc>
                  <a:txBody>
                    <a:bodyPr/>
                    <a:lstStyle/>
                    <a:p>
                      <a:pPr algn="ctr">
                        <a:defRPr sz="700">
                          <a:solidFill>
                            <a:srgbClr val="333333"/>
                          </a:solidFill>
                          <a:latin typeface="Segoe UI"/>
                        </a:defRPr>
                      </a:pPr>
                      <a:r>
                        <a:rPr sz="1000"/>
                        <a:t>46</a:t>
                      </a:r>
                    </a:p>
                  </a:txBody>
                  <a:tcPr anchor="ctr">
                    <a:solidFill>
                      <a:srgbClr val="FFFFFF"/>
                    </a:solidFill>
                  </a:tcPr>
                </a:tc>
                <a:extLst>
                  <a:ext uri="{0D108BD9-81ED-4DB2-BD59-A6C34878D82A}">
                    <a16:rowId xmlns:a16="http://schemas.microsoft.com/office/drawing/2014/main" val="10004"/>
                  </a:ext>
                </a:extLst>
              </a:tr>
              <a:tr h="242968">
                <a:tc>
                  <a:txBody>
                    <a:bodyPr/>
                    <a:lstStyle/>
                    <a:p>
                      <a:pPr algn="l">
                        <a:defRPr sz="700">
                          <a:solidFill>
                            <a:srgbClr val="333333"/>
                          </a:solidFill>
                          <a:latin typeface="Segoe UI"/>
                        </a:defRPr>
                      </a:pPr>
                      <a:r>
                        <a:rPr sz="1000"/>
                        <a:t>Transport &amp; Logistics</a:t>
                      </a:r>
                    </a:p>
                  </a:txBody>
                  <a:tcPr anchor="ctr">
                    <a:solidFill>
                      <a:srgbClr val="F2F2F2"/>
                    </a:solidFill>
                  </a:tcPr>
                </a:tc>
                <a:tc>
                  <a:txBody>
                    <a:bodyPr/>
                    <a:lstStyle/>
                    <a:p>
                      <a:pPr algn="ctr">
                        <a:defRPr sz="700">
                          <a:solidFill>
                            <a:srgbClr val="333333"/>
                          </a:solidFill>
                          <a:latin typeface="Segoe UI"/>
                        </a:defRPr>
                      </a:pPr>
                      <a:r>
                        <a:rPr sz="1000"/>
                        <a:t>10</a:t>
                      </a:r>
                    </a:p>
                  </a:txBody>
                  <a:tcPr anchor="ctr">
                    <a:solidFill>
                      <a:srgbClr val="F2F2F2"/>
                    </a:solidFill>
                  </a:tcPr>
                </a:tc>
                <a:tc>
                  <a:txBody>
                    <a:bodyPr/>
                    <a:lstStyle/>
                    <a:p>
                      <a:pPr algn="ctr">
                        <a:defRPr sz="700">
                          <a:solidFill>
                            <a:srgbClr val="333333"/>
                          </a:solidFill>
                          <a:latin typeface="Segoe UI"/>
                        </a:defRPr>
                      </a:pPr>
                      <a:r>
                        <a:rPr sz="1000"/>
                        <a:t>41</a:t>
                      </a:r>
                    </a:p>
                  </a:txBody>
                  <a:tcPr anchor="ctr">
                    <a:solidFill>
                      <a:srgbClr val="F2F2F2"/>
                    </a:solidFill>
                  </a:tcPr>
                </a:tc>
                <a:tc>
                  <a:txBody>
                    <a:bodyPr/>
                    <a:lstStyle/>
                    <a:p>
                      <a:pPr algn="ctr">
                        <a:defRPr sz="700">
                          <a:solidFill>
                            <a:srgbClr val="333333"/>
                          </a:solidFill>
                          <a:latin typeface="Segoe UI"/>
                        </a:defRPr>
                      </a:pPr>
                      <a:r>
                        <a:rPr sz="1000"/>
                        <a:t>10</a:t>
                      </a:r>
                    </a:p>
                  </a:txBody>
                  <a:tcPr anchor="ctr">
                    <a:solidFill>
                      <a:srgbClr val="F2F2F2"/>
                    </a:solidFill>
                  </a:tcPr>
                </a:tc>
                <a:extLst>
                  <a:ext uri="{0D108BD9-81ED-4DB2-BD59-A6C34878D82A}">
                    <a16:rowId xmlns:a16="http://schemas.microsoft.com/office/drawing/2014/main" val="10005"/>
                  </a:ext>
                </a:extLst>
              </a:tr>
              <a:tr h="390607">
                <a:tc>
                  <a:txBody>
                    <a:bodyPr/>
                    <a:lstStyle/>
                    <a:p>
                      <a:pPr algn="l">
                        <a:defRPr sz="700">
                          <a:solidFill>
                            <a:srgbClr val="333333"/>
                          </a:solidFill>
                          <a:latin typeface="Segoe UI"/>
                        </a:defRPr>
                      </a:pPr>
                      <a:r>
                        <a:rPr sz="1000"/>
                        <a:t>Construction &amp; Engineering</a:t>
                      </a:r>
                    </a:p>
                  </a:txBody>
                  <a:tcPr anchor="ctr">
                    <a:solidFill>
                      <a:srgbClr val="FFFFFF"/>
                    </a:solidFill>
                  </a:tcPr>
                </a:tc>
                <a:tc>
                  <a:txBody>
                    <a:bodyPr/>
                    <a:lstStyle/>
                    <a:p>
                      <a:pPr algn="ctr">
                        <a:defRPr sz="700">
                          <a:solidFill>
                            <a:srgbClr val="333333"/>
                          </a:solidFill>
                          <a:latin typeface="Segoe UI"/>
                        </a:defRPr>
                      </a:pPr>
                      <a:r>
                        <a:rPr sz="1000"/>
                        <a:t>2</a:t>
                      </a:r>
                    </a:p>
                  </a:txBody>
                  <a:tcPr anchor="ctr">
                    <a:solidFill>
                      <a:srgbClr val="FFFFFF"/>
                    </a:solidFill>
                  </a:tcPr>
                </a:tc>
                <a:tc>
                  <a:txBody>
                    <a:bodyPr/>
                    <a:lstStyle/>
                    <a:p>
                      <a:pPr algn="ctr">
                        <a:defRPr sz="700">
                          <a:solidFill>
                            <a:srgbClr val="333333"/>
                          </a:solidFill>
                          <a:latin typeface="Segoe UI"/>
                        </a:defRPr>
                      </a:pPr>
                      <a:r>
                        <a:rPr sz="1000"/>
                        <a:t>67</a:t>
                      </a:r>
                    </a:p>
                  </a:txBody>
                  <a:tcPr anchor="ctr">
                    <a:solidFill>
                      <a:srgbClr val="FFFFFF"/>
                    </a:solidFill>
                  </a:tcPr>
                </a:tc>
                <a:tc>
                  <a:txBody>
                    <a:bodyPr/>
                    <a:lstStyle/>
                    <a:p>
                      <a:pPr algn="ctr">
                        <a:defRPr sz="700">
                          <a:solidFill>
                            <a:srgbClr val="333333"/>
                          </a:solidFill>
                          <a:latin typeface="Segoe UI"/>
                        </a:defRPr>
                      </a:pPr>
                      <a:r>
                        <a:rPr sz="1000"/>
                        <a:t>2</a:t>
                      </a:r>
                    </a:p>
                  </a:txBody>
                  <a:tcPr anchor="ctr">
                    <a:solidFill>
                      <a:srgbClr val="FFFFFF"/>
                    </a:solidFill>
                  </a:tcPr>
                </a:tc>
                <a:extLst>
                  <a:ext uri="{0D108BD9-81ED-4DB2-BD59-A6C34878D82A}">
                    <a16:rowId xmlns:a16="http://schemas.microsoft.com/office/drawing/2014/main" val="10006"/>
                  </a:ext>
                </a:extLst>
              </a:tr>
              <a:tr h="242968">
                <a:tc>
                  <a:txBody>
                    <a:bodyPr/>
                    <a:lstStyle/>
                    <a:p>
                      <a:pPr algn="l">
                        <a:defRPr sz="700">
                          <a:solidFill>
                            <a:srgbClr val="333333"/>
                          </a:solidFill>
                          <a:latin typeface="Segoe UI"/>
                        </a:defRPr>
                      </a:pPr>
                      <a:r>
                        <a:rPr sz="1000"/>
                        <a:t>Retail &amp; Consumer</a:t>
                      </a:r>
                    </a:p>
                  </a:txBody>
                  <a:tcPr anchor="ctr">
                    <a:solidFill>
                      <a:srgbClr val="F2F2F2"/>
                    </a:solidFill>
                  </a:tcPr>
                </a:tc>
                <a:tc>
                  <a:txBody>
                    <a:bodyPr/>
                    <a:lstStyle/>
                    <a:p>
                      <a:pPr algn="ctr">
                        <a:defRPr sz="700">
                          <a:solidFill>
                            <a:srgbClr val="333333"/>
                          </a:solidFill>
                          <a:latin typeface="Segoe UI"/>
                        </a:defRPr>
                      </a:pPr>
                      <a:r>
                        <a:rPr sz="1000"/>
                        <a:t>7</a:t>
                      </a:r>
                    </a:p>
                  </a:txBody>
                  <a:tcPr anchor="ctr">
                    <a:solidFill>
                      <a:srgbClr val="F2F2F2"/>
                    </a:solidFill>
                  </a:tcPr>
                </a:tc>
                <a:tc>
                  <a:txBody>
                    <a:bodyPr/>
                    <a:lstStyle/>
                    <a:p>
                      <a:pPr algn="ctr">
                        <a:defRPr sz="700">
                          <a:solidFill>
                            <a:srgbClr val="333333"/>
                          </a:solidFill>
                          <a:latin typeface="Segoe UI"/>
                        </a:defRPr>
                      </a:pPr>
                      <a:r>
                        <a:rPr sz="1000"/>
                        <a:t>72</a:t>
                      </a:r>
                    </a:p>
                  </a:txBody>
                  <a:tcPr anchor="ctr">
                    <a:solidFill>
                      <a:srgbClr val="F2F2F2"/>
                    </a:solidFill>
                  </a:tcPr>
                </a:tc>
                <a:tc>
                  <a:txBody>
                    <a:bodyPr/>
                    <a:lstStyle/>
                    <a:p>
                      <a:pPr algn="ctr">
                        <a:defRPr sz="700">
                          <a:solidFill>
                            <a:srgbClr val="333333"/>
                          </a:solidFill>
                          <a:latin typeface="Segoe UI"/>
                        </a:defRPr>
                      </a:pPr>
                      <a:r>
                        <a:rPr sz="1000"/>
                        <a:t>5</a:t>
                      </a:r>
                    </a:p>
                  </a:txBody>
                  <a:tcPr anchor="ctr">
                    <a:solidFill>
                      <a:srgbClr val="F2F2F2"/>
                    </a:solidFill>
                  </a:tcPr>
                </a:tc>
                <a:extLst>
                  <a:ext uri="{0D108BD9-81ED-4DB2-BD59-A6C34878D82A}">
                    <a16:rowId xmlns:a16="http://schemas.microsoft.com/office/drawing/2014/main" val="10007"/>
                  </a:ext>
                </a:extLst>
              </a:tr>
              <a:tr h="242968">
                <a:tc>
                  <a:txBody>
                    <a:bodyPr/>
                    <a:lstStyle/>
                    <a:p>
                      <a:pPr algn="l">
                        <a:defRPr sz="700">
                          <a:solidFill>
                            <a:srgbClr val="333333"/>
                          </a:solidFill>
                          <a:latin typeface="Segoe UI"/>
                        </a:defRPr>
                      </a:pPr>
                      <a:r>
                        <a:rPr sz="1000"/>
                        <a:t>Government &amp; Education</a:t>
                      </a:r>
                    </a:p>
                  </a:txBody>
                  <a:tcPr anchor="ctr">
                    <a:solidFill>
                      <a:srgbClr val="FFFFFF"/>
                    </a:solidFill>
                  </a:tcPr>
                </a:tc>
                <a:tc>
                  <a:txBody>
                    <a:bodyPr/>
                    <a:lstStyle/>
                    <a:p>
                      <a:pPr algn="ctr">
                        <a:defRPr sz="700">
                          <a:solidFill>
                            <a:srgbClr val="333333"/>
                          </a:solidFill>
                          <a:latin typeface="Segoe UI"/>
                        </a:defRPr>
                      </a:pPr>
                      <a:r>
                        <a:rPr sz="1000"/>
                        <a:t>2</a:t>
                      </a:r>
                    </a:p>
                  </a:txBody>
                  <a:tcPr anchor="ctr">
                    <a:solidFill>
                      <a:srgbClr val="FFFFFF"/>
                    </a:solidFill>
                  </a:tcPr>
                </a:tc>
                <a:tc>
                  <a:txBody>
                    <a:bodyPr/>
                    <a:lstStyle/>
                    <a:p>
                      <a:pPr algn="ctr">
                        <a:defRPr sz="700">
                          <a:solidFill>
                            <a:srgbClr val="333333"/>
                          </a:solidFill>
                          <a:latin typeface="Segoe UI"/>
                        </a:defRPr>
                      </a:pPr>
                      <a:r>
                        <a:rPr sz="1000"/>
                        <a:t>8</a:t>
                      </a:r>
                    </a:p>
                  </a:txBody>
                  <a:tcPr anchor="ctr">
                    <a:solidFill>
                      <a:srgbClr val="FFFFFF"/>
                    </a:solidFill>
                  </a:tcPr>
                </a:tc>
                <a:tc>
                  <a:txBody>
                    <a:bodyPr/>
                    <a:lstStyle/>
                    <a:p>
                      <a:pPr algn="ctr">
                        <a:defRPr sz="700">
                          <a:solidFill>
                            <a:srgbClr val="333333"/>
                          </a:solidFill>
                          <a:latin typeface="Segoe UI"/>
                        </a:defRPr>
                      </a:pPr>
                      <a:r>
                        <a:rPr sz="1000"/>
                        <a:t>2</a:t>
                      </a:r>
                    </a:p>
                  </a:txBody>
                  <a:tcPr anchor="ctr">
                    <a:solidFill>
                      <a:srgbClr val="FFFFFF"/>
                    </a:solidFill>
                  </a:tcPr>
                </a:tc>
                <a:extLst>
                  <a:ext uri="{0D108BD9-81ED-4DB2-BD59-A6C34878D82A}">
                    <a16:rowId xmlns:a16="http://schemas.microsoft.com/office/drawing/2014/main" val="10008"/>
                  </a:ext>
                </a:extLst>
              </a:tr>
              <a:tr h="242968">
                <a:tc>
                  <a:txBody>
                    <a:bodyPr/>
                    <a:lstStyle/>
                    <a:p>
                      <a:pPr algn="l">
                        <a:defRPr sz="700">
                          <a:solidFill>
                            <a:srgbClr val="333333"/>
                          </a:solidFill>
                          <a:latin typeface="Segoe UI"/>
                        </a:defRPr>
                      </a:pPr>
                      <a:r>
                        <a:rPr sz="1000"/>
                        <a:t>Professional Services</a:t>
                      </a:r>
                    </a:p>
                  </a:txBody>
                  <a:tcPr anchor="ctr">
                    <a:solidFill>
                      <a:srgbClr val="F2F2F2"/>
                    </a:solidFill>
                  </a:tcPr>
                </a:tc>
                <a:tc>
                  <a:txBody>
                    <a:bodyPr/>
                    <a:lstStyle/>
                    <a:p>
                      <a:pPr algn="ctr">
                        <a:defRPr sz="700">
                          <a:solidFill>
                            <a:srgbClr val="333333"/>
                          </a:solidFill>
                          <a:latin typeface="Segoe UI"/>
                        </a:defRPr>
                      </a:pPr>
                      <a:r>
                        <a:rPr sz="1000"/>
                        <a:t>9</a:t>
                      </a:r>
                    </a:p>
                  </a:txBody>
                  <a:tcPr anchor="ctr">
                    <a:solidFill>
                      <a:srgbClr val="F2F2F2"/>
                    </a:solidFill>
                  </a:tcPr>
                </a:tc>
                <a:tc>
                  <a:txBody>
                    <a:bodyPr/>
                    <a:lstStyle/>
                    <a:p>
                      <a:pPr algn="ctr">
                        <a:defRPr sz="700">
                          <a:solidFill>
                            <a:srgbClr val="333333"/>
                          </a:solidFill>
                          <a:latin typeface="Segoe UI"/>
                        </a:defRPr>
                      </a:pPr>
                      <a:r>
                        <a:rPr sz="1000"/>
                        <a:t>73</a:t>
                      </a:r>
                    </a:p>
                  </a:txBody>
                  <a:tcPr anchor="ctr">
                    <a:solidFill>
                      <a:srgbClr val="F2F2F2"/>
                    </a:solidFill>
                  </a:tcPr>
                </a:tc>
                <a:tc>
                  <a:txBody>
                    <a:bodyPr/>
                    <a:lstStyle/>
                    <a:p>
                      <a:pPr algn="ctr">
                        <a:defRPr sz="700">
                          <a:solidFill>
                            <a:srgbClr val="333333"/>
                          </a:solidFill>
                          <a:latin typeface="Segoe UI"/>
                        </a:defRPr>
                      </a:pPr>
                      <a:r>
                        <a:rPr sz="1000"/>
                        <a:t>9</a:t>
                      </a:r>
                    </a:p>
                  </a:txBody>
                  <a:tcPr anchor="ctr">
                    <a:solidFill>
                      <a:srgbClr val="F2F2F2"/>
                    </a:solidFill>
                  </a:tcPr>
                </a:tc>
                <a:extLst>
                  <a:ext uri="{0D108BD9-81ED-4DB2-BD59-A6C34878D82A}">
                    <a16:rowId xmlns:a16="http://schemas.microsoft.com/office/drawing/2014/main" val="10009"/>
                  </a:ext>
                </a:extLst>
              </a:tr>
              <a:tr h="242968">
                <a:tc>
                  <a:txBody>
                    <a:bodyPr/>
                    <a:lstStyle/>
                    <a:p>
                      <a:pPr algn="l">
                        <a:defRPr sz="700">
                          <a:solidFill>
                            <a:srgbClr val="333333"/>
                          </a:solidFill>
                          <a:latin typeface="Segoe UI"/>
                        </a:defRPr>
                      </a:pPr>
                      <a:r>
                        <a:rPr sz="1000"/>
                        <a:t>Telecommunications</a:t>
                      </a:r>
                    </a:p>
                  </a:txBody>
                  <a:tcPr anchor="ctr">
                    <a:solidFill>
                      <a:srgbClr val="FFFFFF"/>
                    </a:solidFill>
                  </a:tcPr>
                </a:tc>
                <a:tc>
                  <a:txBody>
                    <a:bodyPr/>
                    <a:lstStyle/>
                    <a:p>
                      <a:pPr algn="ctr">
                        <a:defRPr sz="700">
                          <a:solidFill>
                            <a:srgbClr val="333333"/>
                          </a:solidFill>
                          <a:latin typeface="Segoe UI"/>
                        </a:defRPr>
                      </a:pPr>
                      <a:r>
                        <a:rPr sz="1000"/>
                        <a:t>5</a:t>
                      </a:r>
                    </a:p>
                  </a:txBody>
                  <a:tcPr anchor="ctr">
                    <a:solidFill>
                      <a:srgbClr val="FFFFFF"/>
                    </a:solidFill>
                  </a:tcPr>
                </a:tc>
                <a:tc>
                  <a:txBody>
                    <a:bodyPr/>
                    <a:lstStyle/>
                    <a:p>
                      <a:pPr algn="ctr">
                        <a:defRPr sz="700">
                          <a:solidFill>
                            <a:srgbClr val="333333"/>
                          </a:solidFill>
                          <a:latin typeface="Segoe UI"/>
                        </a:defRPr>
                      </a:pPr>
                      <a:r>
                        <a:rPr sz="1000"/>
                        <a:t>33</a:t>
                      </a:r>
                    </a:p>
                  </a:txBody>
                  <a:tcPr anchor="ctr">
                    <a:solidFill>
                      <a:srgbClr val="FFFFFF"/>
                    </a:solidFill>
                  </a:tcPr>
                </a:tc>
                <a:tc>
                  <a:txBody>
                    <a:bodyPr/>
                    <a:lstStyle/>
                    <a:p>
                      <a:pPr algn="ctr">
                        <a:defRPr sz="700">
                          <a:solidFill>
                            <a:srgbClr val="333333"/>
                          </a:solidFill>
                          <a:latin typeface="Segoe UI"/>
                        </a:defRPr>
                      </a:pPr>
                      <a:r>
                        <a:rPr sz="1000"/>
                        <a:t>5</a:t>
                      </a:r>
                    </a:p>
                  </a:txBody>
                  <a:tcPr anchor="ctr">
                    <a:solidFill>
                      <a:srgbClr val="FFFFFF"/>
                    </a:solidFill>
                  </a:tcPr>
                </a:tc>
                <a:extLst>
                  <a:ext uri="{0D108BD9-81ED-4DB2-BD59-A6C34878D82A}">
                    <a16:rowId xmlns:a16="http://schemas.microsoft.com/office/drawing/2014/main" val="10010"/>
                  </a:ext>
                </a:extLst>
              </a:tr>
              <a:tr h="242968">
                <a:tc>
                  <a:txBody>
                    <a:bodyPr/>
                    <a:lstStyle/>
                    <a:p>
                      <a:pPr algn="l">
                        <a:defRPr sz="700">
                          <a:solidFill>
                            <a:srgbClr val="333333"/>
                          </a:solidFill>
                          <a:latin typeface="Segoe UI"/>
                        </a:defRPr>
                      </a:pPr>
                      <a:r>
                        <a:rPr sz="1000"/>
                        <a:t>Energy &amp; Utilities</a:t>
                      </a:r>
                    </a:p>
                  </a:txBody>
                  <a:tcPr anchor="ctr">
                    <a:solidFill>
                      <a:srgbClr val="F2F2F2"/>
                    </a:solidFill>
                  </a:tcPr>
                </a:tc>
                <a:tc>
                  <a:txBody>
                    <a:bodyPr/>
                    <a:lstStyle/>
                    <a:p>
                      <a:pPr algn="ctr">
                        <a:defRPr sz="700">
                          <a:solidFill>
                            <a:srgbClr val="333333"/>
                          </a:solidFill>
                          <a:latin typeface="Segoe UI"/>
                        </a:defRPr>
                      </a:pPr>
                      <a:r>
                        <a:rPr sz="1000"/>
                        <a:t>11</a:t>
                      </a:r>
                    </a:p>
                  </a:txBody>
                  <a:tcPr anchor="ctr">
                    <a:solidFill>
                      <a:srgbClr val="F2F2F2"/>
                    </a:solidFill>
                  </a:tcPr>
                </a:tc>
                <a:tc>
                  <a:txBody>
                    <a:bodyPr/>
                    <a:lstStyle/>
                    <a:p>
                      <a:pPr algn="ctr">
                        <a:defRPr sz="700">
                          <a:solidFill>
                            <a:srgbClr val="333333"/>
                          </a:solidFill>
                          <a:latin typeface="Segoe UI"/>
                        </a:defRPr>
                      </a:pPr>
                      <a:r>
                        <a:rPr sz="1000"/>
                        <a:t>66</a:t>
                      </a:r>
                    </a:p>
                  </a:txBody>
                  <a:tcPr anchor="ctr">
                    <a:solidFill>
                      <a:srgbClr val="F2F2F2"/>
                    </a:solidFill>
                  </a:tcPr>
                </a:tc>
                <a:tc>
                  <a:txBody>
                    <a:bodyPr/>
                    <a:lstStyle/>
                    <a:p>
                      <a:pPr algn="ctr">
                        <a:defRPr sz="700">
                          <a:solidFill>
                            <a:srgbClr val="333333"/>
                          </a:solidFill>
                          <a:latin typeface="Segoe UI"/>
                        </a:defRPr>
                      </a:pPr>
                      <a:r>
                        <a:rPr sz="1000"/>
                        <a:t>11</a:t>
                      </a:r>
                    </a:p>
                  </a:txBody>
                  <a:tcPr anchor="ctr">
                    <a:solidFill>
                      <a:srgbClr val="F2F2F2"/>
                    </a:solidFill>
                  </a:tcPr>
                </a:tc>
                <a:extLst>
                  <a:ext uri="{0D108BD9-81ED-4DB2-BD59-A6C34878D82A}">
                    <a16:rowId xmlns:a16="http://schemas.microsoft.com/office/drawing/2014/main" val="10011"/>
                  </a:ext>
                </a:extLst>
              </a:tr>
              <a:tr h="242976">
                <a:tc>
                  <a:txBody>
                    <a:bodyPr/>
                    <a:lstStyle/>
                    <a:p>
                      <a:pPr algn="l">
                        <a:defRPr sz="700">
                          <a:solidFill>
                            <a:srgbClr val="333333"/>
                          </a:solidFill>
                          <a:latin typeface="Segoe UI"/>
                        </a:defRPr>
                      </a:pPr>
                      <a:r>
                        <a:rPr sz="1000"/>
                        <a:t>Insurance</a:t>
                      </a:r>
                    </a:p>
                  </a:txBody>
                  <a:tcPr anchor="ctr">
                    <a:solidFill>
                      <a:srgbClr val="FFFFFF"/>
                    </a:solidFill>
                  </a:tcPr>
                </a:tc>
                <a:tc>
                  <a:txBody>
                    <a:bodyPr/>
                    <a:lstStyle/>
                    <a:p>
                      <a:pPr algn="ctr">
                        <a:defRPr sz="700">
                          <a:solidFill>
                            <a:srgbClr val="333333"/>
                          </a:solidFill>
                          <a:latin typeface="Segoe UI"/>
                        </a:defRPr>
                      </a:pPr>
                      <a:r>
                        <a:rPr sz="1000"/>
                        <a:t>1</a:t>
                      </a:r>
                    </a:p>
                  </a:txBody>
                  <a:tcPr anchor="ctr">
                    <a:solidFill>
                      <a:srgbClr val="FFFFFF"/>
                    </a:solidFill>
                  </a:tcPr>
                </a:tc>
                <a:tc>
                  <a:txBody>
                    <a:bodyPr/>
                    <a:lstStyle/>
                    <a:p>
                      <a:pPr algn="ctr">
                        <a:defRPr sz="700">
                          <a:solidFill>
                            <a:srgbClr val="333333"/>
                          </a:solidFill>
                          <a:latin typeface="Segoe UI"/>
                        </a:defRPr>
                      </a:pPr>
                      <a:r>
                        <a:rPr sz="1000"/>
                        <a:t>7</a:t>
                      </a:r>
                    </a:p>
                  </a:txBody>
                  <a:tcPr anchor="ctr">
                    <a:solidFill>
                      <a:srgbClr val="FFFFFF"/>
                    </a:solidFill>
                  </a:tcPr>
                </a:tc>
                <a:tc>
                  <a:txBody>
                    <a:bodyPr/>
                    <a:lstStyle/>
                    <a:p>
                      <a:pPr algn="ctr">
                        <a:defRPr sz="700">
                          <a:solidFill>
                            <a:srgbClr val="333333"/>
                          </a:solidFill>
                          <a:latin typeface="Segoe UI"/>
                        </a:defRPr>
                      </a:pPr>
                      <a:r>
                        <a:rPr sz="1000"/>
                        <a:t>1</a:t>
                      </a:r>
                    </a:p>
                  </a:txBody>
                  <a:tcPr anchor="ctr">
                    <a:solidFill>
                      <a:srgbClr val="FFFFFF"/>
                    </a:solidFill>
                  </a:tcPr>
                </a:tc>
                <a:extLst>
                  <a:ext uri="{0D108BD9-81ED-4DB2-BD59-A6C34878D82A}">
                    <a16:rowId xmlns:a16="http://schemas.microsoft.com/office/drawing/2014/main" val="10012"/>
                  </a:ext>
                </a:extLst>
              </a:tr>
            </a:tbl>
          </a:graphicData>
        </a:graphic>
      </p:graphicFrame>
      <p:pic>
        <p:nvPicPr>
          <p:cNvPr id="35" name="Picture 34" descr="3p-chart-v2.png">
            <a:extLst>
              <a:ext uri="{FF2B5EF4-FFF2-40B4-BE49-F238E27FC236}">
                <a16:creationId xmlns:a16="http://schemas.microsoft.com/office/drawing/2014/main" id="{5B3A7474-5617-F52E-CB76-E368C5076D63}"/>
              </a:ext>
            </a:extLst>
          </p:cNvPr>
          <p:cNvPicPr>
            <a:picLocks noChangeAspect="1"/>
          </p:cNvPicPr>
          <p:nvPr/>
        </p:nvPicPr>
        <p:blipFill>
          <a:blip r:embed="rId2"/>
          <a:stretch>
            <a:fillRect/>
          </a:stretch>
        </p:blipFill>
        <p:spPr>
          <a:xfrm>
            <a:off x="153924" y="2810973"/>
            <a:ext cx="6766560" cy="3200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52D55"/>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828800" cy="365760"/>
          </a:xfrm>
          <a:prstGeom prst="rect">
            <a:avLst/>
          </a:prstGeom>
          <a:noFill/>
        </p:spPr>
        <p:txBody>
          <a:bodyPr wrap="square">
            <a:spAutoFit/>
          </a:bodyPr>
          <a:lstStyle/>
          <a:p>
            <a:pPr algn="l">
              <a:defRPr sz="1400" b="1">
                <a:solidFill>
                  <a:srgbClr val="00B7C3"/>
                </a:solidFill>
                <a:latin typeface="Segoe UI"/>
              </a:defRPr>
            </a:pPr>
            <a:r>
              <a:t>SECTION 0</a:t>
            </a:r>
            <a:r>
              <a:rPr lang="en-US"/>
              <a:t>4</a:t>
            </a:r>
            <a:endParaRPr/>
          </a:p>
        </p:txBody>
      </p:sp>
      <p:sp>
        <p:nvSpPr>
          <p:cNvPr id="3" name="TextBox 2"/>
          <p:cNvSpPr txBox="1"/>
          <p:nvPr/>
        </p:nvSpPr>
        <p:spPr>
          <a:xfrm>
            <a:off x="731520" y="1371600"/>
            <a:ext cx="9144000" cy="914400"/>
          </a:xfrm>
          <a:prstGeom prst="rect">
            <a:avLst/>
          </a:prstGeom>
          <a:noFill/>
        </p:spPr>
        <p:txBody>
          <a:bodyPr wrap="square">
            <a:spAutoFit/>
          </a:bodyPr>
          <a:lstStyle/>
          <a:p>
            <a:pPr algn="l">
              <a:defRPr sz="5200" b="1">
                <a:solidFill>
                  <a:srgbClr val="FFFFFF"/>
                </a:solidFill>
                <a:latin typeface="Segoe UI Semibold"/>
              </a:defRPr>
            </a:pPr>
            <a:r>
              <a:t>Live Demo</a:t>
            </a:r>
          </a:p>
        </p:txBody>
      </p:sp>
      <p:sp>
        <p:nvSpPr>
          <p:cNvPr id="4" name="TextBox 3"/>
          <p:cNvSpPr txBox="1"/>
          <p:nvPr/>
        </p:nvSpPr>
        <p:spPr>
          <a:xfrm>
            <a:off x="731520" y="2560320"/>
            <a:ext cx="8229600" cy="640080"/>
          </a:xfrm>
          <a:prstGeom prst="rect">
            <a:avLst/>
          </a:prstGeom>
          <a:noFill/>
        </p:spPr>
        <p:txBody>
          <a:bodyPr wrap="square">
            <a:spAutoFit/>
          </a:bodyPr>
          <a:lstStyle/>
          <a:p>
            <a:pPr algn="l">
              <a:defRPr sz="2200" b="0">
                <a:solidFill>
                  <a:srgbClr val="B0D0F0"/>
                </a:solidFill>
                <a:latin typeface="Segoe UI"/>
              </a:defRPr>
            </a:pPr>
            <a:r>
              <a:t>See SRE Agent in action — portal walkthrough</a:t>
            </a:r>
            <a:br/>
            <a:r>
              <a:t>across Interactive, Reactive, and Proactive modes.</a:t>
            </a:r>
          </a:p>
        </p:txBody>
      </p:sp>
      <p:sp>
        <p:nvSpPr>
          <p:cNvPr id="5" name="Rectangle 4"/>
          <p:cNvSpPr/>
          <p:nvPr/>
        </p:nvSpPr>
        <p:spPr>
          <a:xfrm>
            <a:off x="731520" y="1188720"/>
            <a:ext cx="274320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3657600"/>
            <a:ext cx="10698480" cy="182880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3749040"/>
            <a:ext cx="10058400" cy="1582484"/>
          </a:xfrm>
          <a:prstGeom prst="rect">
            <a:avLst/>
          </a:prstGeom>
          <a:noFill/>
        </p:spPr>
        <p:txBody>
          <a:bodyPr wrap="square">
            <a:spAutoFit/>
          </a:bodyPr>
          <a:lstStyle/>
          <a:p>
            <a:pPr>
              <a:defRPr sz="1600" b="1">
                <a:solidFill>
                  <a:srgbClr val="00B7C3"/>
                </a:solidFill>
                <a:latin typeface="Segoe UI"/>
              </a:defRPr>
            </a:pPr>
            <a:r>
              <a:t>Demo Flow</a:t>
            </a:r>
            <a:endParaRPr lang="en-US"/>
          </a:p>
          <a:p>
            <a:pPr algn="l">
              <a:spcBef>
                <a:spcPts val="300"/>
              </a:spcBef>
              <a:spcAft>
                <a:spcPts val="100"/>
              </a:spcAft>
              <a:defRPr sz="1300" b="0">
                <a:solidFill>
                  <a:srgbClr val="FFFFFF"/>
                </a:solidFill>
                <a:latin typeface="Segoe UI"/>
              </a:defRPr>
            </a:pPr>
            <a:r>
              <a:rPr lang="en-US"/>
              <a:t>  Tab 1: Agent creation &amp; configuration in Azure Portal</a:t>
            </a:r>
          </a:p>
          <a:p>
            <a:pPr algn="l">
              <a:spcBef>
                <a:spcPts val="300"/>
              </a:spcBef>
              <a:spcAft>
                <a:spcPts val="100"/>
              </a:spcAft>
              <a:defRPr sz="1300" b="0">
                <a:solidFill>
                  <a:srgbClr val="FFFFFF"/>
                </a:solidFill>
                <a:latin typeface="Segoe UI"/>
              </a:defRPr>
            </a:pPr>
            <a:r>
              <a:t>  Tab 2: Interactive chat — diagnose a real issue with natural language</a:t>
            </a:r>
          </a:p>
          <a:p>
            <a:pPr algn="l">
              <a:spcBef>
                <a:spcPts val="300"/>
              </a:spcBef>
              <a:spcAft>
                <a:spcPts val="100"/>
              </a:spcAft>
              <a:defRPr sz="1300" b="0">
                <a:solidFill>
                  <a:srgbClr val="FFFFFF"/>
                </a:solidFill>
                <a:latin typeface="Segoe UI"/>
              </a:defRPr>
            </a:pPr>
            <a:r>
              <a:t>  Tab 3: Alert-driven incident response — automated triage &amp; RCA</a:t>
            </a:r>
          </a:p>
          <a:p>
            <a:pPr algn="l">
              <a:spcBef>
                <a:spcPts val="300"/>
              </a:spcBef>
              <a:spcAft>
                <a:spcPts val="100"/>
              </a:spcAft>
              <a:defRPr sz="1300" b="0">
                <a:solidFill>
                  <a:srgbClr val="FFFFFF"/>
                </a:solidFill>
                <a:latin typeface="Segoe UI"/>
              </a:defRPr>
            </a:pPr>
            <a:r>
              <a:t>  Tab 4: Scheduled tasks — proactive monitoring &amp; health checks</a:t>
            </a:r>
          </a:p>
          <a:p>
            <a:pPr algn="l">
              <a:spcBef>
                <a:spcPts val="300"/>
              </a:spcBef>
              <a:spcAft>
                <a:spcPts val="100"/>
              </a:spcAft>
              <a:defRPr sz="1300" b="0">
                <a:solidFill>
                  <a:srgbClr val="FFFFFF"/>
                </a:solidFill>
                <a:latin typeface="Segoe UI"/>
              </a:defRPr>
            </a:pPr>
            <a:r>
              <a:t>  Tab 5: Connectors &amp; custom tools — extensibility for any platform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22A50"/>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600" b="1">
                <a:solidFill>
                  <a:srgbClr val="FFFFFF"/>
                </a:solidFill>
                <a:latin typeface="Segoe UI Semibold"/>
              </a:defRPr>
            </a:pPr>
            <a:r>
              <a:t>Key Takeaways</a:t>
            </a:r>
          </a:p>
        </p:txBody>
      </p:sp>
      <p:sp>
        <p:nvSpPr>
          <p:cNvPr id="3" name="Rectangle 2"/>
          <p:cNvSpPr/>
          <p:nvPr/>
        </p:nvSpPr>
        <p:spPr>
          <a:xfrm>
            <a:off x="731520" y="1097280"/>
            <a:ext cx="2286000" cy="3657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31520" y="1463040"/>
            <a:ext cx="10698480" cy="86868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508760"/>
            <a:ext cx="10058400" cy="365760"/>
          </a:xfrm>
          <a:prstGeom prst="rect">
            <a:avLst/>
          </a:prstGeom>
          <a:noFill/>
        </p:spPr>
        <p:txBody>
          <a:bodyPr wrap="square">
            <a:spAutoFit/>
          </a:bodyPr>
          <a:lstStyle/>
          <a:p>
            <a:pPr algn="l">
              <a:defRPr sz="1700" b="1">
                <a:solidFill>
                  <a:srgbClr val="FFFFFF"/>
                </a:solidFill>
                <a:latin typeface="Segoe UI"/>
              </a:defRPr>
            </a:pPr>
            <a:r>
              <a:t>AI agents can fundamentally transform operations speed</a:t>
            </a:r>
          </a:p>
        </p:txBody>
      </p:sp>
      <p:sp>
        <p:nvSpPr>
          <p:cNvPr id="6" name="TextBox 5"/>
          <p:cNvSpPr txBox="1"/>
          <p:nvPr/>
        </p:nvSpPr>
        <p:spPr>
          <a:xfrm>
            <a:off x="1097280" y="1874520"/>
            <a:ext cx="10058400" cy="365760"/>
          </a:xfrm>
          <a:prstGeom prst="rect">
            <a:avLst/>
          </a:prstGeom>
          <a:noFill/>
        </p:spPr>
        <p:txBody>
          <a:bodyPr wrap="square">
            <a:spAutoFit/>
          </a:bodyPr>
          <a:lstStyle/>
          <a:p>
            <a:pPr algn="l">
              <a:defRPr sz="1300" b="0">
                <a:solidFill>
                  <a:srgbClr val="B0D0F0"/>
                </a:solidFill>
                <a:latin typeface="Segoe UI"/>
              </a:defRPr>
            </a:pPr>
            <a:r>
              <a:t>Not incremental — 64x to 809x faster incident mitigation at Microsoft scale. This is a paradigm shift, not an optimization.</a:t>
            </a:r>
          </a:p>
        </p:txBody>
      </p:sp>
      <p:sp>
        <p:nvSpPr>
          <p:cNvPr id="7" name="Rounded Rectangle 6"/>
          <p:cNvSpPr/>
          <p:nvPr/>
        </p:nvSpPr>
        <p:spPr>
          <a:xfrm>
            <a:off x="731520" y="2468880"/>
            <a:ext cx="10698480" cy="86868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14600"/>
            <a:ext cx="10058400" cy="365760"/>
          </a:xfrm>
          <a:prstGeom prst="rect">
            <a:avLst/>
          </a:prstGeom>
          <a:noFill/>
        </p:spPr>
        <p:txBody>
          <a:bodyPr wrap="square">
            <a:spAutoFit/>
          </a:bodyPr>
          <a:lstStyle/>
          <a:p>
            <a:pPr algn="l">
              <a:defRPr sz="1700" b="1">
                <a:solidFill>
                  <a:srgbClr val="FFFFFF"/>
                </a:solidFill>
                <a:latin typeface="Segoe UI"/>
              </a:defRPr>
            </a:pPr>
            <a:r>
              <a:t>The value comes from deep integration, not generic chat</a:t>
            </a:r>
          </a:p>
        </p:txBody>
      </p:sp>
      <p:sp>
        <p:nvSpPr>
          <p:cNvPr id="9" name="TextBox 8"/>
          <p:cNvSpPr txBox="1"/>
          <p:nvPr/>
        </p:nvSpPr>
        <p:spPr>
          <a:xfrm>
            <a:off x="1097280" y="2880360"/>
            <a:ext cx="10058400" cy="365760"/>
          </a:xfrm>
          <a:prstGeom prst="rect">
            <a:avLst/>
          </a:prstGeom>
          <a:noFill/>
        </p:spPr>
        <p:txBody>
          <a:bodyPr wrap="square">
            <a:spAutoFit/>
          </a:bodyPr>
          <a:lstStyle/>
          <a:p>
            <a:pPr algn="l">
              <a:defRPr sz="1300" b="0">
                <a:solidFill>
                  <a:srgbClr val="B0D0F0"/>
                </a:solidFill>
                <a:latin typeface="Segoe UI"/>
              </a:defRPr>
            </a:pPr>
            <a:r>
              <a:t>Connecting the agent to your specific tools, logs, metrics, and runbooks is what separates 'cool demo' from 'production essential.'</a:t>
            </a:r>
          </a:p>
        </p:txBody>
      </p:sp>
      <p:sp>
        <p:nvSpPr>
          <p:cNvPr id="10" name="Rounded Rectangle 9"/>
          <p:cNvSpPr/>
          <p:nvPr/>
        </p:nvSpPr>
        <p:spPr>
          <a:xfrm>
            <a:off x="731520" y="3474720"/>
            <a:ext cx="10698480" cy="86868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3520440"/>
            <a:ext cx="10058400" cy="365760"/>
          </a:xfrm>
          <a:prstGeom prst="rect">
            <a:avLst/>
          </a:prstGeom>
          <a:noFill/>
        </p:spPr>
        <p:txBody>
          <a:bodyPr wrap="square">
            <a:spAutoFit/>
          </a:bodyPr>
          <a:lstStyle/>
          <a:p>
            <a:pPr algn="l">
              <a:defRPr sz="1700" b="1">
                <a:solidFill>
                  <a:srgbClr val="FFFFFF"/>
                </a:solidFill>
                <a:latin typeface="Segoe UI"/>
              </a:defRPr>
            </a:pPr>
            <a:r>
              <a:t>Safety and governance must be first-class, not afterthoughts</a:t>
            </a:r>
          </a:p>
        </p:txBody>
      </p:sp>
      <p:sp>
        <p:nvSpPr>
          <p:cNvPr id="12" name="TextBox 11"/>
          <p:cNvSpPr txBox="1"/>
          <p:nvPr/>
        </p:nvSpPr>
        <p:spPr>
          <a:xfrm>
            <a:off x="1097280" y="3886200"/>
            <a:ext cx="10058400" cy="365760"/>
          </a:xfrm>
          <a:prstGeom prst="rect">
            <a:avLst/>
          </a:prstGeom>
          <a:noFill/>
        </p:spPr>
        <p:txBody>
          <a:bodyPr wrap="square">
            <a:spAutoFit/>
          </a:bodyPr>
          <a:lstStyle/>
          <a:p>
            <a:pPr algn="l">
              <a:defRPr sz="1300" b="0">
                <a:solidFill>
                  <a:srgbClr val="B0D0F0"/>
                </a:solidFill>
                <a:latin typeface="Segoe UI"/>
              </a:defRPr>
            </a:pPr>
            <a:r>
              <a:t>Enterprise adoption of autonomous AI requires explicit trust boundaries: RBAC, approval gates, safety hooks, full auditability.</a:t>
            </a:r>
          </a:p>
        </p:txBody>
      </p:sp>
      <p:sp>
        <p:nvSpPr>
          <p:cNvPr id="13" name="Rounded Rectangle 12"/>
          <p:cNvSpPr/>
          <p:nvPr/>
        </p:nvSpPr>
        <p:spPr>
          <a:xfrm>
            <a:off x="731520" y="4480560"/>
            <a:ext cx="10698480" cy="86868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4526280"/>
            <a:ext cx="10058400" cy="365760"/>
          </a:xfrm>
          <a:prstGeom prst="rect">
            <a:avLst/>
          </a:prstGeom>
          <a:noFill/>
        </p:spPr>
        <p:txBody>
          <a:bodyPr wrap="square">
            <a:spAutoFit/>
          </a:bodyPr>
          <a:lstStyle/>
          <a:p>
            <a:pPr algn="l">
              <a:defRPr sz="1700" b="1">
                <a:solidFill>
                  <a:srgbClr val="FFFFFF"/>
                </a:solidFill>
                <a:latin typeface="Segoe UI"/>
              </a:defRPr>
            </a:pPr>
            <a:r>
              <a:t>Dogfooding reveals truth faster than any roadmap</a:t>
            </a:r>
          </a:p>
        </p:txBody>
      </p:sp>
      <p:sp>
        <p:nvSpPr>
          <p:cNvPr id="15" name="TextBox 14"/>
          <p:cNvSpPr txBox="1"/>
          <p:nvPr/>
        </p:nvSpPr>
        <p:spPr>
          <a:xfrm>
            <a:off x="1097280" y="4892040"/>
            <a:ext cx="10058400" cy="365760"/>
          </a:xfrm>
          <a:prstGeom prst="rect">
            <a:avLst/>
          </a:prstGeom>
          <a:noFill/>
        </p:spPr>
        <p:txBody>
          <a:bodyPr wrap="square">
            <a:spAutoFit/>
          </a:bodyPr>
          <a:lstStyle/>
          <a:p>
            <a:pPr algn="l">
              <a:defRPr sz="1300" b="0">
                <a:solidFill>
                  <a:srgbClr val="B0D0F0"/>
                </a:solidFill>
                <a:latin typeface="Segoe UI"/>
              </a:defRPr>
            </a:pPr>
            <a:r>
              <a:t>Making SRE Agent manage itself surfaced problems we'd never find otherwise — and built genuine confidence in the product.</a:t>
            </a:r>
          </a:p>
        </p:txBody>
      </p:sp>
      <p:sp>
        <p:nvSpPr>
          <p:cNvPr id="16" name="Rounded Rectangle 15"/>
          <p:cNvSpPr/>
          <p:nvPr/>
        </p:nvSpPr>
        <p:spPr>
          <a:xfrm>
            <a:off x="731520" y="5486400"/>
            <a:ext cx="10698480" cy="86868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5532120"/>
            <a:ext cx="10058400" cy="365760"/>
          </a:xfrm>
          <a:prstGeom prst="rect">
            <a:avLst/>
          </a:prstGeom>
          <a:noFill/>
        </p:spPr>
        <p:txBody>
          <a:bodyPr wrap="square">
            <a:spAutoFit/>
          </a:bodyPr>
          <a:lstStyle/>
          <a:p>
            <a:pPr algn="l">
              <a:defRPr sz="1700" b="1">
                <a:solidFill>
                  <a:srgbClr val="FFFFFF"/>
                </a:solidFill>
                <a:latin typeface="Segoe UI"/>
              </a:defRPr>
            </a:pPr>
            <a:r>
              <a:t>The future of operations is agentic — and it's here now</a:t>
            </a:r>
          </a:p>
        </p:txBody>
      </p:sp>
      <p:sp>
        <p:nvSpPr>
          <p:cNvPr id="18" name="TextBox 17"/>
          <p:cNvSpPr txBox="1"/>
          <p:nvPr/>
        </p:nvSpPr>
        <p:spPr>
          <a:xfrm>
            <a:off x="1097280" y="5897880"/>
            <a:ext cx="10058400" cy="292388"/>
          </a:xfrm>
          <a:prstGeom prst="rect">
            <a:avLst/>
          </a:prstGeom>
          <a:noFill/>
        </p:spPr>
        <p:txBody>
          <a:bodyPr wrap="square">
            <a:spAutoFit/>
          </a:bodyPr>
          <a:lstStyle/>
          <a:p>
            <a:pPr algn="l">
              <a:defRPr sz="1300" b="0">
                <a:solidFill>
                  <a:srgbClr val="B0D0F0"/>
                </a:solidFill>
                <a:latin typeface="Segoe UI"/>
              </a:defRPr>
            </a:pPr>
            <a:r>
              <a:t>1,</a:t>
            </a:r>
            <a:r>
              <a:rPr lang="en-US"/>
              <a:t>8</a:t>
            </a:r>
            <a:r>
              <a:t>00+ agents deployed at Microsoft, 35K+ incidents mitigated, generally available today on Azure.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152D55"/>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828800" cy="365760"/>
          </a:xfrm>
          <a:prstGeom prst="rect">
            <a:avLst/>
          </a:prstGeom>
          <a:noFill/>
        </p:spPr>
        <p:txBody>
          <a:bodyPr wrap="square">
            <a:spAutoFit/>
          </a:bodyPr>
          <a:lstStyle/>
          <a:p>
            <a:pPr algn="l">
              <a:defRPr sz="1400" b="1">
                <a:solidFill>
                  <a:srgbClr val="00B7C3"/>
                </a:solidFill>
                <a:latin typeface="Segoe UI"/>
              </a:defRPr>
            </a:pPr>
            <a:r>
              <a:rPr dirty="0"/>
              <a:t>SECTION 06</a:t>
            </a:r>
          </a:p>
        </p:txBody>
      </p:sp>
      <p:sp>
        <p:nvSpPr>
          <p:cNvPr id="3" name="TextBox 2"/>
          <p:cNvSpPr txBox="1"/>
          <p:nvPr/>
        </p:nvSpPr>
        <p:spPr>
          <a:xfrm>
            <a:off x="731520" y="2011680"/>
            <a:ext cx="9144000" cy="914400"/>
          </a:xfrm>
          <a:prstGeom prst="rect">
            <a:avLst/>
          </a:prstGeom>
          <a:noFill/>
        </p:spPr>
        <p:txBody>
          <a:bodyPr wrap="square">
            <a:spAutoFit/>
          </a:bodyPr>
          <a:lstStyle/>
          <a:p>
            <a:pPr algn="l">
              <a:defRPr sz="5600" b="1">
                <a:solidFill>
                  <a:srgbClr val="FFFFFF"/>
                </a:solidFill>
                <a:latin typeface="Segoe UI Semibold"/>
              </a:defRPr>
            </a:pPr>
            <a:r>
              <a:t>Questions?</a:t>
            </a:r>
          </a:p>
        </p:txBody>
      </p:sp>
      <p:sp>
        <p:nvSpPr>
          <p:cNvPr id="4" name="Rectangle 3"/>
          <p:cNvSpPr/>
          <p:nvPr/>
        </p:nvSpPr>
        <p:spPr>
          <a:xfrm>
            <a:off x="731520" y="1828800"/>
            <a:ext cx="274320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3474720"/>
            <a:ext cx="8229600" cy="640080"/>
          </a:xfrm>
          <a:prstGeom prst="rect">
            <a:avLst/>
          </a:prstGeom>
          <a:noFill/>
        </p:spPr>
        <p:txBody>
          <a:bodyPr wrap="square">
            <a:spAutoFit/>
          </a:bodyPr>
          <a:lstStyle/>
          <a:p>
            <a:pPr algn="l">
              <a:defRPr sz="2200" b="0">
                <a:solidFill>
                  <a:srgbClr val="B0D0F0"/>
                </a:solidFill>
                <a:latin typeface="Segoe UI"/>
              </a:defRPr>
            </a:pPr>
            <a:r>
              <a:rPr dirty="0"/>
              <a:t>We'd love to hear your questions about building AI agents,</a:t>
            </a:r>
            <a:br>
              <a:rPr dirty="0"/>
            </a:br>
            <a:r>
              <a:rPr dirty="0"/>
              <a:t>operational automation, or anything you saw today.</a:t>
            </a:r>
          </a:p>
        </p:txBody>
      </p:sp>
      <p:sp>
        <p:nvSpPr>
          <p:cNvPr id="6" name="Rounded Rectangle 5"/>
          <p:cNvSpPr/>
          <p:nvPr/>
        </p:nvSpPr>
        <p:spPr>
          <a:xfrm>
            <a:off x="731520" y="4572000"/>
            <a:ext cx="5029200" cy="146304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3810" y="4704513"/>
            <a:ext cx="4389120" cy="307777"/>
          </a:xfrm>
          <a:prstGeom prst="rect">
            <a:avLst/>
          </a:prstGeom>
          <a:noFill/>
        </p:spPr>
        <p:txBody>
          <a:bodyPr wrap="square">
            <a:spAutoFit/>
          </a:bodyPr>
          <a:lstStyle/>
          <a:p>
            <a:pPr algn="l">
              <a:defRPr sz="1800" b="1">
                <a:solidFill>
                  <a:srgbClr val="FFFFFF"/>
                </a:solidFill>
                <a:latin typeface="Segoe UI"/>
              </a:defRPr>
            </a:pPr>
            <a:r>
              <a:rPr lang="en-US" sz="1400" dirty="0"/>
              <a:t>&lt;Your-Name&gt;</a:t>
            </a:r>
            <a:endParaRPr sz="1400" dirty="0"/>
          </a:p>
        </p:txBody>
      </p:sp>
      <p:sp>
        <p:nvSpPr>
          <p:cNvPr id="8" name="TextBox 7"/>
          <p:cNvSpPr txBox="1"/>
          <p:nvPr/>
        </p:nvSpPr>
        <p:spPr>
          <a:xfrm>
            <a:off x="1013810" y="5038379"/>
            <a:ext cx="4389120" cy="492443"/>
          </a:xfrm>
          <a:prstGeom prst="rect">
            <a:avLst/>
          </a:prstGeom>
          <a:noFill/>
        </p:spPr>
        <p:txBody>
          <a:bodyPr wrap="square">
            <a:spAutoFit/>
          </a:bodyPr>
          <a:lstStyle/>
          <a:p>
            <a:pPr algn="l">
              <a:defRPr sz="1300" b="0">
                <a:solidFill>
                  <a:srgbClr val="B0D0F0"/>
                </a:solidFill>
                <a:latin typeface="Segoe UI"/>
              </a:defRPr>
            </a:pPr>
            <a:r>
              <a:rPr lang="en-US" dirty="0"/>
              <a:t>&lt;Your-Designation&gt;</a:t>
            </a:r>
            <a:r>
              <a:rPr dirty="0"/>
              <a:t>, </a:t>
            </a:r>
            <a:endParaRPr lang="en-US" dirty="0"/>
          </a:p>
          <a:p>
            <a:pPr algn="l">
              <a:defRPr sz="1300" b="0">
                <a:solidFill>
                  <a:srgbClr val="B0D0F0"/>
                </a:solidFill>
                <a:latin typeface="Segoe UI"/>
              </a:defRPr>
            </a:pPr>
            <a:r>
              <a:rPr dirty="0"/>
              <a:t>Azure SRE Agent</a:t>
            </a:r>
          </a:p>
        </p:txBody>
      </p:sp>
      <p:sp>
        <p:nvSpPr>
          <p:cNvPr id="9" name="TextBox 8"/>
          <p:cNvSpPr txBox="1"/>
          <p:nvPr/>
        </p:nvSpPr>
        <p:spPr>
          <a:xfrm>
            <a:off x="1013810" y="5556911"/>
            <a:ext cx="4389120" cy="274320"/>
          </a:xfrm>
          <a:prstGeom prst="rect">
            <a:avLst/>
          </a:prstGeom>
          <a:noFill/>
        </p:spPr>
        <p:txBody>
          <a:bodyPr wrap="square">
            <a:spAutoFit/>
          </a:bodyPr>
          <a:lstStyle/>
          <a:p>
            <a:pPr lvl="0">
              <a:defRPr sz="1200" b="0">
                <a:solidFill>
                  <a:srgbClr val="00B7C3"/>
                </a:solidFill>
                <a:latin typeface="Segoe UI"/>
              </a:defRPr>
            </a:pPr>
            <a:r>
              <a:rPr lang="en-US" sz="1200" dirty="0">
                <a:solidFill>
                  <a:srgbClr val="00B7C3"/>
                </a:solidFill>
                <a:latin typeface="Segoe UI"/>
                <a:hlinkClick r:id="rId3">
                  <a:extLst>
                    <a:ext uri="{A12FA001-AC4F-418D-AE19-62706E023703}">
                      <ahyp:hlinkClr xmlns:ahyp="http://schemas.microsoft.com/office/drawing/2018/hyperlinkcolor" val="tx"/>
                    </a:ext>
                  </a:extLst>
                </a:hlinkClick>
              </a:rPr>
              <a:t>linkedin.com/in/</a:t>
            </a:r>
            <a:r>
              <a:rPr lang="en-US" sz="1200" dirty="0">
                <a:solidFill>
                  <a:srgbClr val="00B7C3"/>
                </a:solidFill>
                <a:latin typeface="Segoe UI"/>
              </a:rPr>
              <a:t>&lt;your-id&gt;</a:t>
            </a:r>
          </a:p>
        </p:txBody>
      </p:sp>
      <p:pic>
        <p:nvPicPr>
          <p:cNvPr id="11" name="Picture 10">
            <a:extLst>
              <a:ext uri="{FF2B5EF4-FFF2-40B4-BE49-F238E27FC236}">
                <a16:creationId xmlns:a16="http://schemas.microsoft.com/office/drawing/2014/main" id="{1FAC8380-E691-E8E8-5E08-CCB54DF4C130}"/>
              </a:ext>
            </a:extLst>
          </p:cNvPr>
          <p:cNvPicPr>
            <a:picLocks noChangeAspect="1"/>
          </p:cNvPicPr>
          <p:nvPr/>
        </p:nvPicPr>
        <p:blipFill>
          <a:blip r:embed="rId4"/>
          <a:stretch>
            <a:fillRect/>
          </a:stretch>
        </p:blipFill>
        <p:spPr>
          <a:xfrm>
            <a:off x="4637924" y="4809895"/>
            <a:ext cx="931946" cy="931946"/>
          </a:xfrm>
          <a:prstGeom prst="rect">
            <a:avLst/>
          </a:prstGeom>
        </p:spPr>
      </p:pic>
      <p:grpSp>
        <p:nvGrpSpPr>
          <p:cNvPr id="13" name="Group 12">
            <a:extLst>
              <a:ext uri="{FF2B5EF4-FFF2-40B4-BE49-F238E27FC236}">
                <a16:creationId xmlns:a16="http://schemas.microsoft.com/office/drawing/2014/main" id="{40D3CECD-252C-680D-D16D-ED5E5E6A9E22}"/>
              </a:ext>
            </a:extLst>
          </p:cNvPr>
          <p:cNvGrpSpPr/>
          <p:nvPr/>
        </p:nvGrpSpPr>
        <p:grpSpPr>
          <a:xfrm>
            <a:off x="5965257" y="1309040"/>
            <a:ext cx="6218876" cy="1463040"/>
            <a:chOff x="5965257" y="1309040"/>
            <a:chExt cx="6218876" cy="1463040"/>
          </a:xfrm>
        </p:grpSpPr>
        <p:sp>
          <p:nvSpPr>
            <p:cNvPr id="14" name="Rounded Rectangle 5">
              <a:extLst>
                <a:ext uri="{FF2B5EF4-FFF2-40B4-BE49-F238E27FC236}">
                  <a16:creationId xmlns:a16="http://schemas.microsoft.com/office/drawing/2014/main" id="{8FE43309-B89E-770F-8412-9C0D7E595B6B}"/>
                </a:ext>
              </a:extLst>
            </p:cNvPr>
            <p:cNvSpPr/>
            <p:nvPr/>
          </p:nvSpPr>
          <p:spPr>
            <a:xfrm>
              <a:off x="5965257" y="1309040"/>
              <a:ext cx="5029200" cy="1463040"/>
            </a:xfrm>
            <a:prstGeom prst="roundRect">
              <a:avLst/>
            </a:prstGeom>
            <a:solidFill>
              <a:srgbClr val="122A50"/>
            </a:solidFill>
            <a:ln w="12700">
              <a:solidFill>
                <a:srgbClr val="00B7C3"/>
              </a:solidFill>
            </a:ln>
            <a:effectLst>
              <a:glow rad="101600">
                <a:schemeClr val="accent5">
                  <a:satMod val="175000"/>
                  <a:alpha val="40000"/>
                </a:schemeClr>
              </a:glow>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
              <a:extLst>
                <a:ext uri="{FF2B5EF4-FFF2-40B4-BE49-F238E27FC236}">
                  <a16:creationId xmlns:a16="http://schemas.microsoft.com/office/drawing/2014/main" id="{C4B6F00F-2940-E3E8-F5B2-76431A0F27FF}"/>
                </a:ext>
              </a:extLst>
            </p:cNvPr>
            <p:cNvPicPr>
              <a:picLocks noChangeAspect="1"/>
            </p:cNvPicPr>
            <p:nvPr/>
          </p:nvPicPr>
          <p:blipFill>
            <a:blip r:embed="rId5"/>
            <a:stretch>
              <a:fillRect/>
            </a:stretch>
          </p:blipFill>
          <p:spPr>
            <a:xfrm>
              <a:off x="9890537" y="1541443"/>
              <a:ext cx="914400" cy="914400"/>
            </a:xfrm>
            <a:prstGeom prst="rect">
              <a:avLst/>
            </a:prstGeom>
          </p:spPr>
        </p:pic>
        <p:sp>
          <p:nvSpPr>
            <p:cNvPr id="18" name="TextBox 17">
              <a:extLst>
                <a:ext uri="{FF2B5EF4-FFF2-40B4-BE49-F238E27FC236}">
                  <a16:creationId xmlns:a16="http://schemas.microsoft.com/office/drawing/2014/main" id="{97B2776F-865D-374D-B471-BC406BD1DCE8}"/>
                </a:ext>
              </a:extLst>
            </p:cNvPr>
            <p:cNvSpPr txBox="1"/>
            <p:nvPr/>
          </p:nvSpPr>
          <p:spPr>
            <a:xfrm>
              <a:off x="6087131" y="1428132"/>
              <a:ext cx="4493840" cy="1107996"/>
            </a:xfrm>
            <a:prstGeom prst="rect">
              <a:avLst/>
            </a:prstGeom>
            <a:noFill/>
          </p:spPr>
          <p:txBody>
            <a:bodyPr wrap="square">
              <a:spAutoFit/>
            </a:bodyPr>
            <a:lstStyle/>
            <a:p>
              <a:pPr>
                <a:buNone/>
              </a:pPr>
              <a:r>
                <a:rPr lang="en-US" sz="1400" b="1" dirty="0">
                  <a:solidFill>
                    <a:srgbClr val="FFFFFF"/>
                  </a:solidFill>
                  <a:latin typeface="Segoe UI"/>
                </a:rPr>
                <a:t>Your one stop shop for Azure SRE Agent</a:t>
              </a:r>
            </a:p>
            <a:p>
              <a:pPr>
                <a:buNone/>
              </a:pPr>
              <a:endParaRPr lang="en-US" sz="1300" dirty="0">
                <a:solidFill>
                  <a:srgbClr val="B0D0F0"/>
                </a:solidFill>
                <a:latin typeface="Segoe UI"/>
              </a:endParaRPr>
            </a:p>
            <a:p>
              <a:pPr>
                <a:buNone/>
              </a:pPr>
              <a:r>
                <a:rPr lang="en-US" sz="1300" dirty="0">
                  <a:solidFill>
                    <a:srgbClr val="B0D0F0"/>
                  </a:solidFill>
                  <a:latin typeface="Segoe UI"/>
                </a:rPr>
                <a:t>Discover resources, report issues and </a:t>
              </a:r>
            </a:p>
            <a:p>
              <a:pPr>
                <a:buNone/>
              </a:pPr>
              <a:r>
                <a:rPr lang="en-US" sz="1300" dirty="0">
                  <a:solidFill>
                    <a:srgbClr val="B0D0F0"/>
                  </a:solidFill>
                  <a:latin typeface="Segoe UI"/>
                </a:rPr>
                <a:t>interact with the community </a:t>
              </a:r>
            </a:p>
            <a:p>
              <a:pPr>
                <a:buNone/>
              </a:pPr>
              <a:endParaRPr lang="en-US" sz="1300" dirty="0">
                <a:solidFill>
                  <a:srgbClr val="B0D0F0"/>
                </a:solidFill>
                <a:latin typeface="Segoe UI"/>
              </a:endParaRPr>
            </a:p>
          </p:txBody>
        </p:sp>
        <p:sp>
          <p:nvSpPr>
            <p:cNvPr id="20" name="TextBox 19">
              <a:extLst>
                <a:ext uri="{FF2B5EF4-FFF2-40B4-BE49-F238E27FC236}">
                  <a16:creationId xmlns:a16="http://schemas.microsoft.com/office/drawing/2014/main" id="{CCEB6C45-7928-A381-35A6-D6487E33CD61}"/>
                </a:ext>
              </a:extLst>
            </p:cNvPr>
            <p:cNvSpPr txBox="1"/>
            <p:nvPr/>
          </p:nvSpPr>
          <p:spPr>
            <a:xfrm>
              <a:off x="6087131" y="2362720"/>
              <a:ext cx="6097002" cy="276999"/>
            </a:xfrm>
            <a:prstGeom prst="rect">
              <a:avLst/>
            </a:prstGeom>
            <a:noFill/>
          </p:spPr>
          <p:txBody>
            <a:bodyPr wrap="square">
              <a:spAutoFit/>
            </a:bodyPr>
            <a:lstStyle/>
            <a:p>
              <a:pPr>
                <a:buNone/>
              </a:pPr>
              <a:r>
                <a:rPr lang="en-US" sz="1200">
                  <a:solidFill>
                    <a:srgbClr val="00B7C3"/>
                  </a:solidFill>
                  <a:latin typeface="Segoe UI"/>
                  <a:hlinkClick r:id="rId6" tooltip="https://aka.ms/sreagent/links">
                    <a:extLst>
                      <a:ext uri="{A12FA001-AC4F-418D-AE19-62706E023703}">
                        <ahyp:hlinkClr xmlns:ahyp="http://schemas.microsoft.com/office/drawing/2018/hyperlinkcolor" val="tx"/>
                      </a:ext>
                    </a:extLst>
                  </a:hlinkClick>
                </a:rPr>
                <a:t>https://aka.ms/sreagent/links</a:t>
              </a:r>
              <a:endParaRPr lang="en-US" sz="1200">
                <a:solidFill>
                  <a:srgbClr val="00B7C3"/>
                </a:solidFill>
                <a:latin typeface="Segoe UI"/>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B1D3A"/>
            </a:gs>
            <a:gs pos="100000">
              <a:srgbClr val="0A152E"/>
            </a:gs>
          </a:gsLst>
          <a:lin scaled="0"/>
        </a:gradFill>
        <a:effectLst/>
      </p:bgPr>
    </p:bg>
    <p:spTree>
      <p:nvGrpSpPr>
        <p:cNvPr id="1" name=""/>
        <p:cNvGrpSpPr/>
        <p:nvPr/>
      </p:nvGrpSpPr>
      <p:grpSpPr>
        <a:xfrm>
          <a:off x="0" y="0"/>
          <a:ext cx="0" cy="0"/>
          <a:chOff x="0" y="0"/>
          <a:chExt cx="0" cy="0"/>
        </a:xfrm>
      </p:grpSpPr>
      <p:sp>
        <p:nvSpPr>
          <p:cNvPr id="2" name="Rectangle 1"/>
          <p:cNvSpPr/>
          <p:nvPr/>
        </p:nvSpPr>
        <p:spPr>
          <a:xfrm>
            <a:off x="0" y="0"/>
            <a:ext cx="12191695"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0" y="91440"/>
            <a:ext cx="4572000" cy="457200"/>
          </a:xfrm>
          <a:prstGeom prst="rect">
            <a:avLst/>
          </a:prstGeom>
          <a:noFill/>
        </p:spPr>
        <p:txBody>
          <a:bodyPr wrap="square">
            <a:spAutoFit/>
          </a:bodyPr>
          <a:lstStyle/>
          <a:p>
            <a:pPr algn="r">
              <a:defRPr sz="1600" b="1">
                <a:solidFill>
                  <a:srgbClr val="FFFFFF"/>
                </a:solidFill>
                <a:latin typeface="Segoe UI"/>
              </a:defRPr>
            </a:pPr>
            <a:r>
              <a:t>Microsoft  |  Azure SRE Agent</a:t>
            </a:r>
          </a:p>
        </p:txBody>
      </p:sp>
      <p:sp>
        <p:nvSpPr>
          <p:cNvPr id="5" name="TextBox 4"/>
          <p:cNvSpPr txBox="1"/>
          <p:nvPr/>
        </p:nvSpPr>
        <p:spPr>
          <a:xfrm>
            <a:off x="731520" y="1828800"/>
            <a:ext cx="10698480" cy="914400"/>
          </a:xfrm>
          <a:prstGeom prst="rect">
            <a:avLst/>
          </a:prstGeom>
          <a:noFill/>
        </p:spPr>
        <p:txBody>
          <a:bodyPr wrap="square">
            <a:spAutoFit/>
          </a:bodyPr>
          <a:lstStyle/>
          <a:p>
            <a:pPr algn="ctr">
              <a:defRPr sz="5600" b="1">
                <a:solidFill>
                  <a:srgbClr val="FFFFFF"/>
                </a:solidFill>
                <a:latin typeface="Segoe UI Semibold"/>
              </a:defRPr>
            </a:pPr>
            <a:r>
              <a:t>Thank You</a:t>
            </a:r>
          </a:p>
        </p:txBody>
      </p:sp>
      <p:sp>
        <p:nvSpPr>
          <p:cNvPr id="6" name="TextBox 5"/>
          <p:cNvSpPr txBox="1"/>
          <p:nvPr/>
        </p:nvSpPr>
        <p:spPr>
          <a:xfrm>
            <a:off x="731520" y="3017520"/>
            <a:ext cx="10698480" cy="769441"/>
          </a:xfrm>
          <a:prstGeom prst="rect">
            <a:avLst/>
          </a:prstGeom>
          <a:noFill/>
        </p:spPr>
        <p:txBody>
          <a:bodyPr wrap="square">
            <a:spAutoFit/>
          </a:bodyPr>
          <a:lstStyle/>
          <a:p>
            <a:pPr algn="ctr">
              <a:defRPr sz="2200" b="1">
                <a:solidFill>
                  <a:srgbClr val="00B7C3"/>
                </a:solidFill>
                <a:latin typeface="Segoe UI"/>
              </a:defRPr>
            </a:pPr>
            <a:r>
              <a:rPr lang="en-US" sz="2200" b="1">
                <a:solidFill>
                  <a:srgbClr val="00B7C3"/>
                </a:solidFill>
                <a:latin typeface="Segoe UI"/>
              </a:rPr>
              <a:t>End to end agentic operations platform, reducing toil for any platform at scale</a:t>
            </a:r>
          </a:p>
          <a:p>
            <a:pPr algn="ctr">
              <a:defRPr sz="2200" b="1">
                <a:solidFill>
                  <a:srgbClr val="00B7C3"/>
                </a:solidFill>
                <a:latin typeface="Segoe UI"/>
              </a:defRPr>
            </a:pPr>
            <a:endParaRPr/>
          </a:p>
        </p:txBody>
      </p:sp>
      <p:sp>
        <p:nvSpPr>
          <p:cNvPr id="7" name="Rounded Rectangle 6"/>
          <p:cNvSpPr/>
          <p:nvPr/>
        </p:nvSpPr>
        <p:spPr>
          <a:xfrm>
            <a:off x="3200400" y="3931920"/>
            <a:ext cx="5760720" cy="1463040"/>
          </a:xfrm>
          <a:prstGeom prst="roundRect">
            <a:avLst/>
          </a:prstGeom>
          <a:solidFill>
            <a:srgbClr val="122A50"/>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7068" y="4140220"/>
            <a:ext cx="5212080" cy="1046440"/>
          </a:xfrm>
          <a:prstGeom prst="rect">
            <a:avLst/>
          </a:prstGeom>
          <a:noFill/>
        </p:spPr>
        <p:txBody>
          <a:bodyPr wrap="square">
            <a:spAutoFit/>
          </a:bodyPr>
          <a:lstStyle/>
          <a:p>
            <a:pPr algn="ctr">
              <a:defRPr sz="2000" b="1">
                <a:solidFill>
                  <a:srgbClr val="FFFFFF"/>
                </a:solidFill>
                <a:latin typeface="Segoe UI"/>
              </a:defRPr>
            </a:pPr>
            <a:r>
              <a:t>Try Azure SRE Agent</a:t>
            </a:r>
          </a:p>
          <a:p>
            <a:pPr algn="ctr">
              <a:spcBef>
                <a:spcPts val="600"/>
              </a:spcBef>
              <a:spcAft>
                <a:spcPts val="400"/>
              </a:spcAft>
              <a:defRPr sz="1800" b="1">
                <a:solidFill>
                  <a:srgbClr val="00B7C3"/>
                </a:solidFill>
                <a:latin typeface="Segoe UI"/>
              </a:defRPr>
            </a:pPr>
            <a:r>
              <a:rPr lang="en-US">
                <a:solidFill>
                  <a:srgbClr val="00B7C3"/>
                </a:solidFill>
                <a:hlinkClick r:id="rId3">
                  <a:extLst>
                    <a:ext uri="{A12FA001-AC4F-418D-AE19-62706E023703}">
                      <ahyp:hlinkClr xmlns:ahyp="http://schemas.microsoft.com/office/drawing/2018/hyperlinkcolor" val="tx"/>
                    </a:ext>
                  </a:extLst>
                </a:hlinkClick>
              </a:rPr>
              <a:t>https://</a:t>
            </a:r>
            <a:r>
              <a:rPr>
                <a:solidFill>
                  <a:srgbClr val="00B7C3"/>
                </a:solidFill>
                <a:hlinkClick r:id="rId3">
                  <a:extLst>
                    <a:ext uri="{A12FA001-AC4F-418D-AE19-62706E023703}">
                      <ahyp:hlinkClr xmlns:ahyp="http://schemas.microsoft.com/office/drawing/2018/hyperlinkcolor" val="tx"/>
                    </a:ext>
                  </a:extLst>
                </a:hlinkClick>
              </a:rPr>
              <a:t>aka.ms</a:t>
            </a:r>
            <a:r>
              <a:rPr lang="en-US">
                <a:solidFill>
                  <a:srgbClr val="00B7C3"/>
                </a:solidFill>
                <a:hlinkClick r:id="rId3">
                  <a:extLst>
                    <a:ext uri="{A12FA001-AC4F-418D-AE19-62706E023703}">
                      <ahyp:hlinkClr xmlns:ahyp="http://schemas.microsoft.com/office/drawing/2018/hyperlinkcolor" val="tx"/>
                    </a:ext>
                  </a:extLst>
                </a:hlinkClick>
              </a:rPr>
              <a:t>/</a:t>
            </a:r>
            <a:r>
              <a:rPr>
                <a:solidFill>
                  <a:srgbClr val="00B7C3"/>
                </a:solidFill>
                <a:hlinkClick r:id="rId3">
                  <a:extLst>
                    <a:ext uri="{A12FA001-AC4F-418D-AE19-62706E023703}">
                      <ahyp:hlinkClr xmlns:ahyp="http://schemas.microsoft.com/office/drawing/2018/hyperlinkcolor" val="tx"/>
                    </a:ext>
                  </a:extLst>
                </a:hlinkClick>
              </a:rPr>
              <a:t>sreagent</a:t>
            </a:r>
            <a:r>
              <a:rPr lang="en-US"/>
              <a:t> </a:t>
            </a:r>
            <a:endParaRPr/>
          </a:p>
          <a:p>
            <a:pPr algn="ctr">
              <a:spcBef>
                <a:spcPts val="200"/>
              </a:spcBef>
              <a:spcAft>
                <a:spcPts val="200"/>
              </a:spcAft>
              <a:defRPr sz="1400" b="0">
                <a:solidFill>
                  <a:srgbClr val="B0D0F0"/>
                </a:solidFill>
                <a:latin typeface="Segoe UI"/>
              </a:defRPr>
            </a:pPr>
            <a:r>
              <a:t>Generally Available on Azure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000" b="1">
                <a:solidFill>
                  <a:srgbClr val="0B1D3A"/>
                </a:solidFill>
                <a:latin typeface="Segoe UI Semibold"/>
              </a:defRPr>
            </a:pPr>
            <a:r>
              <a:t>Time to Mitigate — Before vs After SRE Agent</a:t>
            </a:r>
          </a:p>
        </p:txBody>
      </p:sp>
      <p:sp>
        <p:nvSpPr>
          <p:cNvPr id="3" name="Rectangle 2"/>
          <p:cNvSpPr/>
          <p:nvPr/>
        </p:nvSpPr>
        <p:spPr>
          <a:xfrm>
            <a:off x="731520" y="105156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Chart 3"/>
          <p:cNvGraphicFramePr>
            <a:graphicFrameLocks noGrp="1"/>
          </p:cNvGraphicFramePr>
          <p:nvPr/>
        </p:nvGraphicFramePr>
        <p:xfrm>
          <a:off x="731520" y="1371600"/>
          <a:ext cx="685800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046720" y="1371600"/>
            <a:ext cx="3657600" cy="86868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0" y="1417320"/>
            <a:ext cx="3291840" cy="274320"/>
          </a:xfrm>
          <a:prstGeom prst="rect">
            <a:avLst/>
          </a:prstGeom>
          <a:noFill/>
        </p:spPr>
        <p:txBody>
          <a:bodyPr wrap="square">
            <a:spAutoFit/>
          </a:bodyPr>
          <a:lstStyle/>
          <a:p>
            <a:pPr algn="l">
              <a:defRPr sz="1100" b="0">
                <a:solidFill>
                  <a:srgbClr val="9E9E9E"/>
                </a:solidFill>
                <a:latin typeface="Segoe UI"/>
              </a:defRPr>
            </a:pPr>
            <a:r>
              <a:t>Container Apps LSI</a:t>
            </a:r>
          </a:p>
        </p:txBody>
      </p:sp>
      <p:sp>
        <p:nvSpPr>
          <p:cNvPr id="7" name="TextBox 6"/>
          <p:cNvSpPr txBox="1"/>
          <p:nvPr/>
        </p:nvSpPr>
        <p:spPr>
          <a:xfrm>
            <a:off x="8229600" y="1645920"/>
            <a:ext cx="1645920" cy="365760"/>
          </a:xfrm>
          <a:prstGeom prst="rect">
            <a:avLst/>
          </a:prstGeom>
          <a:noFill/>
        </p:spPr>
        <p:txBody>
          <a:bodyPr wrap="square">
            <a:spAutoFit/>
          </a:bodyPr>
          <a:lstStyle/>
          <a:p>
            <a:pPr algn="l">
              <a:defRPr sz="2200" b="1">
                <a:solidFill>
                  <a:srgbClr val="107C10"/>
                </a:solidFill>
                <a:latin typeface="Segoe UI"/>
              </a:defRPr>
            </a:pPr>
            <a:r>
              <a:t>64x faster</a:t>
            </a:r>
          </a:p>
        </p:txBody>
      </p:sp>
      <p:sp>
        <p:nvSpPr>
          <p:cNvPr id="8" name="TextBox 7"/>
          <p:cNvSpPr txBox="1"/>
          <p:nvPr/>
        </p:nvSpPr>
        <p:spPr>
          <a:xfrm>
            <a:off x="9875520" y="1737360"/>
            <a:ext cx="1645920" cy="274320"/>
          </a:xfrm>
          <a:prstGeom prst="rect">
            <a:avLst/>
          </a:prstGeom>
          <a:noFill/>
        </p:spPr>
        <p:txBody>
          <a:bodyPr wrap="square">
            <a:spAutoFit/>
          </a:bodyPr>
          <a:lstStyle/>
          <a:p>
            <a:pPr algn="l">
              <a:defRPr sz="1000" b="0">
                <a:solidFill>
                  <a:srgbClr val="1A1A2E"/>
                </a:solidFill>
                <a:latin typeface="Segoe UI"/>
              </a:defRPr>
            </a:pPr>
            <a:r>
              <a:t>10 min vs 10.7 hours</a:t>
            </a:r>
          </a:p>
        </p:txBody>
      </p:sp>
      <p:sp>
        <p:nvSpPr>
          <p:cNvPr id="9" name="Rounded Rectangle 8"/>
          <p:cNvSpPr/>
          <p:nvPr/>
        </p:nvSpPr>
        <p:spPr>
          <a:xfrm>
            <a:off x="8046720" y="2377440"/>
            <a:ext cx="3657600" cy="86868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0" y="2423160"/>
            <a:ext cx="3291840" cy="274320"/>
          </a:xfrm>
          <a:prstGeom prst="rect">
            <a:avLst/>
          </a:prstGeom>
          <a:noFill/>
        </p:spPr>
        <p:txBody>
          <a:bodyPr wrap="square">
            <a:spAutoFit/>
          </a:bodyPr>
          <a:lstStyle/>
          <a:p>
            <a:pPr algn="l">
              <a:defRPr sz="1100" b="0">
                <a:solidFill>
                  <a:srgbClr val="9E9E9E"/>
                </a:solidFill>
                <a:latin typeface="Segoe UI"/>
              </a:defRPr>
            </a:pPr>
            <a:r>
              <a:t>Container Apps CRI</a:t>
            </a:r>
          </a:p>
        </p:txBody>
      </p:sp>
      <p:sp>
        <p:nvSpPr>
          <p:cNvPr id="11" name="TextBox 10"/>
          <p:cNvSpPr txBox="1"/>
          <p:nvPr/>
        </p:nvSpPr>
        <p:spPr>
          <a:xfrm>
            <a:off x="8229599" y="2651760"/>
            <a:ext cx="1775791" cy="430887"/>
          </a:xfrm>
          <a:prstGeom prst="rect">
            <a:avLst/>
          </a:prstGeom>
          <a:noFill/>
        </p:spPr>
        <p:txBody>
          <a:bodyPr wrap="square">
            <a:spAutoFit/>
          </a:bodyPr>
          <a:lstStyle/>
          <a:p>
            <a:pPr algn="l">
              <a:defRPr sz="2200" b="1">
                <a:solidFill>
                  <a:srgbClr val="107C10"/>
                </a:solidFill>
                <a:latin typeface="Segoe UI"/>
              </a:defRPr>
            </a:pPr>
            <a:r>
              <a:t>27.7x faster</a:t>
            </a:r>
          </a:p>
        </p:txBody>
      </p:sp>
      <p:sp>
        <p:nvSpPr>
          <p:cNvPr id="12" name="TextBox 11"/>
          <p:cNvSpPr txBox="1"/>
          <p:nvPr/>
        </p:nvSpPr>
        <p:spPr>
          <a:xfrm>
            <a:off x="9875520" y="2743200"/>
            <a:ext cx="1645920" cy="274320"/>
          </a:xfrm>
          <a:prstGeom prst="rect">
            <a:avLst/>
          </a:prstGeom>
          <a:noFill/>
        </p:spPr>
        <p:txBody>
          <a:bodyPr wrap="square">
            <a:spAutoFit/>
          </a:bodyPr>
          <a:lstStyle/>
          <a:p>
            <a:pPr algn="l">
              <a:defRPr sz="1000" b="0">
                <a:solidFill>
                  <a:srgbClr val="1A1A2E"/>
                </a:solidFill>
                <a:latin typeface="Segoe UI"/>
              </a:defRPr>
            </a:pPr>
            <a:r>
              <a:t>58 min vs 26.8 hours</a:t>
            </a:r>
          </a:p>
        </p:txBody>
      </p:sp>
      <p:sp>
        <p:nvSpPr>
          <p:cNvPr id="13" name="Rounded Rectangle 12"/>
          <p:cNvSpPr/>
          <p:nvPr/>
        </p:nvSpPr>
        <p:spPr>
          <a:xfrm>
            <a:off x="8046720" y="3383280"/>
            <a:ext cx="3657600" cy="86868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3429000"/>
            <a:ext cx="3291840" cy="274320"/>
          </a:xfrm>
          <a:prstGeom prst="rect">
            <a:avLst/>
          </a:prstGeom>
          <a:noFill/>
        </p:spPr>
        <p:txBody>
          <a:bodyPr wrap="square">
            <a:spAutoFit/>
          </a:bodyPr>
          <a:lstStyle/>
          <a:p>
            <a:pPr algn="l">
              <a:defRPr sz="1100" b="0">
                <a:solidFill>
                  <a:srgbClr val="9E9E9E"/>
                </a:solidFill>
                <a:latin typeface="Segoe UI"/>
              </a:defRPr>
            </a:pPr>
            <a:r>
              <a:t>App Service LSI</a:t>
            </a:r>
          </a:p>
        </p:txBody>
      </p:sp>
      <p:sp>
        <p:nvSpPr>
          <p:cNvPr id="15" name="TextBox 14"/>
          <p:cNvSpPr txBox="1"/>
          <p:nvPr/>
        </p:nvSpPr>
        <p:spPr>
          <a:xfrm>
            <a:off x="8229600" y="3657600"/>
            <a:ext cx="1645920" cy="365760"/>
          </a:xfrm>
          <a:prstGeom prst="rect">
            <a:avLst/>
          </a:prstGeom>
          <a:noFill/>
        </p:spPr>
        <p:txBody>
          <a:bodyPr wrap="square">
            <a:spAutoFit/>
          </a:bodyPr>
          <a:lstStyle/>
          <a:p>
            <a:pPr algn="l">
              <a:defRPr sz="2200" b="1">
                <a:solidFill>
                  <a:srgbClr val="107C10"/>
                </a:solidFill>
                <a:latin typeface="Segoe UI"/>
              </a:defRPr>
            </a:pPr>
            <a:r>
              <a:t>809x faster</a:t>
            </a:r>
          </a:p>
        </p:txBody>
      </p:sp>
      <p:sp>
        <p:nvSpPr>
          <p:cNvPr id="16" name="TextBox 15"/>
          <p:cNvSpPr txBox="1"/>
          <p:nvPr/>
        </p:nvSpPr>
        <p:spPr>
          <a:xfrm>
            <a:off x="9875520" y="3749040"/>
            <a:ext cx="1645920" cy="274320"/>
          </a:xfrm>
          <a:prstGeom prst="rect">
            <a:avLst/>
          </a:prstGeom>
          <a:noFill/>
        </p:spPr>
        <p:txBody>
          <a:bodyPr wrap="square">
            <a:spAutoFit/>
          </a:bodyPr>
          <a:lstStyle/>
          <a:p>
            <a:pPr algn="l">
              <a:defRPr sz="1000" b="0">
                <a:solidFill>
                  <a:srgbClr val="1A1A2E"/>
                </a:solidFill>
                <a:latin typeface="Segoe UI"/>
              </a:defRPr>
            </a:pPr>
            <a:r>
              <a:t>3 min vs 40.5 hours</a:t>
            </a:r>
          </a:p>
        </p:txBody>
      </p:sp>
      <p:sp>
        <p:nvSpPr>
          <p:cNvPr id="17" name="Rounded Rectangle 16"/>
          <p:cNvSpPr/>
          <p:nvPr/>
        </p:nvSpPr>
        <p:spPr>
          <a:xfrm>
            <a:off x="8046720" y="4389120"/>
            <a:ext cx="3657600" cy="86868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0" y="4434840"/>
            <a:ext cx="3291840" cy="274320"/>
          </a:xfrm>
          <a:prstGeom prst="rect">
            <a:avLst/>
          </a:prstGeom>
          <a:noFill/>
        </p:spPr>
        <p:txBody>
          <a:bodyPr wrap="square">
            <a:spAutoFit/>
          </a:bodyPr>
          <a:lstStyle/>
          <a:p>
            <a:pPr algn="l">
              <a:defRPr sz="1100" b="0">
                <a:solidFill>
                  <a:srgbClr val="9E9E9E"/>
                </a:solidFill>
                <a:latin typeface="Segoe UI"/>
              </a:defRPr>
            </a:pPr>
            <a:r>
              <a:t>App Service CRI</a:t>
            </a:r>
          </a:p>
        </p:txBody>
      </p:sp>
      <p:sp>
        <p:nvSpPr>
          <p:cNvPr id="19" name="TextBox 18"/>
          <p:cNvSpPr txBox="1"/>
          <p:nvPr/>
        </p:nvSpPr>
        <p:spPr>
          <a:xfrm>
            <a:off x="8229600" y="4663440"/>
            <a:ext cx="1645920" cy="365760"/>
          </a:xfrm>
          <a:prstGeom prst="rect">
            <a:avLst/>
          </a:prstGeom>
          <a:noFill/>
        </p:spPr>
        <p:txBody>
          <a:bodyPr wrap="square">
            <a:spAutoFit/>
          </a:bodyPr>
          <a:lstStyle/>
          <a:p>
            <a:pPr algn="l">
              <a:defRPr sz="2200" b="1">
                <a:solidFill>
                  <a:srgbClr val="107C10"/>
                </a:solidFill>
                <a:latin typeface="Segoe UI"/>
              </a:defRPr>
            </a:pPr>
            <a:r>
              <a:t>5.8x faster</a:t>
            </a:r>
          </a:p>
        </p:txBody>
      </p:sp>
      <p:sp>
        <p:nvSpPr>
          <p:cNvPr id="20" name="TextBox 19"/>
          <p:cNvSpPr txBox="1"/>
          <p:nvPr/>
        </p:nvSpPr>
        <p:spPr>
          <a:xfrm>
            <a:off x="9875520" y="4754880"/>
            <a:ext cx="1645920" cy="274320"/>
          </a:xfrm>
          <a:prstGeom prst="rect">
            <a:avLst/>
          </a:prstGeom>
          <a:noFill/>
        </p:spPr>
        <p:txBody>
          <a:bodyPr wrap="square">
            <a:spAutoFit/>
          </a:bodyPr>
          <a:lstStyle/>
          <a:p>
            <a:pPr algn="l">
              <a:defRPr sz="1000" b="0">
                <a:solidFill>
                  <a:srgbClr val="1A1A2E"/>
                </a:solidFill>
                <a:latin typeface="Segoe UI"/>
              </a:defRPr>
            </a:pPr>
            <a:r>
              <a:t>4.2h vs 24.6 hours</a:t>
            </a:r>
          </a:p>
        </p:txBody>
      </p:sp>
      <p:sp>
        <p:nvSpPr>
          <p:cNvPr id="21" name="Rounded Rectangle 20"/>
          <p:cNvSpPr/>
          <p:nvPr/>
        </p:nvSpPr>
        <p:spPr>
          <a:xfrm>
            <a:off x="731520" y="5669280"/>
            <a:ext cx="10698480" cy="731520"/>
          </a:xfrm>
          <a:prstGeom prst="roundRect">
            <a:avLst/>
          </a:prstGeom>
          <a:solidFill>
            <a:srgbClr val="F0F8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97280" y="5760720"/>
            <a:ext cx="10058400" cy="548640"/>
          </a:xfrm>
          <a:prstGeom prst="rect">
            <a:avLst/>
          </a:prstGeom>
          <a:noFill/>
        </p:spPr>
        <p:txBody>
          <a:bodyPr wrap="square">
            <a:spAutoFit/>
          </a:bodyPr>
          <a:lstStyle/>
          <a:p>
            <a:pPr algn="l">
              <a:defRPr sz="1400" b="0">
                <a:solidFill>
                  <a:srgbClr val="1A1A2E"/>
                </a:solidFill>
                <a:latin typeface="Segoe UI"/>
              </a:defRPr>
            </a:pPr>
            <a:r>
              <a:t>Key takeaway: AI agents don't just assist — they fundamentally change the speed of operations. The biggest gains come from teams that deeply customize agent tools to their specific failure modes.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000" b="1">
                <a:solidFill>
                  <a:srgbClr val="0B1D3A"/>
                </a:solidFill>
                <a:latin typeface="Segoe UI Semibold"/>
              </a:defRPr>
            </a:pPr>
            <a:r>
              <a:t>How Customer Adoption Evolves Over Time</a:t>
            </a:r>
          </a:p>
        </p:txBody>
      </p:sp>
      <p:sp>
        <p:nvSpPr>
          <p:cNvPr id="3" name="Rectangle 2"/>
          <p:cNvSpPr/>
          <p:nvPr/>
        </p:nvSpPr>
        <p:spPr>
          <a:xfrm>
            <a:off x="731520" y="105156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Chart 3"/>
          <p:cNvGraphicFramePr>
            <a:graphicFrameLocks noGrp="1"/>
          </p:cNvGraphicFramePr>
          <p:nvPr/>
        </p:nvGraphicFramePr>
        <p:xfrm>
          <a:off x="731520" y="1371600"/>
          <a:ext cx="685800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8046720" y="1371600"/>
            <a:ext cx="3657600" cy="822960"/>
          </a:xfrm>
          <a:prstGeom prst="roundRect">
            <a:avLst/>
          </a:prstGeom>
          <a:solidFill>
            <a:srgbClr val="FFFF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0" y="1417320"/>
            <a:ext cx="3291840" cy="365760"/>
          </a:xfrm>
          <a:prstGeom prst="rect">
            <a:avLst/>
          </a:prstGeom>
          <a:noFill/>
        </p:spPr>
        <p:txBody>
          <a:bodyPr wrap="square">
            <a:spAutoFit/>
          </a:bodyPr>
          <a:lstStyle/>
          <a:p>
            <a:pPr algn="l">
              <a:defRPr sz="1300" b="1">
                <a:solidFill>
                  <a:srgbClr val="0078D4"/>
                </a:solidFill>
                <a:latin typeface="Segoe UI"/>
              </a:defRPr>
            </a:pPr>
            <a:r>
              <a:t>Onboarding</a:t>
            </a:r>
          </a:p>
        </p:txBody>
      </p:sp>
      <p:sp>
        <p:nvSpPr>
          <p:cNvPr id="7" name="TextBox 6"/>
          <p:cNvSpPr txBox="1"/>
          <p:nvPr/>
        </p:nvSpPr>
        <p:spPr>
          <a:xfrm>
            <a:off x="8229600" y="1783080"/>
            <a:ext cx="1371600" cy="246221"/>
          </a:xfrm>
          <a:prstGeom prst="rect">
            <a:avLst/>
          </a:prstGeom>
          <a:noFill/>
        </p:spPr>
        <p:txBody>
          <a:bodyPr wrap="square">
            <a:spAutoFit/>
          </a:bodyPr>
          <a:lstStyle/>
          <a:p>
            <a:pPr algn="l">
              <a:defRPr sz="1000" b="1">
                <a:solidFill>
                  <a:srgbClr val="9E9E9E"/>
                </a:solidFill>
                <a:latin typeface="Segoe UI"/>
              </a:defRPr>
            </a:pPr>
            <a:r>
              <a:t>Weeks 0–</a:t>
            </a:r>
            <a:r>
              <a:rPr lang="en-US"/>
              <a:t>3</a:t>
            </a:r>
            <a:endParaRPr/>
          </a:p>
        </p:txBody>
      </p:sp>
      <p:sp>
        <p:nvSpPr>
          <p:cNvPr id="8" name="TextBox 7"/>
          <p:cNvSpPr txBox="1"/>
          <p:nvPr/>
        </p:nvSpPr>
        <p:spPr>
          <a:xfrm>
            <a:off x="10332720" y="1535264"/>
            <a:ext cx="1828800" cy="365760"/>
          </a:xfrm>
          <a:prstGeom prst="rect">
            <a:avLst/>
          </a:prstGeom>
          <a:noFill/>
        </p:spPr>
        <p:txBody>
          <a:bodyPr wrap="square">
            <a:spAutoFit/>
          </a:bodyPr>
          <a:lstStyle/>
          <a:p>
            <a:pPr algn="l">
              <a:defRPr sz="1000" b="0">
                <a:solidFill>
                  <a:srgbClr val="1A1A2E"/>
                </a:solidFill>
                <a:latin typeface="Segoe UI"/>
              </a:defRPr>
            </a:pPr>
            <a:r>
              <a:t>Low baseline</a:t>
            </a:r>
            <a:br>
              <a:rPr/>
            </a:br>
            <a:r>
              <a:t>while exploring</a:t>
            </a:r>
          </a:p>
        </p:txBody>
      </p:sp>
      <p:sp>
        <p:nvSpPr>
          <p:cNvPr id="13" name="Rounded Rectangle 12"/>
          <p:cNvSpPr/>
          <p:nvPr/>
        </p:nvSpPr>
        <p:spPr>
          <a:xfrm>
            <a:off x="8046720" y="2377440"/>
            <a:ext cx="3657600" cy="822960"/>
          </a:xfrm>
          <a:prstGeom prst="roundRect">
            <a:avLst/>
          </a:prstGeom>
          <a:solidFill>
            <a:srgbClr val="FFFFFF"/>
          </a:solidFill>
          <a:ln w="12700">
            <a:solidFill>
              <a:srgbClr val="00B7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2423160"/>
            <a:ext cx="3291840" cy="292388"/>
          </a:xfrm>
          <a:prstGeom prst="rect">
            <a:avLst/>
          </a:prstGeom>
          <a:noFill/>
        </p:spPr>
        <p:txBody>
          <a:bodyPr wrap="square">
            <a:spAutoFit/>
          </a:bodyPr>
          <a:lstStyle/>
          <a:p>
            <a:pPr algn="l">
              <a:defRPr sz="1300" b="1">
                <a:solidFill>
                  <a:srgbClr val="00B7C3"/>
                </a:solidFill>
                <a:latin typeface="Segoe UI"/>
              </a:defRPr>
            </a:pPr>
            <a:r>
              <a:rPr lang="en-US"/>
              <a:t>Learning</a:t>
            </a:r>
            <a:endParaRPr/>
          </a:p>
        </p:txBody>
      </p:sp>
      <p:sp>
        <p:nvSpPr>
          <p:cNvPr id="15" name="TextBox 14"/>
          <p:cNvSpPr txBox="1"/>
          <p:nvPr/>
        </p:nvSpPr>
        <p:spPr>
          <a:xfrm>
            <a:off x="8229600" y="2788920"/>
            <a:ext cx="1371600" cy="246221"/>
          </a:xfrm>
          <a:prstGeom prst="rect">
            <a:avLst/>
          </a:prstGeom>
          <a:noFill/>
        </p:spPr>
        <p:txBody>
          <a:bodyPr wrap="square">
            <a:spAutoFit/>
          </a:bodyPr>
          <a:lstStyle/>
          <a:p>
            <a:pPr algn="l">
              <a:defRPr sz="1000" b="1">
                <a:solidFill>
                  <a:srgbClr val="9E9E9E"/>
                </a:solidFill>
                <a:latin typeface="Segoe UI"/>
              </a:defRPr>
            </a:pPr>
            <a:r>
              <a:t>Weeks </a:t>
            </a:r>
            <a:r>
              <a:rPr lang="en-US"/>
              <a:t>4</a:t>
            </a:r>
            <a:r>
              <a:t>–11</a:t>
            </a:r>
          </a:p>
        </p:txBody>
      </p:sp>
      <p:sp>
        <p:nvSpPr>
          <p:cNvPr id="16" name="TextBox 15"/>
          <p:cNvSpPr txBox="1"/>
          <p:nvPr/>
        </p:nvSpPr>
        <p:spPr>
          <a:xfrm>
            <a:off x="10363200" y="2571100"/>
            <a:ext cx="1828800" cy="365760"/>
          </a:xfrm>
          <a:prstGeom prst="rect">
            <a:avLst/>
          </a:prstGeom>
          <a:noFill/>
        </p:spPr>
        <p:txBody>
          <a:bodyPr wrap="square">
            <a:spAutoFit/>
          </a:bodyPr>
          <a:lstStyle/>
          <a:p>
            <a:pPr algn="l">
              <a:defRPr sz="1000" b="0">
                <a:solidFill>
                  <a:srgbClr val="1A1A2E"/>
                </a:solidFill>
                <a:latin typeface="Segoe UI"/>
              </a:defRPr>
            </a:pPr>
            <a:r>
              <a:t>Stabilizes as users</a:t>
            </a:r>
            <a:br/>
            <a:r>
              <a:t>learn what works</a:t>
            </a:r>
          </a:p>
        </p:txBody>
      </p:sp>
      <p:sp>
        <p:nvSpPr>
          <p:cNvPr id="17" name="Rounded Rectangle 16"/>
          <p:cNvSpPr/>
          <p:nvPr/>
        </p:nvSpPr>
        <p:spPr>
          <a:xfrm>
            <a:off x="8046720" y="3337560"/>
            <a:ext cx="3657600" cy="822960"/>
          </a:xfrm>
          <a:prstGeom prst="roundRect">
            <a:avLst/>
          </a:prstGeom>
          <a:solidFill>
            <a:srgbClr val="FFFFFF"/>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0" y="3383280"/>
            <a:ext cx="3291840" cy="365760"/>
          </a:xfrm>
          <a:prstGeom prst="rect">
            <a:avLst/>
          </a:prstGeom>
          <a:noFill/>
        </p:spPr>
        <p:txBody>
          <a:bodyPr wrap="square">
            <a:spAutoFit/>
          </a:bodyPr>
          <a:lstStyle/>
          <a:p>
            <a:pPr algn="l">
              <a:defRPr sz="1300" b="1">
                <a:solidFill>
                  <a:srgbClr val="107C10"/>
                </a:solidFill>
                <a:latin typeface="Segoe UI"/>
              </a:defRPr>
            </a:pPr>
            <a:r>
              <a:t>Mature</a:t>
            </a:r>
          </a:p>
        </p:txBody>
      </p:sp>
      <p:sp>
        <p:nvSpPr>
          <p:cNvPr id="19" name="TextBox 18"/>
          <p:cNvSpPr txBox="1"/>
          <p:nvPr/>
        </p:nvSpPr>
        <p:spPr>
          <a:xfrm>
            <a:off x="8229600" y="3749040"/>
            <a:ext cx="1371600" cy="246221"/>
          </a:xfrm>
          <a:prstGeom prst="rect">
            <a:avLst/>
          </a:prstGeom>
          <a:noFill/>
        </p:spPr>
        <p:txBody>
          <a:bodyPr wrap="square">
            <a:spAutoFit/>
          </a:bodyPr>
          <a:lstStyle/>
          <a:p>
            <a:pPr algn="l">
              <a:defRPr sz="1000" b="1">
                <a:solidFill>
                  <a:srgbClr val="9E9E9E"/>
                </a:solidFill>
                <a:latin typeface="Segoe UI"/>
              </a:defRPr>
            </a:pPr>
            <a:r>
              <a:t>Weeks 1</a:t>
            </a:r>
            <a:r>
              <a:rPr lang="en-US"/>
              <a:t>2</a:t>
            </a:r>
            <a:r>
              <a:t>+</a:t>
            </a:r>
          </a:p>
        </p:txBody>
      </p:sp>
      <p:sp>
        <p:nvSpPr>
          <p:cNvPr id="20" name="TextBox 19"/>
          <p:cNvSpPr txBox="1"/>
          <p:nvPr/>
        </p:nvSpPr>
        <p:spPr>
          <a:xfrm>
            <a:off x="10363200" y="3566160"/>
            <a:ext cx="1828800" cy="365760"/>
          </a:xfrm>
          <a:prstGeom prst="rect">
            <a:avLst/>
          </a:prstGeom>
          <a:noFill/>
        </p:spPr>
        <p:txBody>
          <a:bodyPr wrap="square">
            <a:spAutoFit/>
          </a:bodyPr>
          <a:lstStyle/>
          <a:p>
            <a:pPr algn="l">
              <a:defRPr sz="1000" b="0">
                <a:solidFill>
                  <a:srgbClr val="1A1A2E"/>
                </a:solidFill>
                <a:latin typeface="Segoe UI"/>
              </a:defRPr>
            </a:pPr>
            <a:r>
              <a:t>Best scores, 10x</a:t>
            </a:r>
            <a:br>
              <a:rPr/>
            </a:br>
            <a:r>
              <a:t>usage intensity</a:t>
            </a:r>
          </a:p>
        </p:txBody>
      </p:sp>
      <p:sp>
        <p:nvSpPr>
          <p:cNvPr id="21" name="Rounded Rectangle 20"/>
          <p:cNvSpPr/>
          <p:nvPr/>
        </p:nvSpPr>
        <p:spPr>
          <a:xfrm>
            <a:off x="731520" y="5303520"/>
            <a:ext cx="10698480" cy="914400"/>
          </a:xfrm>
          <a:prstGeom prst="roundRect">
            <a:avLst/>
          </a:prstGeom>
          <a:solidFill>
            <a:srgbClr val="FDF0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97280" y="5394960"/>
            <a:ext cx="10058400" cy="574516"/>
          </a:xfrm>
          <a:prstGeom prst="rect">
            <a:avLst/>
          </a:prstGeom>
          <a:noFill/>
        </p:spPr>
        <p:txBody>
          <a:bodyPr wrap="square">
            <a:spAutoFit/>
          </a:bodyPr>
          <a:lstStyle/>
          <a:p>
            <a:pPr>
              <a:defRPr sz="1500" b="1">
                <a:solidFill>
                  <a:srgbClr val="E86C00"/>
                </a:solidFill>
                <a:latin typeface="Segoe UI"/>
              </a:defRPr>
            </a:pPr>
            <a:r>
              <a:t>The J-Curve: Customers</a:t>
            </a:r>
            <a:r>
              <a:rPr lang="en-US"/>
              <a:t> who are not AI native take time to wrap their head around this</a:t>
            </a:r>
          </a:p>
          <a:p>
            <a:pPr algn="l">
              <a:spcBef>
                <a:spcPts val="400"/>
              </a:spcBef>
              <a:spcAft>
                <a:spcPts val="200"/>
              </a:spcAft>
              <a:defRPr sz="1300" b="0">
                <a:solidFill>
                  <a:srgbClr val="1A1A2E"/>
                </a:solidFill>
                <a:latin typeface="Segoe UI"/>
              </a:defRPr>
            </a:pPr>
            <a:r>
              <a:rPr lang="en-US"/>
              <a:t>Usage intensity grows 8–10x. Mature customers at week 12+ average 99 threads/customer/week vs 9 at onboarding/learning.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274320"/>
            <a:ext cx="2743200" cy="365760"/>
          </a:xfrm>
          <a:prstGeom prst="rect">
            <a:avLst/>
          </a:prstGeom>
          <a:noFill/>
        </p:spPr>
        <p:txBody>
          <a:bodyPr wrap="square">
            <a:spAutoFit/>
          </a:bodyPr>
          <a:lstStyle/>
          <a:p>
            <a:pPr algn="l">
              <a:defRPr sz="1200" b="1">
                <a:solidFill>
                  <a:srgbClr val="9E9E9E"/>
                </a:solidFill>
                <a:latin typeface="Segoe UI"/>
              </a:defRPr>
            </a:pPr>
            <a:r>
              <a:t>APPENDIX</a:t>
            </a:r>
          </a:p>
        </p:txBody>
      </p:sp>
      <p:sp>
        <p:nvSpPr>
          <p:cNvPr id="3" name="TextBox 2"/>
          <p:cNvSpPr txBox="1"/>
          <p:nvPr/>
        </p:nvSpPr>
        <p:spPr>
          <a:xfrm>
            <a:off x="731520" y="640080"/>
            <a:ext cx="10058400" cy="548640"/>
          </a:xfrm>
          <a:prstGeom prst="rect">
            <a:avLst/>
          </a:prstGeom>
          <a:noFill/>
        </p:spPr>
        <p:txBody>
          <a:bodyPr wrap="square">
            <a:spAutoFit/>
          </a:bodyPr>
          <a:lstStyle/>
          <a:p>
            <a:pPr algn="l">
              <a:defRPr sz="2800" b="1">
                <a:solidFill>
                  <a:srgbClr val="0B1D3A"/>
                </a:solidFill>
                <a:latin typeface="Segoe UI Semibold"/>
              </a:defRPr>
            </a:pPr>
            <a:r>
              <a:t>Agents Across the Software Lifecycle</a:t>
            </a:r>
          </a:p>
        </p:txBody>
      </p:sp>
      <p:sp>
        <p:nvSpPr>
          <p:cNvPr id="4" name="Rectangle 3"/>
          <p:cNvSpPr/>
          <p:nvPr/>
        </p:nvSpPr>
        <p:spPr>
          <a:xfrm>
            <a:off x="731520" y="123444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74320" y="1645920"/>
            <a:ext cx="1325880" cy="1645920"/>
          </a:xfrm>
          <a:prstGeom prst="roundRect">
            <a:avLst/>
          </a:prstGeom>
          <a:solidFill>
            <a:srgbClr val="6B6B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Plan</a:t>
            </a:r>
          </a:p>
          <a:p>
            <a:pPr algn="ctr">
              <a:defRPr sz="1000">
                <a:solidFill>
                  <a:srgbClr val="E0F0FF"/>
                </a:solidFill>
                <a:latin typeface="Segoe UI"/>
              </a:defRPr>
            </a:pPr>
            <a:r>
              <a:t>Empowered PMs +</a:t>
            </a:r>
            <a:br/>
            <a:r>
              <a:t>spec-driven dev</a:t>
            </a:r>
          </a:p>
        </p:txBody>
      </p:sp>
      <p:sp>
        <p:nvSpPr>
          <p:cNvPr id="6" name="TextBox 5"/>
          <p:cNvSpPr txBox="1"/>
          <p:nvPr/>
        </p:nvSpPr>
        <p:spPr>
          <a:xfrm>
            <a:off x="160020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7" name="Rounded Rectangle 6"/>
          <p:cNvSpPr/>
          <p:nvPr/>
        </p:nvSpPr>
        <p:spPr>
          <a:xfrm>
            <a:off x="1737360" y="1645920"/>
            <a:ext cx="1325880" cy="1645920"/>
          </a:xfrm>
          <a:prstGeom prst="roundRect">
            <a:avLst/>
          </a:prstGeom>
          <a:solidFill>
            <a:srgbClr val="4B9C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Code</a:t>
            </a:r>
          </a:p>
          <a:p>
            <a:pPr algn="ctr">
              <a:defRPr sz="1000">
                <a:solidFill>
                  <a:srgbClr val="E0F0FF"/>
                </a:solidFill>
                <a:latin typeface="Segoe UI"/>
              </a:defRPr>
            </a:pPr>
            <a:r>
              <a:t>GitHub Copilot</a:t>
            </a:r>
            <a:br/>
            <a:r>
              <a:t>Coding Agent</a:t>
            </a:r>
          </a:p>
        </p:txBody>
      </p:sp>
      <p:sp>
        <p:nvSpPr>
          <p:cNvPr id="8" name="TextBox 7"/>
          <p:cNvSpPr txBox="1"/>
          <p:nvPr/>
        </p:nvSpPr>
        <p:spPr>
          <a:xfrm>
            <a:off x="306324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9" name="Rounded Rectangle 8"/>
          <p:cNvSpPr/>
          <p:nvPr/>
        </p:nvSpPr>
        <p:spPr>
          <a:xfrm>
            <a:off x="3200400" y="1645920"/>
            <a:ext cx="1325880" cy="1645920"/>
          </a:xfrm>
          <a:prstGeom prst="round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Verify</a:t>
            </a:r>
          </a:p>
          <a:p>
            <a:pPr algn="ctr">
              <a:defRPr sz="1000">
                <a:solidFill>
                  <a:srgbClr val="E0F0FF"/>
                </a:solidFill>
                <a:latin typeface="Segoe UI"/>
              </a:defRPr>
            </a:pPr>
            <a:r>
              <a:t>GH Code Review +</a:t>
            </a:r>
            <a:br/>
            <a:r>
              <a:t>Advanced Security</a:t>
            </a:r>
          </a:p>
        </p:txBody>
      </p:sp>
      <p:sp>
        <p:nvSpPr>
          <p:cNvPr id="10" name="TextBox 9"/>
          <p:cNvSpPr txBox="1"/>
          <p:nvPr/>
        </p:nvSpPr>
        <p:spPr>
          <a:xfrm>
            <a:off x="452628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11" name="Rounded Rectangle 10"/>
          <p:cNvSpPr/>
          <p:nvPr/>
        </p:nvSpPr>
        <p:spPr>
          <a:xfrm>
            <a:off x="4663440" y="1645920"/>
            <a:ext cx="1325880" cy="1645920"/>
          </a:xfrm>
          <a:prstGeom prst="round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Test</a:t>
            </a:r>
          </a:p>
          <a:p>
            <a:pPr algn="ctr">
              <a:defRPr sz="1000">
                <a:solidFill>
                  <a:srgbClr val="E0F0FF"/>
                </a:solidFill>
                <a:latin typeface="Segoe UI"/>
              </a:defRPr>
            </a:pPr>
            <a:r>
              <a:t>Automated</a:t>
            </a:r>
            <a:br/>
            <a:r>
              <a:t>evaluation agent*</a:t>
            </a:r>
          </a:p>
        </p:txBody>
      </p:sp>
      <p:sp>
        <p:nvSpPr>
          <p:cNvPr id="12" name="TextBox 11"/>
          <p:cNvSpPr txBox="1"/>
          <p:nvPr/>
        </p:nvSpPr>
        <p:spPr>
          <a:xfrm>
            <a:off x="598932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13" name="Rounded Rectangle 12"/>
          <p:cNvSpPr/>
          <p:nvPr/>
        </p:nvSpPr>
        <p:spPr>
          <a:xfrm>
            <a:off x="6126480" y="1645920"/>
            <a:ext cx="1325880" cy="164592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Deploy</a:t>
            </a:r>
          </a:p>
          <a:p>
            <a:pPr algn="ctr">
              <a:defRPr sz="1000">
                <a:solidFill>
                  <a:srgbClr val="E0F0FF"/>
                </a:solidFill>
                <a:latin typeface="Segoe UI"/>
              </a:defRPr>
            </a:pPr>
            <a:r>
              <a:t>SRE Agent +</a:t>
            </a:r>
            <a:br/>
            <a:r>
              <a:t>Deployment agent*</a:t>
            </a:r>
          </a:p>
        </p:txBody>
      </p:sp>
      <p:sp>
        <p:nvSpPr>
          <p:cNvPr id="14" name="TextBox 13"/>
          <p:cNvSpPr txBox="1"/>
          <p:nvPr/>
        </p:nvSpPr>
        <p:spPr>
          <a:xfrm>
            <a:off x="745236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15" name="Rounded Rectangle 14"/>
          <p:cNvSpPr/>
          <p:nvPr/>
        </p:nvSpPr>
        <p:spPr>
          <a:xfrm>
            <a:off x="7589520" y="1645920"/>
            <a:ext cx="1325880" cy="1645920"/>
          </a:xfrm>
          <a:prstGeom prst="roundRect">
            <a:avLst/>
          </a:prstGeom>
          <a:solidFill>
            <a:srgbClr val="0A64B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Operate</a:t>
            </a:r>
          </a:p>
          <a:p>
            <a:pPr algn="ctr">
              <a:defRPr sz="1000">
                <a:solidFill>
                  <a:srgbClr val="E0F0FF"/>
                </a:solidFill>
                <a:latin typeface="Segoe UI"/>
              </a:defRPr>
            </a:pPr>
            <a:r>
              <a:t>SRE Agent for</a:t>
            </a:r>
            <a:br/>
            <a:r>
              <a:t>incident response</a:t>
            </a:r>
          </a:p>
        </p:txBody>
      </p:sp>
      <p:sp>
        <p:nvSpPr>
          <p:cNvPr id="16" name="TextBox 15"/>
          <p:cNvSpPr txBox="1"/>
          <p:nvPr/>
        </p:nvSpPr>
        <p:spPr>
          <a:xfrm>
            <a:off x="891540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17" name="Rounded Rectangle 16"/>
          <p:cNvSpPr/>
          <p:nvPr/>
        </p:nvSpPr>
        <p:spPr>
          <a:xfrm>
            <a:off x="9052560" y="1645920"/>
            <a:ext cx="1325880" cy="1645920"/>
          </a:xfrm>
          <a:prstGeom prst="roundRect">
            <a:avLst/>
          </a:prstGeom>
          <a:solidFill>
            <a:srgbClr val="C196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Document</a:t>
            </a:r>
          </a:p>
          <a:p>
            <a:pPr algn="ctr">
              <a:defRPr sz="1000">
                <a:solidFill>
                  <a:srgbClr val="E0F0FF"/>
                </a:solidFill>
                <a:latin typeface="Segoe UI"/>
              </a:defRPr>
            </a:pPr>
            <a:r>
              <a:t>Documentation</a:t>
            </a:r>
            <a:br/>
            <a:r>
              <a:t>agent*</a:t>
            </a:r>
          </a:p>
        </p:txBody>
      </p:sp>
      <p:sp>
        <p:nvSpPr>
          <p:cNvPr id="18" name="TextBox 17"/>
          <p:cNvSpPr txBox="1"/>
          <p:nvPr/>
        </p:nvSpPr>
        <p:spPr>
          <a:xfrm>
            <a:off x="10378440" y="2194560"/>
            <a:ext cx="182880" cy="365760"/>
          </a:xfrm>
          <a:prstGeom prst="rect">
            <a:avLst/>
          </a:prstGeom>
          <a:noFill/>
        </p:spPr>
        <p:txBody>
          <a:bodyPr wrap="square">
            <a:spAutoFit/>
          </a:bodyPr>
          <a:lstStyle/>
          <a:p>
            <a:pPr algn="ctr">
              <a:defRPr sz="1800" b="0">
                <a:solidFill>
                  <a:srgbClr val="9E9E9E"/>
                </a:solidFill>
                <a:latin typeface="Segoe UI"/>
              </a:defRPr>
            </a:pPr>
            <a:r>
              <a:t>→</a:t>
            </a:r>
          </a:p>
        </p:txBody>
      </p:sp>
      <p:sp>
        <p:nvSpPr>
          <p:cNvPr id="19" name="Rounded Rectangle 18"/>
          <p:cNvSpPr/>
          <p:nvPr/>
        </p:nvSpPr>
        <p:spPr>
          <a:xfrm>
            <a:off x="10515600" y="1645920"/>
            <a:ext cx="1325880" cy="164592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FFFFFF"/>
                </a:solidFill>
                <a:latin typeface="Segoe UI"/>
              </a:defRPr>
            </a:pPr>
            <a:r>
              <a:t>Optimize</a:t>
            </a:r>
          </a:p>
          <a:p>
            <a:pPr algn="ctr">
              <a:defRPr sz="1000">
                <a:solidFill>
                  <a:srgbClr val="E0F0FF"/>
                </a:solidFill>
                <a:latin typeface="Segoe UI"/>
              </a:defRPr>
            </a:pPr>
            <a:r>
              <a:t>SRE Agent</a:t>
            </a:r>
            <a:br/>
            <a:r>
              <a:t>continuous opt.</a:t>
            </a:r>
          </a:p>
        </p:txBody>
      </p:sp>
      <p:sp>
        <p:nvSpPr>
          <p:cNvPr id="20" name="TextBox 19"/>
          <p:cNvSpPr txBox="1"/>
          <p:nvPr/>
        </p:nvSpPr>
        <p:spPr>
          <a:xfrm>
            <a:off x="548640" y="3657600"/>
            <a:ext cx="3657600" cy="457200"/>
          </a:xfrm>
          <a:prstGeom prst="rect">
            <a:avLst/>
          </a:prstGeom>
          <a:noFill/>
        </p:spPr>
        <p:txBody>
          <a:bodyPr wrap="square">
            <a:spAutoFit/>
          </a:bodyPr>
          <a:lstStyle/>
          <a:p>
            <a:pPr algn="l">
              <a:defRPr sz="1000" b="0">
                <a:solidFill>
                  <a:srgbClr val="1A1A2E"/>
                </a:solidFill>
                <a:latin typeface="Segoe UI"/>
              </a:defRPr>
            </a:pPr>
            <a:r>
              <a:t>1. Using Copilot CLI, VS Code via GH Copilot to build products, features and fix bugs</a:t>
            </a:r>
          </a:p>
        </p:txBody>
      </p:sp>
      <p:sp>
        <p:nvSpPr>
          <p:cNvPr id="21" name="TextBox 20"/>
          <p:cNvSpPr txBox="1"/>
          <p:nvPr/>
        </p:nvSpPr>
        <p:spPr>
          <a:xfrm>
            <a:off x="4389120" y="3657600"/>
            <a:ext cx="3657600" cy="457200"/>
          </a:xfrm>
          <a:prstGeom prst="rect">
            <a:avLst/>
          </a:prstGeom>
          <a:noFill/>
        </p:spPr>
        <p:txBody>
          <a:bodyPr wrap="square">
            <a:spAutoFit/>
          </a:bodyPr>
          <a:lstStyle/>
          <a:p>
            <a:pPr algn="l">
              <a:defRPr sz="1000" b="0">
                <a:solidFill>
                  <a:srgbClr val="1A1A2E"/>
                </a:solidFill>
                <a:latin typeface="Segoe UI"/>
              </a:defRPr>
            </a:pPr>
            <a:r>
              <a:t>2. Coding agent automatically creates PRs to fix issues that are reported</a:t>
            </a:r>
          </a:p>
        </p:txBody>
      </p:sp>
      <p:sp>
        <p:nvSpPr>
          <p:cNvPr id="22" name="TextBox 21"/>
          <p:cNvSpPr txBox="1"/>
          <p:nvPr/>
        </p:nvSpPr>
        <p:spPr>
          <a:xfrm>
            <a:off x="8229600" y="3657600"/>
            <a:ext cx="3657600" cy="457200"/>
          </a:xfrm>
          <a:prstGeom prst="rect">
            <a:avLst/>
          </a:prstGeom>
          <a:noFill/>
        </p:spPr>
        <p:txBody>
          <a:bodyPr wrap="square">
            <a:spAutoFit/>
          </a:bodyPr>
          <a:lstStyle/>
          <a:p>
            <a:pPr algn="l">
              <a:defRPr sz="1000" b="0">
                <a:solidFill>
                  <a:srgbClr val="1A1A2E"/>
                </a:solidFill>
                <a:latin typeface="Segoe UI"/>
              </a:defRPr>
            </a:pPr>
            <a:r>
              <a:t>3. Code review agent reviews code and provides recommendations</a:t>
            </a:r>
          </a:p>
        </p:txBody>
      </p:sp>
      <p:sp>
        <p:nvSpPr>
          <p:cNvPr id="23" name="TextBox 22"/>
          <p:cNvSpPr txBox="1"/>
          <p:nvPr/>
        </p:nvSpPr>
        <p:spPr>
          <a:xfrm>
            <a:off x="548640" y="4160520"/>
            <a:ext cx="3657600" cy="457200"/>
          </a:xfrm>
          <a:prstGeom prst="rect">
            <a:avLst/>
          </a:prstGeom>
          <a:noFill/>
        </p:spPr>
        <p:txBody>
          <a:bodyPr wrap="square">
            <a:spAutoFit/>
          </a:bodyPr>
          <a:lstStyle/>
          <a:p>
            <a:pPr algn="l">
              <a:defRPr sz="1000" b="0">
                <a:solidFill>
                  <a:srgbClr val="1A1A2E"/>
                </a:solidFill>
                <a:latin typeface="Segoe UI"/>
              </a:defRPr>
            </a:pPr>
            <a:r>
              <a:t>4. Microsoft Engineering teams use SRE Agent — 35K incidents mitigated, 150K enriched</a:t>
            </a:r>
          </a:p>
        </p:txBody>
      </p:sp>
      <p:sp>
        <p:nvSpPr>
          <p:cNvPr id="24" name="TextBox 23"/>
          <p:cNvSpPr txBox="1"/>
          <p:nvPr/>
        </p:nvSpPr>
        <p:spPr>
          <a:xfrm>
            <a:off x="4389120" y="4160520"/>
            <a:ext cx="3657600" cy="457200"/>
          </a:xfrm>
          <a:prstGeom prst="rect">
            <a:avLst/>
          </a:prstGeom>
          <a:noFill/>
        </p:spPr>
        <p:txBody>
          <a:bodyPr wrap="square">
            <a:spAutoFit/>
          </a:bodyPr>
          <a:lstStyle/>
          <a:p>
            <a:pPr algn="l">
              <a:defRPr sz="1000" b="0">
                <a:solidFill>
                  <a:srgbClr val="1A1A2E"/>
                </a:solidFill>
                <a:latin typeface="Segoe UI"/>
              </a:defRPr>
            </a:pPr>
            <a:r>
              <a:t>5. SRE Agent for SRE Agent (SRE4SRE) — debug customer issues, provide answers, fix bugs</a:t>
            </a:r>
          </a:p>
        </p:txBody>
      </p:sp>
      <p:sp>
        <p:nvSpPr>
          <p:cNvPr id="25" name="TextBox 24"/>
          <p:cNvSpPr txBox="1"/>
          <p:nvPr/>
        </p:nvSpPr>
        <p:spPr>
          <a:xfrm>
            <a:off x="8229600" y="4160520"/>
            <a:ext cx="3657600" cy="457200"/>
          </a:xfrm>
          <a:prstGeom prst="rect">
            <a:avLst/>
          </a:prstGeom>
          <a:noFill/>
        </p:spPr>
        <p:txBody>
          <a:bodyPr wrap="square">
            <a:spAutoFit/>
          </a:bodyPr>
          <a:lstStyle/>
          <a:p>
            <a:pPr algn="l">
              <a:defRPr sz="1000" b="0">
                <a:solidFill>
                  <a:srgbClr val="1A1A2E"/>
                </a:solidFill>
                <a:latin typeface="Segoe UI"/>
              </a:defRPr>
            </a:pPr>
            <a:r>
              <a:t>6. SRE4SRE runs scheduled tasks to find errors in telemetry and auto-fix code</a:t>
            </a:r>
          </a:p>
        </p:txBody>
      </p:sp>
      <p:sp>
        <p:nvSpPr>
          <p:cNvPr id="26" name="TextBox 25"/>
          <p:cNvSpPr txBox="1"/>
          <p:nvPr/>
        </p:nvSpPr>
        <p:spPr>
          <a:xfrm>
            <a:off x="548640" y="4663440"/>
            <a:ext cx="3657600" cy="457200"/>
          </a:xfrm>
          <a:prstGeom prst="rect">
            <a:avLst/>
          </a:prstGeom>
          <a:noFill/>
        </p:spPr>
        <p:txBody>
          <a:bodyPr wrap="square">
            <a:spAutoFit/>
          </a:bodyPr>
          <a:lstStyle/>
          <a:p>
            <a:pPr algn="l">
              <a:defRPr sz="1000" b="0">
                <a:solidFill>
                  <a:srgbClr val="1A1A2E"/>
                </a:solidFill>
                <a:latin typeface="Segoe UI"/>
              </a:defRPr>
            </a:pPr>
            <a:r>
              <a:t>7. Deployment agents manage deployments and releases</a:t>
            </a:r>
          </a:p>
        </p:txBody>
      </p:sp>
      <p:sp>
        <p:nvSpPr>
          <p:cNvPr id="27" name="TextBox 26"/>
          <p:cNvSpPr txBox="1"/>
          <p:nvPr/>
        </p:nvSpPr>
        <p:spPr>
          <a:xfrm>
            <a:off x="4389120" y="4663440"/>
            <a:ext cx="3657600" cy="457200"/>
          </a:xfrm>
          <a:prstGeom prst="rect">
            <a:avLst/>
          </a:prstGeom>
          <a:noFill/>
        </p:spPr>
        <p:txBody>
          <a:bodyPr wrap="square">
            <a:spAutoFit/>
          </a:bodyPr>
          <a:lstStyle/>
          <a:p>
            <a:pPr algn="l">
              <a:defRPr sz="1000" b="0">
                <a:solidFill>
                  <a:srgbClr val="1A1A2E"/>
                </a:solidFill>
                <a:latin typeface="Segoe UI"/>
              </a:defRPr>
            </a:pPr>
            <a:r>
              <a:t>8. Security Management — manages security KPIs and follow-ups</a:t>
            </a:r>
          </a:p>
        </p:txBody>
      </p:sp>
      <p:sp>
        <p:nvSpPr>
          <p:cNvPr id="28" name="TextBox 27"/>
          <p:cNvSpPr txBox="1"/>
          <p:nvPr/>
        </p:nvSpPr>
        <p:spPr>
          <a:xfrm>
            <a:off x="8229600" y="4663440"/>
            <a:ext cx="3657600" cy="457200"/>
          </a:xfrm>
          <a:prstGeom prst="rect">
            <a:avLst/>
          </a:prstGeom>
          <a:noFill/>
        </p:spPr>
        <p:txBody>
          <a:bodyPr wrap="square">
            <a:spAutoFit/>
          </a:bodyPr>
          <a:lstStyle/>
          <a:p>
            <a:pPr algn="l">
              <a:defRPr sz="1000" b="0">
                <a:solidFill>
                  <a:srgbClr val="1A1A2E"/>
                </a:solidFill>
                <a:latin typeface="Segoe UI"/>
              </a:defRPr>
            </a:pPr>
            <a:r>
              <a:t>9. Agents create documentation</a:t>
            </a:r>
          </a:p>
        </p:txBody>
      </p:sp>
      <p:sp>
        <p:nvSpPr>
          <p:cNvPr id="29" name="TextBox 28"/>
          <p:cNvSpPr txBox="1"/>
          <p:nvPr/>
        </p:nvSpPr>
        <p:spPr>
          <a:xfrm>
            <a:off x="731520" y="6217920"/>
            <a:ext cx="9144000" cy="274320"/>
          </a:xfrm>
          <a:prstGeom prst="rect">
            <a:avLst/>
          </a:prstGeom>
          <a:noFill/>
        </p:spPr>
        <p:txBody>
          <a:bodyPr wrap="square">
            <a:spAutoFit/>
          </a:bodyPr>
          <a:lstStyle/>
          <a:p>
            <a:pPr algn="l">
              <a:defRPr sz="1000" b="1">
                <a:solidFill>
                  <a:srgbClr val="9E9E9E"/>
                </a:solidFill>
                <a:latin typeface="Segoe UI"/>
              </a:defRPr>
            </a:pPr>
            <a:r>
              <a:t>* = emerging / internal prototype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9144000" cy="548640"/>
          </a:xfrm>
          <a:prstGeom prst="rect">
            <a:avLst/>
          </a:prstGeom>
          <a:noFill/>
        </p:spPr>
        <p:txBody>
          <a:bodyPr wrap="square">
            <a:spAutoFit/>
          </a:bodyPr>
          <a:lstStyle/>
          <a:p>
            <a:pPr algn="l">
              <a:defRPr sz="3000" b="1">
                <a:solidFill>
                  <a:srgbClr val="0B1D3A"/>
                </a:solidFill>
                <a:latin typeface="Segoe UI Semibold"/>
              </a:defRPr>
            </a:pPr>
            <a:r>
              <a:t>Agentic DevOps — AI Across the Software Lifecycle</a:t>
            </a:r>
          </a:p>
        </p:txBody>
      </p:sp>
      <p:sp>
        <p:nvSpPr>
          <p:cNvPr id="3" name="Rectangle 2"/>
          <p:cNvSpPr/>
          <p:nvPr/>
        </p:nvSpPr>
        <p:spPr>
          <a:xfrm>
            <a:off x="731520" y="1051560"/>
            <a:ext cx="228600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22960" y="1645920"/>
            <a:ext cx="1280160" cy="1280160"/>
          </a:xfrm>
          <a:prstGeom prst="ellipse">
            <a:avLst/>
          </a:prstGeom>
          <a:solidFill>
            <a:srgbClr val="6B6B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Plan</a:t>
            </a:r>
          </a:p>
        </p:txBody>
      </p:sp>
      <p:sp>
        <p:nvSpPr>
          <p:cNvPr id="5" name="TextBox 4"/>
          <p:cNvSpPr txBox="1"/>
          <p:nvPr/>
        </p:nvSpPr>
        <p:spPr>
          <a:xfrm>
            <a:off x="548640" y="3108960"/>
            <a:ext cx="1828800" cy="731520"/>
          </a:xfrm>
          <a:prstGeom prst="rect">
            <a:avLst/>
          </a:prstGeom>
          <a:noFill/>
        </p:spPr>
        <p:txBody>
          <a:bodyPr wrap="square">
            <a:spAutoFit/>
          </a:bodyPr>
          <a:lstStyle/>
          <a:p>
            <a:pPr algn="ctr">
              <a:defRPr sz="1200" b="0">
                <a:solidFill>
                  <a:srgbClr val="1A1A2E"/>
                </a:solidFill>
                <a:latin typeface="Segoe UI"/>
              </a:defRPr>
            </a:pPr>
            <a:r>
              <a:t>Spec-driven</a:t>
            </a:r>
            <a:br/>
            <a:r>
              <a:t>development</a:t>
            </a:r>
          </a:p>
        </p:txBody>
      </p:sp>
      <p:sp>
        <p:nvSpPr>
          <p:cNvPr id="6" name="TextBox 5"/>
          <p:cNvSpPr txBox="1"/>
          <p:nvPr/>
        </p:nvSpPr>
        <p:spPr>
          <a:xfrm>
            <a:off x="2194560" y="2057400"/>
            <a:ext cx="457200" cy="365760"/>
          </a:xfrm>
          <a:prstGeom prst="rect">
            <a:avLst/>
          </a:prstGeom>
          <a:noFill/>
        </p:spPr>
        <p:txBody>
          <a:bodyPr wrap="square">
            <a:spAutoFit/>
          </a:bodyPr>
          <a:lstStyle/>
          <a:p>
            <a:pPr algn="ctr">
              <a:defRPr sz="2400" b="0">
                <a:solidFill>
                  <a:srgbClr val="9E9E9E"/>
                </a:solidFill>
                <a:latin typeface="Segoe UI"/>
              </a:defRPr>
            </a:pPr>
            <a:r>
              <a:t>→</a:t>
            </a:r>
          </a:p>
        </p:txBody>
      </p:sp>
      <p:sp>
        <p:nvSpPr>
          <p:cNvPr id="7" name="Oval 6"/>
          <p:cNvSpPr/>
          <p:nvPr/>
        </p:nvSpPr>
        <p:spPr>
          <a:xfrm>
            <a:off x="2743200" y="1645920"/>
            <a:ext cx="1280160" cy="1280160"/>
          </a:xfrm>
          <a:prstGeom prst="ellipse">
            <a:avLst/>
          </a:prstGeom>
          <a:solidFill>
            <a:srgbClr val="4B9CD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Code</a:t>
            </a:r>
          </a:p>
        </p:txBody>
      </p:sp>
      <p:sp>
        <p:nvSpPr>
          <p:cNvPr id="8" name="TextBox 7"/>
          <p:cNvSpPr txBox="1"/>
          <p:nvPr/>
        </p:nvSpPr>
        <p:spPr>
          <a:xfrm>
            <a:off x="2468880" y="3108960"/>
            <a:ext cx="1828800" cy="731520"/>
          </a:xfrm>
          <a:prstGeom prst="rect">
            <a:avLst/>
          </a:prstGeom>
          <a:noFill/>
        </p:spPr>
        <p:txBody>
          <a:bodyPr wrap="square">
            <a:spAutoFit/>
          </a:bodyPr>
          <a:lstStyle/>
          <a:p>
            <a:pPr algn="ctr">
              <a:defRPr sz="1200" b="0">
                <a:solidFill>
                  <a:srgbClr val="1A1A2E"/>
                </a:solidFill>
                <a:latin typeface="Segoe UI"/>
              </a:defRPr>
            </a:pPr>
            <a:r>
              <a:t>GitHub Copilot</a:t>
            </a:r>
            <a:br/>
            <a:r>
              <a:t>Coding Agent</a:t>
            </a:r>
          </a:p>
        </p:txBody>
      </p:sp>
      <p:sp>
        <p:nvSpPr>
          <p:cNvPr id="9" name="TextBox 8"/>
          <p:cNvSpPr txBox="1"/>
          <p:nvPr/>
        </p:nvSpPr>
        <p:spPr>
          <a:xfrm>
            <a:off x="4114800" y="2057400"/>
            <a:ext cx="457200" cy="365760"/>
          </a:xfrm>
          <a:prstGeom prst="rect">
            <a:avLst/>
          </a:prstGeom>
          <a:noFill/>
        </p:spPr>
        <p:txBody>
          <a:bodyPr wrap="square">
            <a:spAutoFit/>
          </a:bodyPr>
          <a:lstStyle/>
          <a:p>
            <a:pPr algn="ctr">
              <a:defRPr sz="2400" b="0">
                <a:solidFill>
                  <a:srgbClr val="9E9E9E"/>
                </a:solidFill>
                <a:latin typeface="Segoe UI"/>
              </a:defRPr>
            </a:pPr>
            <a:r>
              <a:t>→</a:t>
            </a:r>
          </a:p>
        </p:txBody>
      </p:sp>
      <p:sp>
        <p:nvSpPr>
          <p:cNvPr id="10" name="Oval 9"/>
          <p:cNvSpPr/>
          <p:nvPr/>
        </p:nvSpPr>
        <p:spPr>
          <a:xfrm>
            <a:off x="4663440" y="1645920"/>
            <a:ext cx="1280160" cy="128016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Verify</a:t>
            </a:r>
          </a:p>
        </p:txBody>
      </p:sp>
      <p:sp>
        <p:nvSpPr>
          <p:cNvPr id="11" name="TextBox 10"/>
          <p:cNvSpPr txBox="1"/>
          <p:nvPr/>
        </p:nvSpPr>
        <p:spPr>
          <a:xfrm>
            <a:off x="4389120" y="3108960"/>
            <a:ext cx="1828800" cy="731520"/>
          </a:xfrm>
          <a:prstGeom prst="rect">
            <a:avLst/>
          </a:prstGeom>
          <a:noFill/>
        </p:spPr>
        <p:txBody>
          <a:bodyPr wrap="square">
            <a:spAutoFit/>
          </a:bodyPr>
          <a:lstStyle/>
          <a:p>
            <a:pPr algn="ctr">
              <a:defRPr sz="1200" b="0">
                <a:solidFill>
                  <a:srgbClr val="1A1A2E"/>
                </a:solidFill>
                <a:latin typeface="Segoe UI"/>
              </a:defRPr>
            </a:pPr>
            <a:r>
              <a:t>Code Review +</a:t>
            </a:r>
            <a:br/>
            <a:r>
              <a:t>Advanced Security</a:t>
            </a:r>
          </a:p>
        </p:txBody>
      </p:sp>
      <p:sp>
        <p:nvSpPr>
          <p:cNvPr id="12" name="TextBox 11"/>
          <p:cNvSpPr txBox="1"/>
          <p:nvPr/>
        </p:nvSpPr>
        <p:spPr>
          <a:xfrm>
            <a:off x="6035040" y="2057400"/>
            <a:ext cx="457200" cy="365760"/>
          </a:xfrm>
          <a:prstGeom prst="rect">
            <a:avLst/>
          </a:prstGeom>
          <a:noFill/>
        </p:spPr>
        <p:txBody>
          <a:bodyPr wrap="square">
            <a:spAutoFit/>
          </a:bodyPr>
          <a:lstStyle/>
          <a:p>
            <a:pPr algn="ctr">
              <a:defRPr sz="2400" b="0">
                <a:solidFill>
                  <a:srgbClr val="9E9E9E"/>
                </a:solidFill>
                <a:latin typeface="Segoe UI"/>
              </a:defRPr>
            </a:pPr>
            <a:r>
              <a:t>→</a:t>
            </a:r>
          </a:p>
        </p:txBody>
      </p:sp>
      <p:sp>
        <p:nvSpPr>
          <p:cNvPr id="13" name="Oval 12"/>
          <p:cNvSpPr/>
          <p:nvPr/>
        </p:nvSpPr>
        <p:spPr>
          <a:xfrm>
            <a:off x="6583680" y="1645920"/>
            <a:ext cx="1280160" cy="128016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Deploy</a:t>
            </a:r>
          </a:p>
        </p:txBody>
      </p:sp>
      <p:sp>
        <p:nvSpPr>
          <p:cNvPr id="14" name="TextBox 13"/>
          <p:cNvSpPr txBox="1"/>
          <p:nvPr/>
        </p:nvSpPr>
        <p:spPr>
          <a:xfrm>
            <a:off x="6309360" y="3108960"/>
            <a:ext cx="1828800" cy="461665"/>
          </a:xfrm>
          <a:prstGeom prst="rect">
            <a:avLst/>
          </a:prstGeom>
          <a:noFill/>
        </p:spPr>
        <p:txBody>
          <a:bodyPr wrap="square">
            <a:spAutoFit/>
          </a:bodyPr>
          <a:lstStyle/>
          <a:p>
            <a:pPr algn="ctr">
              <a:defRPr sz="1200" b="0">
                <a:solidFill>
                  <a:srgbClr val="1A1A2E"/>
                </a:solidFill>
                <a:latin typeface="Segoe UI"/>
              </a:defRPr>
            </a:pPr>
            <a:r>
              <a:t>SRE Agent </a:t>
            </a:r>
            <a:r>
              <a:rPr lang="en-US"/>
              <a:t>Release Management</a:t>
            </a:r>
            <a:endParaRPr/>
          </a:p>
        </p:txBody>
      </p:sp>
      <p:sp>
        <p:nvSpPr>
          <p:cNvPr id="15" name="TextBox 14"/>
          <p:cNvSpPr txBox="1"/>
          <p:nvPr/>
        </p:nvSpPr>
        <p:spPr>
          <a:xfrm>
            <a:off x="7955280" y="2057400"/>
            <a:ext cx="457200" cy="365760"/>
          </a:xfrm>
          <a:prstGeom prst="rect">
            <a:avLst/>
          </a:prstGeom>
          <a:noFill/>
        </p:spPr>
        <p:txBody>
          <a:bodyPr wrap="square">
            <a:spAutoFit/>
          </a:bodyPr>
          <a:lstStyle/>
          <a:p>
            <a:pPr algn="ctr">
              <a:defRPr sz="2400" b="0">
                <a:solidFill>
                  <a:srgbClr val="9E9E9E"/>
                </a:solidFill>
                <a:latin typeface="Segoe UI"/>
              </a:defRPr>
            </a:pPr>
            <a:r>
              <a:t>→</a:t>
            </a:r>
          </a:p>
        </p:txBody>
      </p:sp>
      <p:sp>
        <p:nvSpPr>
          <p:cNvPr id="16" name="Oval 15"/>
          <p:cNvSpPr/>
          <p:nvPr/>
        </p:nvSpPr>
        <p:spPr>
          <a:xfrm>
            <a:off x="8503920" y="1645920"/>
            <a:ext cx="1280160" cy="1280160"/>
          </a:xfrm>
          <a:prstGeom prst="ellipse">
            <a:avLst/>
          </a:prstGeom>
          <a:solidFill>
            <a:srgbClr val="0A64B5"/>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Operate</a:t>
            </a:r>
          </a:p>
        </p:txBody>
      </p:sp>
      <p:sp>
        <p:nvSpPr>
          <p:cNvPr id="17" name="TextBox 16"/>
          <p:cNvSpPr txBox="1"/>
          <p:nvPr/>
        </p:nvSpPr>
        <p:spPr>
          <a:xfrm>
            <a:off x="8229600" y="3108960"/>
            <a:ext cx="1828800" cy="461665"/>
          </a:xfrm>
          <a:prstGeom prst="rect">
            <a:avLst/>
          </a:prstGeom>
          <a:noFill/>
        </p:spPr>
        <p:txBody>
          <a:bodyPr wrap="square">
            <a:spAutoFit/>
          </a:bodyPr>
          <a:lstStyle/>
          <a:p>
            <a:pPr algn="ctr">
              <a:defRPr sz="1200" b="0">
                <a:solidFill>
                  <a:srgbClr val="1A1A2E"/>
                </a:solidFill>
                <a:latin typeface="Segoe UI"/>
              </a:defRPr>
            </a:pPr>
            <a:r>
              <a:t>SRE Agent</a:t>
            </a:r>
            <a:br>
              <a:rPr/>
            </a:br>
            <a:r>
              <a:rPr lang="en-US"/>
              <a:t>I</a:t>
            </a:r>
            <a:r>
              <a:t>ncident </a:t>
            </a:r>
            <a:r>
              <a:rPr lang="en-US"/>
              <a:t>R</a:t>
            </a:r>
            <a:r>
              <a:t>esponse</a:t>
            </a:r>
          </a:p>
        </p:txBody>
      </p:sp>
      <p:sp>
        <p:nvSpPr>
          <p:cNvPr id="18" name="TextBox 17"/>
          <p:cNvSpPr txBox="1"/>
          <p:nvPr/>
        </p:nvSpPr>
        <p:spPr>
          <a:xfrm>
            <a:off x="9875520" y="2057400"/>
            <a:ext cx="457200" cy="365760"/>
          </a:xfrm>
          <a:prstGeom prst="rect">
            <a:avLst/>
          </a:prstGeom>
          <a:noFill/>
        </p:spPr>
        <p:txBody>
          <a:bodyPr wrap="square">
            <a:spAutoFit/>
          </a:bodyPr>
          <a:lstStyle/>
          <a:p>
            <a:pPr algn="ctr">
              <a:defRPr sz="2400" b="0">
                <a:solidFill>
                  <a:srgbClr val="9E9E9E"/>
                </a:solidFill>
                <a:latin typeface="Segoe UI"/>
              </a:defRPr>
            </a:pPr>
            <a:r>
              <a:t>→</a:t>
            </a:r>
          </a:p>
        </p:txBody>
      </p:sp>
      <p:sp>
        <p:nvSpPr>
          <p:cNvPr id="19" name="Oval 18"/>
          <p:cNvSpPr/>
          <p:nvPr/>
        </p:nvSpPr>
        <p:spPr>
          <a:xfrm>
            <a:off x="10424160" y="1645920"/>
            <a:ext cx="1280160" cy="1280160"/>
          </a:xfrm>
          <a:prstGeom prst="ellipse">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600" b="1">
                <a:solidFill>
                  <a:srgbClr val="FFFFFF"/>
                </a:solidFill>
                <a:latin typeface="Segoe UI"/>
              </a:defRPr>
            </a:pPr>
            <a:r>
              <a:rPr sz="1200"/>
              <a:t>Optimize</a:t>
            </a:r>
          </a:p>
        </p:txBody>
      </p:sp>
      <p:sp>
        <p:nvSpPr>
          <p:cNvPr id="20" name="TextBox 19"/>
          <p:cNvSpPr txBox="1"/>
          <p:nvPr/>
        </p:nvSpPr>
        <p:spPr>
          <a:xfrm>
            <a:off x="10149840" y="3108960"/>
            <a:ext cx="1828800" cy="461665"/>
          </a:xfrm>
          <a:prstGeom prst="rect">
            <a:avLst/>
          </a:prstGeom>
          <a:noFill/>
        </p:spPr>
        <p:txBody>
          <a:bodyPr wrap="square">
            <a:spAutoFit/>
          </a:bodyPr>
          <a:lstStyle/>
          <a:p>
            <a:pPr algn="ctr">
              <a:defRPr sz="1200" b="0">
                <a:solidFill>
                  <a:srgbClr val="1A1A2E"/>
                </a:solidFill>
                <a:latin typeface="Segoe UI"/>
              </a:defRPr>
            </a:pPr>
            <a:r>
              <a:t>SRE Agent</a:t>
            </a:r>
            <a:br>
              <a:rPr/>
            </a:br>
            <a:r>
              <a:rPr lang="en-US"/>
              <a:t>Scheduled Tasks</a:t>
            </a:r>
            <a:endParaRPr/>
          </a:p>
        </p:txBody>
      </p:sp>
      <p:sp>
        <p:nvSpPr>
          <p:cNvPr id="21" name="Rounded Rectangle 20"/>
          <p:cNvSpPr/>
          <p:nvPr/>
        </p:nvSpPr>
        <p:spPr>
          <a:xfrm>
            <a:off x="731520" y="4114800"/>
            <a:ext cx="10698480" cy="2103120"/>
          </a:xfrm>
          <a:prstGeom prst="roundRect">
            <a:avLst/>
          </a:prstGeom>
          <a:solidFill>
            <a:srgbClr val="F0F8FF"/>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4206240"/>
            <a:ext cx="9144000" cy="320040"/>
          </a:xfrm>
          <a:prstGeom prst="rect">
            <a:avLst/>
          </a:prstGeom>
          <a:noFill/>
        </p:spPr>
        <p:txBody>
          <a:bodyPr wrap="square">
            <a:spAutoFit/>
          </a:bodyPr>
          <a:lstStyle/>
          <a:p>
            <a:pPr algn="l">
              <a:defRPr sz="1700" b="1">
                <a:solidFill>
                  <a:srgbClr val="0078D4"/>
                </a:solidFill>
                <a:latin typeface="Segoe UI"/>
              </a:defRPr>
            </a:pPr>
            <a:r>
              <a:t>How Microsoft is Using This Today</a:t>
            </a:r>
          </a:p>
        </p:txBody>
      </p:sp>
      <p:sp>
        <p:nvSpPr>
          <p:cNvPr id="23" name="TextBox 22"/>
          <p:cNvSpPr txBox="1"/>
          <p:nvPr/>
        </p:nvSpPr>
        <p:spPr>
          <a:xfrm>
            <a:off x="1097280" y="4617720"/>
            <a:ext cx="9144000" cy="320040"/>
          </a:xfrm>
          <a:prstGeom prst="rect">
            <a:avLst/>
          </a:prstGeom>
          <a:noFill/>
        </p:spPr>
        <p:txBody>
          <a:bodyPr wrap="square">
            <a:spAutoFit/>
          </a:bodyPr>
          <a:lstStyle/>
          <a:p>
            <a:pPr algn="l">
              <a:defRPr sz="1400" b="0">
                <a:solidFill>
                  <a:srgbClr val="1A1A2E"/>
                </a:solidFill>
                <a:latin typeface="Segoe UI"/>
              </a:defRPr>
            </a:pPr>
            <a:r>
              <a:t>  Coding agent creates PRs to fix reported issues automatically</a:t>
            </a:r>
          </a:p>
        </p:txBody>
      </p:sp>
      <p:sp>
        <p:nvSpPr>
          <p:cNvPr id="24" name="TextBox 23"/>
          <p:cNvSpPr txBox="1"/>
          <p:nvPr/>
        </p:nvSpPr>
        <p:spPr>
          <a:xfrm>
            <a:off x="1097280" y="5001768"/>
            <a:ext cx="9144000" cy="320040"/>
          </a:xfrm>
          <a:prstGeom prst="rect">
            <a:avLst/>
          </a:prstGeom>
          <a:noFill/>
        </p:spPr>
        <p:txBody>
          <a:bodyPr wrap="square">
            <a:spAutoFit/>
          </a:bodyPr>
          <a:lstStyle/>
          <a:p>
            <a:pPr algn="l">
              <a:defRPr sz="1400" b="0">
                <a:solidFill>
                  <a:srgbClr val="1A1A2E"/>
                </a:solidFill>
                <a:latin typeface="Segoe UI"/>
              </a:defRPr>
            </a:pPr>
            <a:r>
              <a:t>  SRE Agent mitigated </a:t>
            </a:r>
            <a:r>
              <a:rPr lang="en-US"/>
              <a:t>50</a:t>
            </a:r>
            <a:r>
              <a:t>K+ incidents across Microsoft engineering</a:t>
            </a:r>
          </a:p>
        </p:txBody>
      </p:sp>
      <p:sp>
        <p:nvSpPr>
          <p:cNvPr id="25" name="TextBox 24"/>
          <p:cNvSpPr txBox="1"/>
          <p:nvPr/>
        </p:nvSpPr>
        <p:spPr>
          <a:xfrm>
            <a:off x="1097280" y="5385816"/>
            <a:ext cx="9144000" cy="320040"/>
          </a:xfrm>
          <a:prstGeom prst="rect">
            <a:avLst/>
          </a:prstGeom>
          <a:noFill/>
        </p:spPr>
        <p:txBody>
          <a:bodyPr wrap="square">
            <a:spAutoFit/>
          </a:bodyPr>
          <a:lstStyle/>
          <a:p>
            <a:pPr algn="l">
              <a:defRPr sz="1400" b="0">
                <a:solidFill>
                  <a:srgbClr val="1A1A2E"/>
                </a:solidFill>
                <a:latin typeface="Segoe UI"/>
              </a:defRPr>
            </a:pPr>
            <a:r>
              <a:t>  SRE4SRE: SRE Agent debugging its own customer issues and fixing its own bugs</a:t>
            </a:r>
          </a:p>
        </p:txBody>
      </p:sp>
      <p:sp>
        <p:nvSpPr>
          <p:cNvPr id="26" name="TextBox 25"/>
          <p:cNvSpPr txBox="1"/>
          <p:nvPr/>
        </p:nvSpPr>
        <p:spPr>
          <a:xfrm>
            <a:off x="1097280" y="5769864"/>
            <a:ext cx="9144000" cy="320040"/>
          </a:xfrm>
          <a:prstGeom prst="rect">
            <a:avLst/>
          </a:prstGeom>
          <a:noFill/>
        </p:spPr>
        <p:txBody>
          <a:bodyPr wrap="square">
            <a:spAutoFit/>
          </a:bodyPr>
          <a:lstStyle/>
          <a:p>
            <a:pPr algn="l">
              <a:defRPr sz="1400" b="0">
                <a:solidFill>
                  <a:srgbClr val="1A1A2E"/>
                </a:solidFill>
                <a:latin typeface="Segoe UI"/>
              </a:defRPr>
            </a:pPr>
            <a:r>
              <a:t>  Scheduled tasks scan telemetry errors and auto-fix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Azure 2023 Template">
  <a:themeElements>
    <a:clrScheme name="Custom 4">
      <a:dk1>
        <a:srgbClr val="000000"/>
      </a:dk1>
      <a:lt1>
        <a:srgbClr val="FFFFFF"/>
      </a:lt1>
      <a:dk2>
        <a:srgbClr val="0078D4"/>
      </a:dk2>
      <a:lt2>
        <a:srgbClr val="E8E6DF"/>
      </a:lt2>
      <a:accent1>
        <a:srgbClr val="0078D4"/>
      </a:accent1>
      <a:accent2>
        <a:srgbClr val="2A446F"/>
      </a:accent2>
      <a:accent3>
        <a:srgbClr val="49C5B1"/>
      </a:accent3>
      <a:accent4>
        <a:srgbClr val="8DE971"/>
      </a:accent4>
      <a:accent5>
        <a:srgbClr val="F4364F"/>
      </a:accent5>
      <a:accent6>
        <a:srgbClr val="C03BC4"/>
      </a:accent6>
      <a:hlink>
        <a:srgbClr val="091F2C"/>
      </a:hlink>
      <a:folHlink>
        <a:srgbClr val="091F2C"/>
      </a:folHlink>
    </a:clrScheme>
    <a:fontScheme name="Custom 4">
      <a:majorFont>
        <a:latin typeface="Segoe Sans Text Semibold"/>
        <a:ea typeface=""/>
        <a:cs typeface=""/>
      </a:majorFont>
      <a:minorFont>
        <a:latin typeface="Segoe Sans Tex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AzureTemplate_2023_v09" id="{84C66EF3-53A2-9A4F-A8C8-B123E5EB98BF}" vid="{4F8F454D-D741-BE40-A1B6-EA401B48B1B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TotalTime>
  <Words>4308</Words>
  <Application>Microsoft Office PowerPoint</Application>
  <PresentationFormat>Widescreen</PresentationFormat>
  <Paragraphs>579</Paragraphs>
  <Slides>22</Slides>
  <Notes>20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22</vt:i4>
      </vt:variant>
    </vt:vector>
  </HeadingPairs>
  <TitlesOfParts>
    <vt:vector size="33" baseType="lpstr">
      <vt:lpstr>Arial</vt:lpstr>
      <vt:lpstr>Calibri</vt:lpstr>
      <vt:lpstr>Cascadia Code</vt:lpstr>
      <vt:lpstr>Helvetica</vt:lpstr>
      <vt:lpstr>Segoe Sans Display</vt:lpstr>
      <vt:lpstr>Segoe Sans Text</vt:lpstr>
      <vt:lpstr>Segoe Sans Text Semibold</vt:lpstr>
      <vt:lpstr>Segoe UI</vt:lpstr>
      <vt:lpstr>Wingdings</vt:lpstr>
      <vt:lpstr>Office Theme</vt:lpstr>
      <vt:lpstr>Azure 2023 Template</vt:lpstr>
      <vt:lpstr>PowerPoint Presentation</vt:lpstr>
      <vt:lpstr>PowerPoint Presentation</vt:lpstr>
      <vt:lpstr>PowerPoint Presentation</vt:lpstr>
      <vt:lpstr>PowerPoint Presentation</vt:lpstr>
      <vt:lpstr>PowerPoint Presentation</vt:lpstr>
      <vt:lpstr>PowerPoint Presentation</vt:lpstr>
      <vt:lpstr>Azure SRE Agent </vt:lpstr>
      <vt:lpstr>PowerPoint Presentation</vt:lpstr>
      <vt:lpstr>PowerPoint Presentation</vt:lpstr>
      <vt:lpstr>Business impact of Azure SRE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Joji Varghese</cp:lastModifiedBy>
  <cp:revision>11</cp:revision>
  <dcterms:created xsi:type="dcterms:W3CDTF">2013-01-27T09:14:16Z</dcterms:created>
  <dcterms:modified xsi:type="dcterms:W3CDTF">2026-07-23T01:02:44Z</dcterms:modified>
  <cp:category/>
</cp:coreProperties>
</file>